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806440"/>
            <a:ext cx="4023360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0" y="5806440"/>
            <a:ext cx="2743200" cy="50800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69680" y="5806440"/>
            <a:ext cx="1645920" cy="50800"/>
          </a:xfrm>
          <a:prstGeom prst="rect">
            <a:avLst/>
          </a:prstGeom>
          <a:solidFill>
            <a:srgbClr val="2E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F0B429"/>
                </a:solidFill>
                <a:latin typeface="Calibri"/>
              </a:rPr>
              <a:t>BUSINESS FINANCIAL LITERACY · MASTERCLASS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078992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The Language of Business:</a:t>
            </a:r>
          </a:p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Accounting Fundamentals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6616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C9D4E3"/>
                </a:solidFill>
                <a:latin typeface="Calibri"/>
              </a:rPr>
              <a:t>From real-world transactions to balanced financial statements — one unbreakable equation at a 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663440"/>
            <a:ext cx="10515600" cy="1005840"/>
          </a:xfrm>
          <a:prstGeom prst="roundRect">
            <a:avLst>
              <a:gd name="adj" fmla="val 8000"/>
            </a:avLst>
          </a:prstGeom>
          <a:solidFill>
            <a:srgbClr val="11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828032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0B429"/>
                </a:solidFill>
                <a:latin typeface="Calibri"/>
              </a:rPr>
              <a:t>Assets</a:t>
            </a:r>
            <a:r>
              <a:rPr sz="2200" b="0" i="0">
                <a:solidFill>
                  <a:srgbClr val="FFFFFF"/>
                </a:solidFill>
                <a:latin typeface="Calibri"/>
              </a:rPr>
              <a:t>  =  </a:t>
            </a:r>
            <a:r>
              <a:rPr sz="2200" b="1" i="0">
                <a:solidFill>
                  <a:srgbClr val="1F6FEB"/>
                </a:solidFill>
                <a:latin typeface="Calibri"/>
              </a:rPr>
              <a:t>Liabilities</a:t>
            </a:r>
            <a:r>
              <a:rPr sz="2200" b="0" i="0">
                <a:solidFill>
                  <a:srgbClr val="FFFFFF"/>
                </a:solidFill>
                <a:latin typeface="Calibri"/>
              </a:rPr>
              <a:t>  +  </a:t>
            </a:r>
            <a:r>
              <a:rPr sz="2200" b="1" i="0">
                <a:solidFill>
                  <a:srgbClr val="2EA44F"/>
                </a:solidFill>
                <a:latin typeface="Calibri"/>
              </a:rPr>
              <a:t>Owner's Equity</a:t>
            </a:r>
            <a:r>
              <a:rPr sz="1600" b="0" i="1">
                <a:solidFill>
                  <a:srgbClr val="C9D4E3"/>
                </a:solidFill>
                <a:latin typeface="Calibri"/>
              </a:rPr>
              <a:t>     — the equation behind every transaction on Earth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0B429"/>
                </a:solidFill>
                <a:latin typeface="Calibri"/>
              </a:rPr>
              <a:t>WHY THIS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A2430"/>
                </a:solidFill>
                <a:latin typeface="Calibri"/>
              </a:rPr>
              <a:t>One equation. Every transaction. Zero exceptions.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34440"/>
            <a:ext cx="1463040" cy="38100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103327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 i="1">
                <a:solidFill>
                  <a:srgbClr val="FFFFFF"/>
                </a:solidFill>
                <a:latin typeface="Calibri"/>
              </a:rPr>
              <a:t>“Whether it is a neighborhood lemonade stand or a multi-billion dollar tech enterprise, every single financial transaction on Earth relies on one unbreakable mathematical equation that has remained unchanged for centuries.”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971800"/>
            <a:ext cx="356616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20040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F6FEB"/>
                </a:solidFill>
                <a:latin typeface="Calibri"/>
              </a:rPr>
              <a:t>THE CORE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66160"/>
            <a:ext cx="30632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1A2430"/>
                </a:solidFill>
                <a:latin typeface="Calibri"/>
              </a:rPr>
              <a:t>The stuff a business owns must always equal the stuff a business owes.</a:t>
            </a:r>
          </a:p>
          <a:p>
            <a:pPr algn="l"/>
            <a:r>
              <a:rPr sz="1500" b="0" i="0">
                <a:solidFill>
                  <a:srgbClr val="1A2430"/>
                </a:solidFill>
                <a:latin typeface="Calibri"/>
              </a:rPr>
              <a:t/>
            </a:r>
          </a:p>
          <a:p>
            <a:pPr algn="l"/>
            <a:r>
              <a:rPr sz="1500" b="0" i="0">
                <a:solidFill>
                  <a:srgbClr val="1A2430"/>
                </a:solidFill>
                <a:latin typeface="Calibri"/>
              </a:rPr>
              <a:t>Every economic event has a dual effect — both sides stay in numerical harmony, always.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2971800"/>
            <a:ext cx="356616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320040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0B429"/>
                </a:solidFill>
                <a:latin typeface="Calibri"/>
              </a:rPr>
              <a:t>THE POPCORN PROOF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56616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1A2430"/>
                </a:solidFill>
                <a:latin typeface="Calibri"/>
              </a:rPr>
              <a:t>You put $5 of your own cash into the business.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1605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F0B429"/>
                </a:solidFill>
                <a:latin typeface="Calibri"/>
              </a:rPr>
              <a:t>$5 Assets</a:t>
            </a:r>
            <a:r>
              <a:rPr sz="1800" b="0" i="0">
                <a:solidFill>
                  <a:srgbClr val="1A2430"/>
                </a:solidFill>
                <a:latin typeface="Calibri"/>
              </a:rPr>
              <a:t>  =  </a:t>
            </a:r>
            <a:r>
              <a:rPr sz="1800" b="1" i="0">
                <a:solidFill>
                  <a:srgbClr val="1F6FEB"/>
                </a:solidFill>
                <a:latin typeface="Calibri"/>
              </a:rPr>
              <a:t>$0 Liab.</a:t>
            </a:r>
            <a:r>
              <a:rPr sz="1800" b="0" i="0">
                <a:solidFill>
                  <a:srgbClr val="1A2430"/>
                </a:solidFill>
                <a:latin typeface="Calibri"/>
              </a:rPr>
              <a:t>  +  </a:t>
            </a:r>
            <a:r>
              <a:rPr sz="1800" b="1" i="0">
                <a:solidFill>
                  <a:srgbClr val="2EA44F"/>
                </a:solidFill>
                <a:latin typeface="Calibri"/>
              </a:rPr>
              <a:t>$5 Equity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800600"/>
            <a:ext cx="3063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5B6B7C"/>
                </a:solidFill>
                <a:latin typeface="Calibri"/>
              </a:rPr>
              <a:t>The business owes that $5 back to you, the owner. Balance holds by construction — not by luck.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971800"/>
            <a:ext cx="356616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320040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EA44F"/>
                </a:solidFill>
                <a:latin typeface="Calibri"/>
              </a:rPr>
              <a:t>WHAT YOU'LL MASTER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61188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F0B429"/>
                </a:solidFill>
                <a:latin typeface="Calibri"/>
              </a:rPr>
              <a:t>▸ </a:t>
            </a:r>
            <a:r>
              <a:rPr sz="1300" b="1">
                <a:solidFill>
                  <a:srgbClr val="1A2430"/>
                </a:solidFill>
                <a:latin typeface="Calibri"/>
              </a:rPr>
              <a:t>A 3-step framework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5B6B7C"/>
                </a:solidFill>
                <a:latin typeface="Calibri"/>
              </a:rPr>
              <a:t>     analyze any economic event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F0B429"/>
                </a:solidFill>
                <a:latin typeface="Calibri"/>
              </a:rPr>
              <a:t>▸ </a:t>
            </a:r>
            <a:r>
              <a:rPr sz="1300" b="1">
                <a:solidFill>
                  <a:srgbClr val="1A2430"/>
                </a:solidFill>
                <a:latin typeface="Calibri"/>
              </a:rPr>
              <a:t>The expanded equation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5B6B7C"/>
                </a:solidFill>
                <a:latin typeface="Calibri"/>
              </a:rPr>
              <a:t>     how equity really moves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F0B429"/>
                </a:solidFill>
                <a:latin typeface="Calibri"/>
              </a:rPr>
              <a:t>▸ </a:t>
            </a:r>
            <a:r>
              <a:rPr sz="1300" b="1">
                <a:solidFill>
                  <a:srgbClr val="1A2430"/>
                </a:solidFill>
                <a:latin typeface="Calibri"/>
              </a:rPr>
              <a:t>Debits &amp; credits via DEALER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5B6B7C"/>
                </a:solidFill>
                <a:latin typeface="Calibri"/>
              </a:rPr>
              <a:t>     no rote memorization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F0B429"/>
                </a:solidFill>
                <a:latin typeface="Calibri"/>
              </a:rPr>
              <a:t>▸ </a:t>
            </a:r>
            <a:r>
              <a:rPr sz="1300" b="1">
                <a:solidFill>
                  <a:srgbClr val="1A2430"/>
                </a:solidFill>
                <a:latin typeface="Calibri"/>
              </a:rPr>
              <a:t>Journals → T-accounts → statements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5B6B7C"/>
                </a:solidFill>
                <a:latin typeface="Calibri"/>
              </a:rPr>
              <a:t>     raw data becomes reports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14455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0">
                <a:solidFill>
                  <a:srgbClr val="8F9EB3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0B429"/>
                </a:solidFill>
                <a:latin typeface="Calibri"/>
              </a:rPr>
              <a:t>THE CORE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The Accounting Equation, deconstructed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34440"/>
            <a:ext cx="1463040" cy="38100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1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10512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
                  <a:srgbClr val="F0B429"/>
                </a:solidFill>
                <a:latin typeface="Calibri"/>
              </a:rPr>
              <a:t>Assets</a:t>
            </a:r>
            <a:r>
              <a:rPr sz="3000" b="0" i="0">
                <a:solidFill>
                  <a:srgbClr val="FFFFFF"/>
                </a:solidFill>
                <a:latin typeface="Calibri"/>
              </a:rPr>
              <a:t>   =   </a:t>
            </a:r>
            <a:r>
              <a:rPr sz="3000" b="1" i="0">
                <a:solidFill>
                  <a:srgbClr val="1F6FEB"/>
                </a:solidFill>
                <a:latin typeface="Calibri"/>
              </a:rPr>
              <a:t>Liabilities</a:t>
            </a:r>
            <a:r>
              <a:rPr sz="3000" b="0" i="0">
                <a:solidFill>
                  <a:srgbClr val="FFFFFF"/>
                </a:solidFill>
                <a:latin typeface="Calibri"/>
              </a:rPr>
              <a:t>   +   </a:t>
            </a:r>
            <a:r>
              <a:rPr sz="3000" b="1" i="0">
                <a:solidFill>
                  <a:srgbClr val="2EA44F"/>
                </a:solidFill>
                <a:latin typeface="Calibri"/>
              </a:rPr>
              <a:t>Owner's Equity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788920"/>
            <a:ext cx="3538728" cy="3200400"/>
          </a:xfrm>
          <a:prstGeom prst="roundRect">
            <a:avLst>
              <a:gd name="adj" fmla="val 8000"/>
            </a:avLst>
          </a:prstGeom>
          <a:solidFill>
            <a:srgbClr val="11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017520"/>
            <a:ext cx="299008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F0B429"/>
                </a:solidFill>
                <a:latin typeface="Calibri"/>
              </a:rPr>
              <a:t>ASSETS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355848"/>
            <a:ext cx="2990088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C9D4E3"/>
                </a:solidFill>
                <a:latin typeface="Calibri"/>
              </a:rPr>
              <a:t>Economic resources owned or controlled by the business that provide future services or benefits.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60520"/>
            <a:ext cx="308152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F0B429"/>
                </a:solidFill>
                <a:latin typeface="Calibri"/>
              </a:rPr>
              <a:t>▸ </a:t>
            </a:r>
            <a:r>
              <a:rPr sz="1400" b="1">
                <a:solidFill>
                  <a:srgbClr val="FFFFFF"/>
                </a:solidFill>
                <a:latin typeface="Calibri"/>
              </a:rPr>
              <a:t>Cash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F0B429"/>
                </a:solidFill>
                <a:latin typeface="Calibri"/>
              </a:rPr>
              <a:t>▸ </a:t>
            </a:r>
            <a:r>
              <a:rPr sz="1400" b="1">
                <a:solidFill>
                  <a:srgbClr val="FFFFFF"/>
                </a:solidFill>
                <a:latin typeface="Calibri"/>
              </a:rPr>
              <a:t>Accounts Receivable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C9D4E3"/>
                </a:solidFill>
                <a:latin typeface="Calibri"/>
              </a:rPr>
              <a:t>     customers' promises to pay later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F0B429"/>
                </a:solidFill>
                <a:latin typeface="Calibri"/>
              </a:rPr>
              <a:t>▸ </a:t>
            </a:r>
            <a:r>
              <a:rPr sz="1400" b="1">
                <a:solidFill>
                  <a:srgbClr val="FFFFFF"/>
                </a:solidFill>
                <a:latin typeface="Calibri"/>
              </a:rPr>
              <a:t>Supplies &amp; Inventory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F0B429"/>
                </a:solidFill>
                <a:latin typeface="Calibri"/>
              </a:rPr>
              <a:t>▸ </a:t>
            </a:r>
            <a:r>
              <a:rPr sz="1400" b="1">
                <a:solidFill>
                  <a:srgbClr val="FFFFFF"/>
                </a:solidFill>
                <a:latin typeface="Calibri"/>
              </a:rPr>
              <a:t>Equipment &amp; Buildings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6824" y="2788920"/>
            <a:ext cx="3538728" cy="3200400"/>
          </a:xfrm>
          <a:prstGeom prst="roundRect">
            <a:avLst>
              <a:gd name="adj" fmla="val 8000"/>
            </a:avLst>
          </a:prstGeom>
          <a:solidFill>
            <a:srgbClr val="11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1144" y="3017520"/>
            <a:ext cx="299008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F6FEB"/>
                </a:solidFill>
                <a:latin typeface="Calibri"/>
              </a:rPr>
              <a:t>LIABILITIES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144" y="3355848"/>
            <a:ext cx="2990088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C9D4E3"/>
                </a:solidFill>
                <a:latin typeface="Calibri"/>
              </a:rPr>
              <a:t>Claims against assets by third parties — debts and obligations owed to creditors.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4160520"/>
            <a:ext cx="308152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F0B429"/>
                </a:solidFill>
                <a:latin typeface="Calibri"/>
              </a:rPr>
              <a:t>▸ </a:t>
            </a:r>
            <a:r>
              <a:rPr sz="1400" b="1">
                <a:solidFill>
                  <a:srgbClr val="FFFFFF"/>
                </a:solidFill>
                <a:latin typeface="Calibri"/>
              </a:rPr>
              <a:t>Accounts Payable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C9D4E3"/>
                </a:solidFill>
                <a:latin typeface="Calibri"/>
              </a:rPr>
              <a:t>     obligations to suppliers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F0B429"/>
                </a:solidFill>
                <a:latin typeface="Calibri"/>
              </a:rPr>
              <a:t>▸ </a:t>
            </a:r>
            <a:r>
              <a:rPr sz="1400" b="1">
                <a:solidFill>
                  <a:srgbClr val="FFFFFF"/>
                </a:solidFill>
                <a:latin typeface="Calibri"/>
              </a:rPr>
              <a:t>Notes Payable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C9D4E3"/>
                </a:solidFill>
                <a:latin typeface="Calibri"/>
              </a:rPr>
              <a:t>     bank loans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F0B429"/>
                </a:solidFill>
                <a:latin typeface="Calibri"/>
              </a:rPr>
              <a:t>▸ </a:t>
            </a:r>
            <a:r>
              <a:rPr sz="1400" b="1">
                <a:solidFill>
                  <a:srgbClr val="FFFFFF"/>
                </a:solidFill>
                <a:latin typeface="Calibri"/>
              </a:rPr>
              <a:t>Salaries &amp; Wages Payable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F0B429"/>
                </a:solidFill>
                <a:latin typeface="Calibri"/>
              </a:rPr>
              <a:t>▸ </a:t>
            </a:r>
            <a:r>
              <a:rPr sz="1400" b="1">
                <a:solidFill>
                  <a:srgbClr val="FFFFFF"/>
                </a:solidFill>
                <a:latin typeface="Calibri"/>
              </a:rPr>
              <a:t>Paid first on liquidation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C9D4E3"/>
                </a:solidFill>
                <a:latin typeface="Calibri"/>
              </a:rPr>
              <a:t>     creditors rank before owners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2788920"/>
            <a:ext cx="3538728" cy="3200400"/>
          </a:xfrm>
          <a:prstGeom prst="roundRect">
            <a:avLst>
              <a:gd name="adj" fmla="val 8000"/>
            </a:avLst>
          </a:prstGeom>
          <a:solidFill>
            <a:srgbClr val="11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9328" y="3017520"/>
            <a:ext cx="299008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2EA44F"/>
                </a:solidFill>
                <a:latin typeface="Calibri"/>
              </a:rPr>
              <a:t>OWNER'S EQUITY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8" y="3355848"/>
            <a:ext cx="2990088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C9D4E3"/>
                </a:solidFill>
                <a:latin typeface="Calibri"/>
              </a:rPr>
              <a:t>Residual equity — the owner's claim on total assets after liabilities are paid off.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8" y="4160520"/>
            <a:ext cx="308152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F0B429"/>
                </a:solidFill>
                <a:latin typeface="Calibri"/>
              </a:rPr>
              <a:t>▸ </a:t>
            </a:r>
            <a:r>
              <a:rPr sz="1400" b="1">
                <a:solidFill>
                  <a:srgbClr val="FFFFFF"/>
                </a:solidFill>
                <a:latin typeface="Calibri"/>
              </a:rPr>
              <a:t>“Residual” by design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C9D4E3"/>
                </a:solidFill>
                <a:latin typeface="Calibri"/>
              </a:rPr>
              <a:t>     what's left after creditors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F0B429"/>
                </a:solidFill>
                <a:latin typeface="Calibri"/>
              </a:rPr>
              <a:t>▸ </a:t>
            </a:r>
            <a:r>
              <a:rPr sz="1400" b="1">
                <a:solidFill>
                  <a:srgbClr val="FFFFFF"/>
                </a:solidFill>
                <a:latin typeface="Calibri"/>
              </a:rPr>
              <a:t>Owner's claim only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F0B429"/>
                </a:solidFill>
                <a:latin typeface="Calibri"/>
              </a:rPr>
              <a:t>▸ </a:t>
            </a:r>
            <a:r>
              <a:rPr sz="1400" b="1">
                <a:solidFill>
                  <a:srgbClr val="FFFFFF"/>
                </a:solidFill>
                <a:latin typeface="Calibri"/>
              </a:rPr>
              <a:t>Rises with profit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C9D4E3"/>
                </a:solidFill>
                <a:latin typeface="Calibri"/>
              </a:rPr>
              <a:t>     falls with losses &amp; drawings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14455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0">
                <a:solidFill>
                  <a:srgbClr val="8F9EB3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0B429"/>
                </a:solidFill>
                <a:latin typeface="Calibri"/>
              </a:rPr>
              <a:t>EQUITY IN MOTION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The Expanded Accounting Equation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34440"/>
            <a:ext cx="1463040" cy="38100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11064240" cy="1005840"/>
          </a:xfrm>
          <a:prstGeom prst="roundRect">
            <a:avLst>
              <a:gd name="adj" fmla="val 8000"/>
            </a:avLst>
          </a:prstGeom>
          <a:solidFill>
            <a:srgbClr val="11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83664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i="0">
                <a:solidFill>
                  <a:srgbClr val="F0B429"/>
                </a:solidFill>
                <a:latin typeface="Calibri"/>
              </a:rPr>
              <a:t>Assets</a:t>
            </a:r>
            <a:r>
              <a:rPr sz="2400" b="0" i="0">
                <a:solidFill>
                  <a:srgbClr val="FFFFFF"/>
                </a:solidFill>
                <a:latin typeface="Calibri"/>
              </a:rPr>
              <a:t>  =  </a:t>
            </a:r>
            <a:r>
              <a:rPr sz="2400" b="1" i="0">
                <a:solidFill>
                  <a:srgbClr val="1F6FEB"/>
                </a:solidFill>
                <a:latin typeface="Calibri"/>
              </a:rPr>
              <a:t>Liabilities</a:t>
            </a:r>
            <a:r>
              <a:rPr sz="2400" b="0" i="0">
                <a:solidFill>
                  <a:srgbClr val="FFFFFF"/>
                </a:solidFill>
                <a:latin typeface="Calibri"/>
              </a:rPr>
              <a:t>  +  </a:t>
            </a:r>
            <a:r>
              <a:rPr sz="2000" b="1" i="0">
                <a:solidFill>
                  <a:srgbClr val="2EA44F"/>
                </a:solidFill>
                <a:latin typeface="Calibri"/>
              </a:rPr>
              <a:t>Capital</a:t>
            </a:r>
            <a:r>
              <a:rPr sz="2000" b="0" i="0">
                <a:solidFill>
                  <a:srgbClr val="FFFFFF"/>
                </a:solidFill>
                <a:latin typeface="Calibri"/>
              </a:rPr>
              <a:t>  −  </a:t>
            </a:r>
            <a:r>
              <a:rPr sz="2000" b="1" i="0">
                <a:solidFill>
                  <a:srgbClr val="D64545"/>
                </a:solidFill>
                <a:latin typeface="Calibri"/>
              </a:rPr>
              <a:t>Drawings</a:t>
            </a:r>
            <a:r>
              <a:rPr sz="2000" b="0" i="0">
                <a:solidFill>
                  <a:srgbClr val="FFFFFF"/>
                </a:solidFill>
                <a:latin typeface="Calibri"/>
              </a:rPr>
              <a:t>  +  </a:t>
            </a:r>
            <a:r>
              <a:rPr sz="2000" b="1" i="0">
                <a:solidFill>
                  <a:srgbClr val="2EA44F"/>
                </a:solidFill>
                <a:latin typeface="Calibri"/>
              </a:rPr>
              <a:t>Revenues</a:t>
            </a:r>
            <a:r>
              <a:rPr sz="2000" b="0" i="0">
                <a:solidFill>
                  <a:srgbClr val="FFFFFF"/>
                </a:solidFill>
                <a:latin typeface="Calibri"/>
              </a:rPr>
              <a:t>  −  </a:t>
            </a:r>
            <a:r>
              <a:rPr sz="2000" b="1" i="0">
                <a:solidFill>
                  <a:srgbClr val="D64545"/>
                </a:solidFill>
                <a:latin typeface="Calibri"/>
              </a:rPr>
              <a:t>Expenses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971800"/>
            <a:ext cx="11064240" cy="777240"/>
          </a:xfrm>
          <a:prstGeom prst="roundRect">
            <a:avLst>
              <a:gd name="adj" fmla="val 8000"/>
            </a:avLst>
          </a:prstGeom>
          <a:solidFill>
            <a:srgbClr val="11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3127248"/>
            <a:ext cx="457200" cy="457200"/>
          </a:xfrm>
          <a:prstGeom prst="roundRect">
            <a:avLst>
              <a:gd name="adj" fmla="val 8000"/>
            </a:avLst>
          </a:prstGeom>
          <a:solidFill>
            <a:srgbClr val="2E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154680"/>
            <a:ext cx="4572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63240"/>
            <a:ext cx="39319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Owner's Capital / Investments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3063240"/>
            <a:ext cx="58521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C9D4E3"/>
                </a:solidFill>
                <a:latin typeface="Calibri"/>
              </a:rPr>
              <a:t>Assets contributed by the owner to kickstart or grow the business.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886200"/>
            <a:ext cx="11064240" cy="777240"/>
          </a:xfrm>
          <a:prstGeom prst="roundRect">
            <a:avLst>
              <a:gd name="adj" fmla="val 8000"/>
            </a:avLst>
          </a:prstGeom>
          <a:solidFill>
            <a:srgbClr val="11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77240" y="4041648"/>
            <a:ext cx="457200" cy="457200"/>
          </a:xfrm>
          <a:prstGeom prst="roundRect">
            <a:avLst>
              <a:gd name="adj" fmla="val 8000"/>
            </a:avLst>
          </a:prstGeom>
          <a:solidFill>
            <a:srgbClr val="2E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069080"/>
            <a:ext cx="4572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977640"/>
            <a:ext cx="39319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Revenues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0" y="3977640"/>
            <a:ext cx="58521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C9D4E3"/>
                </a:solidFill>
                <a:latin typeface="Calibri"/>
              </a:rPr>
              <a:t>Increases in assets from selling goods or delivering services in the normal course of business.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800600"/>
            <a:ext cx="11064240" cy="777240"/>
          </a:xfrm>
          <a:prstGeom prst="roundRect">
            <a:avLst>
              <a:gd name="adj" fmla="val 8000"/>
            </a:avLst>
          </a:prstGeom>
          <a:solidFill>
            <a:srgbClr val="11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77240" y="4956048"/>
            <a:ext cx="457200" cy="457200"/>
          </a:xfrm>
          <a:prstGeom prst="roundRect">
            <a:avLst>
              <a:gd name="adj" fmla="val 8000"/>
            </a:avLst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983480"/>
            <a:ext cx="4572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892040"/>
            <a:ext cx="39319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Drawings / Dividends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77840" y="4892040"/>
            <a:ext cx="58521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C9D4E3"/>
                </a:solidFill>
                <a:latin typeface="Calibri"/>
              </a:rPr>
              <a:t>Withdrawals of cash or other assets by the owner for personal use.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715000"/>
            <a:ext cx="11064240" cy="777240"/>
          </a:xfrm>
          <a:prstGeom prst="roundRect">
            <a:avLst>
              <a:gd name="adj" fmla="val 8000"/>
            </a:avLst>
          </a:prstGeom>
          <a:solidFill>
            <a:srgbClr val="11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77240" y="5870448"/>
            <a:ext cx="457200" cy="457200"/>
          </a:xfrm>
          <a:prstGeom prst="roundRect">
            <a:avLst>
              <a:gd name="adj" fmla="val 8000"/>
            </a:avLst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897880"/>
            <a:ext cx="4572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5806440"/>
            <a:ext cx="39319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Expenses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77840" y="5806440"/>
            <a:ext cx="58521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C9D4E3"/>
                </a:solidFill>
                <a:latin typeface="Calibri"/>
              </a:rPr>
              <a:t>Costs of assets consumed or services used to generate revenue (rent, utilities, wages).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67512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 i="1">
                <a:solidFill>
                  <a:srgbClr val="F0B429"/>
                </a:solidFill>
                <a:latin typeface="Calibri"/>
              </a:rPr>
              <a:t>Every recorded event has a dual effect — the equation stays balanced after every single transaction.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14455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0">
                <a:solidFill>
                  <a:srgbClr val="8F9EB3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0B429"/>
                </a:solidFill>
                <a:latin typeface="Calibri"/>
              </a:rPr>
              <a:t>ANALYZE BEFORE YOU RECORD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The 3-Step Transaction Analysis Framework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34440"/>
            <a:ext cx="1463040" cy="38100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C9D4E3"/>
                </a:solidFill>
                <a:latin typeface="Calibri"/>
              </a:rPr>
              <a:t>Recording a transaction without analyzing it first is like driving with your eyes closed.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11064240" cy="1325880"/>
          </a:xfrm>
          <a:prstGeom prst="roundRect">
            <a:avLst>
              <a:gd name="adj" fmla="val 8000"/>
            </a:avLst>
          </a:prstGeom>
          <a:solidFill>
            <a:srgbClr val="11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2304288"/>
            <a:ext cx="731520" cy="731520"/>
          </a:xfrm>
          <a:prstGeom prst="roundRect">
            <a:avLst>
              <a:gd name="adj" fmla="val 8000"/>
            </a:avLst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95728"/>
            <a:ext cx="731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148840"/>
            <a:ext cx="39319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What happened?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121408"/>
            <a:ext cx="5577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C9D4E3"/>
                </a:solidFill>
                <a:latin typeface="Calibri"/>
              </a:rPr>
              <a:t>Identify the nature of the transaction. Can you explain the economic event in plain language to someone else?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93008"/>
            <a:ext cx="11064240" cy="1325880"/>
          </a:xfrm>
          <a:prstGeom prst="roundRect">
            <a:avLst>
              <a:gd name="adj" fmla="val 8000"/>
            </a:avLst>
          </a:prstGeom>
          <a:solidFill>
            <a:srgbClr val="11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" y="3785616"/>
            <a:ext cx="731520" cy="73152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877056"/>
            <a:ext cx="731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630168"/>
            <a:ext cx="39319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Identify &amp; classify accounts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3602736"/>
            <a:ext cx="5577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C9D4E3"/>
                </a:solidFill>
                <a:latin typeface="Calibri"/>
              </a:rPr>
              <a:t>Pinpoint at least two affected accounts (clue words: Cash, Pay, Receive — ~80% of basic transactions involve cash!). Then classify each: Asset, Liability, Equity, Revenue, Expense, Dividend.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974336"/>
            <a:ext cx="11064240" cy="1325880"/>
          </a:xfrm>
          <a:prstGeom prst="roundRect">
            <a:avLst>
              <a:gd name="adj" fmla="val 8000"/>
            </a:avLst>
          </a:prstGeom>
          <a:solidFill>
            <a:srgbClr val="11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60" y="5266944"/>
            <a:ext cx="731520" cy="731520"/>
          </a:xfrm>
          <a:prstGeom prst="roundRect">
            <a:avLst>
              <a:gd name="adj" fmla="val 8000"/>
            </a:avLst>
          </a:prstGeom>
          <a:solidFill>
            <a:srgbClr val="2E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358384"/>
            <a:ext cx="731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5111496"/>
            <a:ext cx="39319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Determine directional impact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5084064"/>
            <a:ext cx="5577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C9D4E3"/>
                </a:solidFill>
                <a:latin typeface="Calibri"/>
              </a:rPr>
              <a:t>Did each identified account go UP or DOWN?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1115568" y="3319272"/>
            <a:ext cx="146304" cy="182880"/>
          </a:xfrm>
          <a:prstGeom prst="downArrow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own Arrow 22"/>
          <p:cNvSpPr/>
          <p:nvPr/>
        </p:nvSpPr>
        <p:spPr>
          <a:xfrm>
            <a:off x="1115568" y="4800600"/>
            <a:ext cx="146304" cy="182880"/>
          </a:xfrm>
          <a:prstGeom prst="downArrow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14455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0">
                <a:solidFill>
                  <a:srgbClr val="8F9EB3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0B429"/>
                </a:solidFill>
                <a:latin typeface="Calibri"/>
              </a:rPr>
              <a:t>THE 3 STEPS IN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A2430"/>
                </a:solidFill>
                <a:latin typeface="Calibri"/>
              </a:rPr>
              <a:t>Real-World Case Studies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34440"/>
            <a:ext cx="1463040" cy="38100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11091672" cy="4718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4023360"/>
                <a:gridCol w="3291840"/>
                <a:gridCol w="3273552"/>
              </a:tblGrid>
              <a:tr h="78638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109728" marR="73152" marT="45720" marB="45720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Event</a:t>
                      </a:r>
                    </a:p>
                  </a:txBody>
                  <a:tcPr marL="109728" marR="73152" marT="45720" marB="45720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Accounts (Step 2)</a:t>
                      </a:r>
                    </a:p>
                  </a:txBody>
                  <a:tcPr marL="109728" marR="73152" marT="45720" marB="45720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Impact (Step 3)</a:t>
                      </a:r>
                    </a:p>
                  </a:txBody>
                  <a:tcPr marL="109728" marR="73152" marT="45720" marB="45720" anchor="ctr">
                    <a:solidFill>
                      <a:srgbClr val="0B1F3A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243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2430"/>
                          </a:solidFill>
                          <a:latin typeface="Calibri"/>
                        </a:rPr>
                        <a:t>Adam invests $40,000 cash to start Farhat Lectures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2430"/>
                          </a:solidFill>
                          <a:latin typeface="Calibri"/>
                        </a:rPr>
                        <a:t>Cash (A) + Common Stock (Eq)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2430"/>
                          </a:solidFill>
                          <a:latin typeface="Calibri"/>
                        </a:rPr>
                        <a:t>Cash ▲ +40,000 · Equity ▲ +40,000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243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109728" marR="73152" marT="45720" marB="45720" anchor="ctr">
                    <a:solidFill>
                      <a:srgbClr val="ED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2430"/>
                          </a:solidFill>
                          <a:latin typeface="Calibri"/>
                        </a:rPr>
                        <a:t>Buys $26,000 computer equipment, pays cash</a:t>
                      </a:r>
                    </a:p>
                  </a:txBody>
                  <a:tcPr marL="109728" marR="73152" marT="45720" marB="45720" anchor="ctr">
                    <a:solidFill>
                      <a:srgbClr val="ED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2430"/>
                          </a:solidFill>
                          <a:latin typeface="Calibri"/>
                        </a:rPr>
                        <a:t>Cash (A) + Equipment (A)</a:t>
                      </a:r>
                    </a:p>
                  </a:txBody>
                  <a:tcPr marL="109728" marR="73152" marT="45720" marB="45720" anchor="ctr">
                    <a:solidFill>
                      <a:srgbClr val="ED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2430"/>
                          </a:solidFill>
                          <a:latin typeface="Calibri"/>
                        </a:rPr>
                        <a:t>Cash ▼ −26,000 · Equipment ▲ +26,000</a:t>
                      </a:r>
                    </a:p>
                  </a:txBody>
                  <a:tcPr marL="109728" marR="73152" marT="45720" marB="45720" anchor="ctr">
                    <a:solidFill>
                      <a:srgbClr val="EDF2F8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243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2430"/>
                          </a:solidFill>
                          <a:latin typeface="Calibri"/>
                        </a:rPr>
                        <a:t>Softbyte buys $1,600 supplies, pays next month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2430"/>
                          </a:solidFill>
                          <a:latin typeface="Calibri"/>
                        </a:rPr>
                        <a:t>Supplies (A) + Accounts Payable (L)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2430"/>
                          </a:solidFill>
                          <a:latin typeface="Calibri"/>
                        </a:rPr>
                        <a:t>Supplies ▲ +1,600 · A/P ▲ +1,600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243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109728" marR="73152" marT="45720" marB="45720" anchor="ctr">
                    <a:solidFill>
                      <a:srgbClr val="ED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2430"/>
                          </a:solidFill>
                          <a:latin typeface="Calibri"/>
                        </a:rPr>
                        <a:t>Farhat provides $1,800 services on credit</a:t>
                      </a:r>
                    </a:p>
                  </a:txBody>
                  <a:tcPr marL="109728" marR="73152" marT="45720" marB="45720" anchor="ctr">
                    <a:solidFill>
                      <a:srgbClr val="ED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2430"/>
                          </a:solidFill>
                          <a:latin typeface="Calibri"/>
                        </a:rPr>
                        <a:t>Accounts Receivable (A) + Service Revenue (Rev)</a:t>
                      </a:r>
                    </a:p>
                  </a:txBody>
                  <a:tcPr marL="109728" marR="73152" marT="45720" marB="45720" anchor="ctr">
                    <a:solidFill>
                      <a:srgbClr val="ED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2430"/>
                          </a:solidFill>
                          <a:latin typeface="Calibri"/>
                        </a:rPr>
                        <a:t>A/R ▲ +1,800 · Revenue ▲ +1,800</a:t>
                      </a:r>
                    </a:p>
                  </a:txBody>
                  <a:tcPr marL="109728" marR="73152" marT="45720" marB="45720" anchor="ctr">
                    <a:solidFill>
                      <a:srgbClr val="EDF2F8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243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2430"/>
                          </a:solidFill>
                          <a:latin typeface="Calibri"/>
                        </a:rPr>
                        <a:t>Pays $1,000 cash toward the supplies bill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2430"/>
                          </a:solidFill>
                          <a:latin typeface="Calibri"/>
                        </a:rPr>
                        <a:t>Cash (A) + Accounts Payable (L)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2430"/>
                          </a:solidFill>
                          <a:latin typeface="Calibri"/>
                        </a:rPr>
                        <a:t>Cash ▼ −1,000 · A/P ▼ −1,000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5989320"/>
            <a:ext cx="11064240" cy="566928"/>
          </a:xfrm>
          <a:prstGeom prst="roundRect">
            <a:avLst>
              <a:gd name="adj" fmla="val 8000"/>
            </a:avLst>
          </a:prstGeom>
          <a:solidFill>
            <a:srgbClr val="11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062472"/>
            <a:ext cx="106070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1">
                <a:solidFill>
                  <a:srgbClr val="F0B429"/>
                </a:solidFill>
                <a:latin typeface="Calibri"/>
              </a:rPr>
              <a:t>Watch transaction 2: Cash ▼ 26,000 and Equipment ▲ 26,000 — total assets are unchanged at $40,000. The equation still balances.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14455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0">
                <a:solidFill>
                  <a:srgbClr val="8F9EB3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0B429"/>
                </a:solidFill>
                <a:latin typeface="Calibri"/>
              </a:rPr>
              <a:t>THE LANGUAGE OF DOUBLE-ENTRY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Debits, Credits — Left and Right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34440"/>
            <a:ext cx="1463040" cy="38100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11064240" cy="960120"/>
          </a:xfrm>
          <a:prstGeom prst="roundRect">
            <a:avLst>
              <a:gd name="adj" fmla="val 8000"/>
            </a:avLst>
          </a:prstGeom>
          <a:solidFill>
            <a:srgbClr val="11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47088"/>
            <a:ext cx="105156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>
                <a:solidFill>
                  <a:srgbClr val="F0B429"/>
                </a:solidFill>
                <a:latin typeface="Calibri"/>
              </a:rPr>
              <a:t>Debit (Dr.)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from Latin debere — simply means </a:t>
            </a:r>
            <a:r>
              <a:rPr sz="2200" b="1" i="0">
                <a:solidFill>
                  <a:srgbClr val="F0B429"/>
                </a:solidFill>
                <a:latin typeface="Calibri"/>
              </a:rPr>
              <a:t>LEFT</a:t>
            </a:r>
            <a:r>
              <a:rPr sz="2200" b="1" i="0">
                <a:solidFill>
                  <a:srgbClr val="1F6FEB"/>
                </a:solidFill>
                <a:latin typeface="Calibri"/>
              </a:rPr>
              <a:t>      Credit (Cr.)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from Latin credere — simply means </a:t>
            </a:r>
            <a:r>
              <a:rPr sz="2200" b="1" i="0">
                <a:solidFill>
                  <a:srgbClr val="1F6FEB"/>
                </a:solidFill>
                <a:latin typeface="Calibri"/>
              </a:rPr>
              <a:t>RIGHT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880360"/>
            <a:ext cx="5394960" cy="3108960"/>
          </a:xfrm>
          <a:prstGeom prst="roundRect">
            <a:avLst>
              <a:gd name="adj" fmla="val 8000"/>
            </a:avLst>
          </a:prstGeom>
          <a:solidFill>
            <a:srgbClr val="11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108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D64545"/>
                </a:solidFill>
                <a:latin typeface="Calibri"/>
              </a:rPr>
              <a:t>WIPE THE EVERYDAY MEANING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52044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F0B429"/>
                </a:solidFill>
                <a:latin typeface="Calibri"/>
              </a:rPr>
              <a:t>▸ </a:t>
            </a:r>
            <a:r>
              <a:rPr sz="1500" b="1">
                <a:solidFill>
                  <a:srgbClr val="FFFFFF"/>
                </a:solidFill>
                <a:latin typeface="Calibri"/>
              </a:rPr>
              <a:t>Debit ≠ bad, Credit ≠ good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C9D4E3"/>
                </a:solidFill>
                <a:latin typeface="Calibri"/>
              </a:rPr>
              <a:t>     in accounting they are only sides of an account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F0B429"/>
                </a:solidFill>
                <a:latin typeface="Calibri"/>
              </a:rPr>
              <a:t>▸ </a:t>
            </a:r>
            <a:r>
              <a:rPr sz="1500" b="1">
                <a:solidFill>
                  <a:srgbClr val="FFFFFF"/>
                </a:solidFill>
                <a:latin typeface="Calibri"/>
              </a:rPr>
              <a:t>Every transaction hits ≥ 2 accounts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C9D4E3"/>
                </a:solidFill>
                <a:latin typeface="Calibri"/>
              </a:rPr>
              <a:t>     nothing exists in isolation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F0B429"/>
                </a:solidFill>
                <a:latin typeface="Calibri"/>
              </a:rPr>
              <a:t>▸ </a:t>
            </a:r>
            <a:r>
              <a:rPr sz="1500" b="1">
                <a:solidFill>
                  <a:srgbClr val="FFFFFF"/>
                </a:solidFill>
                <a:latin typeface="Calibri"/>
              </a:rPr>
              <a:t>Total Debits must equal Total Credits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C9D4E3"/>
                </a:solidFill>
                <a:latin typeface="Calibri"/>
              </a:rPr>
              <a:t>     this is what keeps the equation balanced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880360"/>
            <a:ext cx="5394960" cy="3108960"/>
          </a:xfrm>
          <a:prstGeom prst="roundRect">
            <a:avLst>
              <a:gd name="adj" fmla="val 8000"/>
            </a:avLst>
          </a:prstGeom>
          <a:solidFill>
            <a:srgbClr val="11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3108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0B429"/>
                </a:solidFill>
                <a:latin typeface="Calibri"/>
              </a:rPr>
              <a:t>THE GOLDEN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3611880"/>
            <a:ext cx="4846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If Debits = Credits </a:t>
            </a:r>
            <a:r>
              <a:rPr sz="1600" b="0" i="0">
                <a:solidFill>
                  <a:srgbClr val="C9D4E3"/>
                </a:solidFill>
                <a:latin typeface="Calibri"/>
              </a:rPr>
              <a:t>for every entry…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4251960"/>
            <a:ext cx="48463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C9D4E3"/>
                </a:solidFill>
                <a:latin typeface="Calibri"/>
              </a:rPr>
              <a:t>…then the Accounting Equation Assets = Liabilities + Equity can never break. Double-entry bookkeeping is simply the equation's enforcement mechanism.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14455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0">
                <a:solidFill>
                  <a:srgbClr val="8F9EB3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0B429"/>
                </a:solidFill>
                <a:latin typeface="Calibri"/>
              </a:rPr>
              <a:t>THE ULTIMATE MNEMONIC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DEALER — Who Increases with What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34440"/>
            <a:ext cx="1463040" cy="38100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1764792" cy="914400"/>
          </a:xfrm>
          <a:prstGeom prst="roundRect">
            <a:avLst>
              <a:gd name="adj" fmla="val 8000"/>
            </a:avLst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27632"/>
            <a:ext cx="176479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7647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0B1F3A"/>
                </a:solidFill>
                <a:latin typeface="Calibri"/>
              </a:rPr>
              <a:t>Dividends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14016" y="1554480"/>
            <a:ext cx="1764792" cy="914400"/>
          </a:xfrm>
          <a:prstGeom prst="roundRect">
            <a:avLst>
              <a:gd name="adj" fmla="val 8000"/>
            </a:avLst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14016" y="1627632"/>
            <a:ext cx="176479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
                  <a:srgbClr val="0B1F3A"/>
                </a:solidFill>
                <a:latin typeface="Calibri"/>
              </a:rPr>
              <a:t>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14016" y="2103120"/>
            <a:ext cx="17647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0B1F3A"/>
                </a:solidFill>
                <a:latin typeface="Calibri"/>
              </a:rPr>
              <a:t>Expenses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9392" y="1554480"/>
            <a:ext cx="1764792" cy="914400"/>
          </a:xfrm>
          <a:prstGeom prst="roundRect">
            <a:avLst>
              <a:gd name="adj" fmla="val 8000"/>
            </a:avLst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9392" y="1627632"/>
            <a:ext cx="176479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9392" y="2103120"/>
            <a:ext cx="17647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0B1F3A"/>
                </a:solidFill>
                <a:latin typeface="Calibri"/>
              </a:rPr>
              <a:t>Assets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1554480"/>
            <a:ext cx="1764792" cy="91440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44768" y="1627632"/>
            <a:ext cx="176479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
                  <a:srgbClr val="0B1F3A"/>
                </a:solidFill>
                <a:latin typeface="Calibri"/>
              </a:rPr>
              <a:t>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44768" y="2103120"/>
            <a:ext cx="17647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0B1F3A"/>
                </a:solidFill>
                <a:latin typeface="Calibri"/>
              </a:rPr>
              <a:t>Liabilities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10144" y="1554480"/>
            <a:ext cx="1764792" cy="91440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10144" y="1627632"/>
            <a:ext cx="176479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
                  <a:srgbClr val="0B1F3A"/>
                </a:solidFill>
                <a:latin typeface="Calibri"/>
              </a:rPr>
              <a:t>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10144" y="2103120"/>
            <a:ext cx="17647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0B1F3A"/>
                </a:solidFill>
                <a:latin typeface="Calibri"/>
              </a:rPr>
              <a:t>Equity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75520" y="1554480"/>
            <a:ext cx="1764792" cy="91440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0" y="1627632"/>
            <a:ext cx="176479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
                  <a:srgbClr val="0B1F3A"/>
                </a:solidFill>
                <a:latin typeface="Calibri"/>
              </a:rPr>
              <a:t>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2103120"/>
            <a:ext cx="17647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0B1F3A"/>
                </a:solidFill>
                <a:latin typeface="Calibri"/>
              </a:rPr>
              <a:t>Revenue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2697480"/>
            <a:ext cx="5394960" cy="1188720"/>
          </a:xfrm>
          <a:prstGeom prst="roundRect">
            <a:avLst>
              <a:gd name="adj" fmla="val 8000"/>
            </a:avLst>
          </a:prstGeom>
          <a:solidFill>
            <a:srgbClr val="11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2852928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F0B429"/>
                </a:solidFill>
                <a:latin typeface="Calibri"/>
              </a:rPr>
              <a:t>D · E · A — increase with DEBIT (Left)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3246120"/>
            <a:ext cx="4846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C9D4E3"/>
                </a:solidFill>
                <a:latin typeface="Calibri"/>
              </a:rPr>
              <a:t>Destination accounts — where economic benefit flows. Decrease with a Credit.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2697480"/>
            <a:ext cx="5394960" cy="1188720"/>
          </a:xfrm>
          <a:prstGeom prst="roundRect">
            <a:avLst>
              <a:gd name="adj" fmla="val 8000"/>
            </a:avLst>
          </a:prstGeom>
          <a:solidFill>
            <a:srgbClr val="11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2852928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F6FEB"/>
                </a:solidFill>
                <a:latin typeface="Calibri"/>
              </a:rPr>
              <a:t>L · E · R — increase with CREDIT (Right)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246120"/>
            <a:ext cx="4846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C9D4E3"/>
                </a:solidFill>
                <a:latin typeface="Calibri"/>
              </a:rPr>
              <a:t>Source accounts — where economic benefit originates. Decrease with a Debit.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548640" y="4069080"/>
          <a:ext cx="1106424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651760"/>
                <a:gridCol w="2560320"/>
                <a:gridCol w="256032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Account Type</a:t>
                      </a:r>
                    </a:p>
                  </a:txBody>
                  <a:tcPr marL="109728" marT="18288" marB="18288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Normal Balance</a:t>
                      </a:r>
                    </a:p>
                  </a:txBody>
                  <a:tcPr marL="109728" marT="18288" marB="18288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Increase</a:t>
                      </a:r>
                    </a:p>
                  </a:txBody>
                  <a:tcPr marL="109728" marT="18288" marB="18288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Decrease</a:t>
                      </a:r>
                    </a:p>
                  </a:txBody>
                  <a:tcPr marL="109728" marT="18288" marB="18288" anchor="ctr">
                    <a:solidFill>
                      <a:srgbClr val="0B1F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2430"/>
                          </a:solidFill>
                          <a:latin typeface="Calibri"/>
                        </a:rPr>
                        <a:t>Dividends (D)</a:t>
                      </a:r>
                    </a:p>
                  </a:txBody>
                  <a:tcPr marL="10972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2430"/>
                          </a:solidFill>
                          <a:latin typeface="Calibri"/>
                        </a:rPr>
                        <a:t>Debit</a:t>
                      </a:r>
                    </a:p>
                  </a:txBody>
                  <a:tcPr marL="10972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2430"/>
                          </a:solidFill>
                          <a:latin typeface="Calibri"/>
                        </a:rPr>
                        <a:t>Debit</a:t>
                      </a:r>
                    </a:p>
                  </a:txBody>
                  <a:tcPr marL="10972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2430"/>
                          </a:solidFill>
                          <a:latin typeface="Calibri"/>
                        </a:rPr>
                        <a:t>Credit</a:t>
                      </a:r>
                    </a:p>
                  </a:txBody>
                  <a:tcPr marL="109728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2430"/>
                          </a:solidFill>
                          <a:latin typeface="Calibri"/>
                        </a:rPr>
                        <a:t>Expenses (E)</a:t>
                      </a:r>
                    </a:p>
                  </a:txBody>
                  <a:tcPr marL="109728" marT="18288" marB="18288" anchor="ctr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2430"/>
                          </a:solidFill>
                          <a:latin typeface="Calibri"/>
                        </a:rPr>
                        <a:t>Debit</a:t>
                      </a:r>
                    </a:p>
                  </a:txBody>
                  <a:tcPr marL="109728" marT="18288" marB="18288" anchor="ctr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2430"/>
                          </a:solidFill>
                          <a:latin typeface="Calibri"/>
                        </a:rPr>
                        <a:t>Debit</a:t>
                      </a:r>
                    </a:p>
                  </a:txBody>
                  <a:tcPr marL="109728" marT="18288" marB="18288" anchor="ctr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2430"/>
                          </a:solidFill>
                          <a:latin typeface="Calibri"/>
                        </a:rPr>
                        <a:t>Credit</a:t>
                      </a:r>
                    </a:p>
                  </a:txBody>
                  <a:tcPr marL="109728" marT="18288" marB="18288" anchor="ctr">
                    <a:solidFill>
                      <a:srgbClr val="EDF2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2430"/>
                          </a:solidFill>
                          <a:latin typeface="Calibri"/>
                        </a:rPr>
                        <a:t>Assets (A)</a:t>
                      </a:r>
                    </a:p>
                  </a:txBody>
                  <a:tcPr marL="10972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2430"/>
                          </a:solidFill>
                          <a:latin typeface="Calibri"/>
                        </a:rPr>
                        <a:t>Debit</a:t>
                      </a:r>
                    </a:p>
                  </a:txBody>
                  <a:tcPr marL="10972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2430"/>
                          </a:solidFill>
                          <a:latin typeface="Calibri"/>
                        </a:rPr>
                        <a:t>Debit</a:t>
                      </a:r>
                    </a:p>
                  </a:txBody>
                  <a:tcPr marL="10972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2430"/>
                          </a:solidFill>
                          <a:latin typeface="Calibri"/>
                        </a:rPr>
                        <a:t>Credit</a:t>
                      </a:r>
                    </a:p>
                  </a:txBody>
                  <a:tcPr marL="109728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2430"/>
                          </a:solidFill>
                          <a:latin typeface="Calibri"/>
                        </a:rPr>
                        <a:t>Liabilities (L)</a:t>
                      </a:r>
                    </a:p>
                  </a:txBody>
                  <a:tcPr marL="109728" marT="18288" marB="18288" anchor="ctr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2430"/>
                          </a:solidFill>
                          <a:latin typeface="Calibri"/>
                        </a:rPr>
                        <a:t>Credit</a:t>
                      </a:r>
                    </a:p>
                  </a:txBody>
                  <a:tcPr marL="109728" marT="18288" marB="18288" anchor="ctr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2430"/>
                          </a:solidFill>
                          <a:latin typeface="Calibri"/>
                        </a:rPr>
                        <a:t>Credit</a:t>
                      </a:r>
                    </a:p>
                  </a:txBody>
                  <a:tcPr marL="109728" marT="18288" marB="18288" anchor="ctr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2430"/>
                          </a:solidFill>
                          <a:latin typeface="Calibri"/>
                        </a:rPr>
                        <a:t>Debit</a:t>
                      </a:r>
                    </a:p>
                  </a:txBody>
                  <a:tcPr marL="109728" marT="18288" marB="18288" anchor="ctr">
                    <a:solidFill>
                      <a:srgbClr val="EDF2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2430"/>
                          </a:solidFill>
                          <a:latin typeface="Calibri"/>
                        </a:rPr>
                        <a:t>Equity (E)</a:t>
                      </a:r>
                    </a:p>
                  </a:txBody>
                  <a:tcPr marL="10972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2430"/>
                          </a:solidFill>
                          <a:latin typeface="Calibri"/>
                        </a:rPr>
                        <a:t>Credit</a:t>
                      </a:r>
                    </a:p>
                  </a:txBody>
                  <a:tcPr marL="10972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2430"/>
                          </a:solidFill>
                          <a:latin typeface="Calibri"/>
                        </a:rPr>
                        <a:t>Credit</a:t>
                      </a:r>
                    </a:p>
                  </a:txBody>
                  <a:tcPr marL="10972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2430"/>
                          </a:solidFill>
                          <a:latin typeface="Calibri"/>
                        </a:rPr>
                        <a:t>Debit</a:t>
                      </a:r>
                    </a:p>
                  </a:txBody>
                  <a:tcPr marL="109728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2430"/>
                          </a:solidFill>
                          <a:latin typeface="Calibri"/>
                        </a:rPr>
                        <a:t>Revenue (R)</a:t>
                      </a:r>
                    </a:p>
                  </a:txBody>
                  <a:tcPr marL="109728" marT="18288" marB="18288" anchor="ctr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2430"/>
                          </a:solidFill>
                          <a:latin typeface="Calibri"/>
                        </a:rPr>
                        <a:t>Credit</a:t>
                      </a:r>
                    </a:p>
                  </a:txBody>
                  <a:tcPr marL="109728" marT="18288" marB="18288" anchor="ctr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2430"/>
                          </a:solidFill>
                          <a:latin typeface="Calibri"/>
                        </a:rPr>
                        <a:t>Credit</a:t>
                      </a:r>
                    </a:p>
                  </a:txBody>
                  <a:tcPr marL="109728" marT="18288" marB="18288" anchor="ctr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2430"/>
                          </a:solidFill>
                          <a:latin typeface="Calibri"/>
                        </a:rPr>
                        <a:t>Debit</a:t>
                      </a:r>
                    </a:p>
                  </a:txBody>
                  <a:tcPr marL="109728" marT="18288" marB="18288" anchor="ctr">
                    <a:solidFill>
                      <a:srgbClr val="EDF2F8"/>
                    </a:solidFill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548640" y="6510528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1">
                <a:solidFill>
                  <a:srgbClr val="F0B429"/>
                </a:solidFill>
                <a:latin typeface="Calibri"/>
              </a:rPr>
              <a:t>Rule of Normal Balances: an account's normal balance is the side where increases are recorded.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14455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0">
                <a:solidFill>
                  <a:srgbClr val="8F9EB3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0B429"/>
                </a:solidFill>
                <a:latin typeface="Calibri"/>
              </a:rPr>
              <a:t>FROM RECEIPTS TO RECORDS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A2430"/>
                </a:solidFill>
                <a:latin typeface="Calibri"/>
              </a:rPr>
              <a:t>Journal Entries &amp; T-Accounts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34440"/>
            <a:ext cx="1463040" cy="38100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39496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F6FEB"/>
                </a:solidFill>
                <a:latin typeface="Calibri"/>
              </a:rPr>
              <a:t>JOURNAL ENTRY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5B6B7C"/>
                </a:solidFill>
                <a:latin typeface="Calibri"/>
              </a:rPr>
              <a:t>The primary record — transactions logged chronologically.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834640"/>
            <a:ext cx="4754880" cy="192024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971800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0B429"/>
                </a:solidFill>
                <a:latin typeface="Calibri"/>
              </a:rPr>
              <a:t>Owner invests €100 cash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3291840"/>
            <a:ext cx="4297680" cy="12700"/>
          </a:xfrm>
          <a:prstGeom prst="rect">
            <a:avLst/>
          </a:prstGeom>
          <a:solidFill>
            <a:srgbClr val="334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401568"/>
            <a:ext cx="4297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Dr.  Cash                    €100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3794760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Cr.  Paid-In Capital     €100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937760"/>
            <a:ext cx="47548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B6B7C"/>
                </a:solidFill>
                <a:latin typeface="Calibri"/>
              </a:rPr>
              <a:t>Debits listed first on their own lines; Credits are indented beneath them.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645920"/>
            <a:ext cx="539496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1874519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F6FEB"/>
                </a:solidFill>
                <a:latin typeface="Calibri"/>
              </a:rPr>
              <a:t>T-ACCOUNT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240280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5B6B7C"/>
                </a:solidFill>
                <a:latin typeface="Calibri"/>
              </a:rPr>
              <a:t>A visual ledger shaped like a “T” — Debits on the left, Credits on the right.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37960" y="2834640"/>
            <a:ext cx="4754880" cy="237744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2944368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F0B429"/>
                </a:solidFill>
                <a:latin typeface="Calibri"/>
              </a:rPr>
              <a:t>Cash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69680" y="3383280"/>
            <a:ext cx="254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12280" y="3383280"/>
            <a:ext cx="420624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12280" y="3493008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F2C94E"/>
                </a:solidFill>
                <a:latin typeface="Calibri"/>
              </a:rPr>
              <a:t>DEBITS (Dr.)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3493008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7EB6F2"/>
                </a:solidFill>
                <a:latin typeface="Calibri"/>
              </a:rPr>
              <a:t>CREDITS (Cr.)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3886200"/>
            <a:ext cx="1920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€100</a:t>
            </a:r>
          </a:p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€500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280" y="388620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€100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4709160"/>
            <a:ext cx="4206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2EA44F"/>
                </a:solidFill>
                <a:latin typeface="Calibri"/>
              </a:rPr>
              <a:t>Balance = €500 Dr.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14455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0">
                <a:solidFill>
                  <a:srgbClr val="8F9EB3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0B429"/>
                </a:solidFill>
                <a:latin typeface="Calibri"/>
              </a:rPr>
              <a:t>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 Day at Claudio's Beach Business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34440"/>
            <a:ext cx="1463040" cy="38100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394960" cy="2240280"/>
          </a:xfrm>
          <a:prstGeom prst="roundRect">
            <a:avLst>
              <a:gd name="adj" fmla="val 8000"/>
            </a:avLst>
          </a:prstGeom>
          <a:solidFill>
            <a:srgbClr val="11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10512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F0B429"/>
                </a:solidFill>
                <a:latin typeface="Calibri"/>
              </a:rPr>
              <a:t>Event 1 · Starting Capital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48840"/>
            <a:ext cx="4846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C9D4E3"/>
                </a:solidFill>
                <a:latin typeface="Calibri"/>
              </a:rPr>
              <a:t>Claudio contributes €100 of his own cash into the business bank account.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8803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Dr. Cash  </a:t>
            </a:r>
            <a:r>
              <a:rPr sz="1400" b="1" i="0">
                <a:solidFill>
                  <a:srgbClr val="F0B429"/>
                </a:solidFill>
                <a:latin typeface="Calibri"/>
              </a:rPr>
              <a:t>€100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264408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C9D4E3"/>
                </a:solidFill>
                <a:latin typeface="Calibri"/>
              </a:rPr>
              <a:t>     Cr. Paid-In Capital  </a:t>
            </a:r>
            <a:r>
              <a:rPr sz="1400" b="1" i="0">
                <a:solidFill>
                  <a:srgbClr val="1F6FEB"/>
                </a:solidFill>
                <a:latin typeface="Calibri"/>
              </a:rPr>
              <a:t>€100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5394960" cy="2240280"/>
          </a:xfrm>
          <a:prstGeom prst="roundRect">
            <a:avLst>
              <a:gd name="adj" fmla="val 8000"/>
            </a:avLst>
          </a:prstGeom>
          <a:solidFill>
            <a:srgbClr val="11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810512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F0B429"/>
                </a:solidFill>
                <a:latin typeface="Calibri"/>
              </a:rPr>
              <a:t>Event 2 · Buy Inventory for Cash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48840"/>
            <a:ext cx="4846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C9D4E3"/>
                </a:solidFill>
                <a:latin typeface="Calibri"/>
              </a:rPr>
              <a:t>Purchases 100 souvenir plates for €100 cash.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8803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Dr. Inventory  </a:t>
            </a:r>
            <a:r>
              <a:rPr sz="1400" b="1" i="0">
                <a:solidFill>
                  <a:srgbClr val="F0B429"/>
                </a:solidFill>
                <a:latin typeface="Calibri"/>
              </a:rPr>
              <a:t>€100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264408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C9D4E3"/>
                </a:solidFill>
                <a:latin typeface="Calibri"/>
              </a:rPr>
              <a:t>     Cr. Cash  </a:t>
            </a:r>
            <a:r>
              <a:rPr sz="1400" b="1" i="0">
                <a:solidFill>
                  <a:srgbClr val="1F6FEB"/>
                </a:solidFill>
                <a:latin typeface="Calibri"/>
              </a:rPr>
              <a:t>€100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069080"/>
            <a:ext cx="5394960" cy="2240280"/>
          </a:xfrm>
          <a:prstGeom prst="roundRect">
            <a:avLst>
              <a:gd name="adj" fmla="val 8000"/>
            </a:avLst>
          </a:prstGeom>
          <a:solidFill>
            <a:srgbClr val="11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233672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F0B429"/>
                </a:solidFill>
                <a:latin typeface="Calibri"/>
              </a:rPr>
              <a:t>Event 3a · Sales Revenue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572000"/>
            <a:ext cx="4846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C9D4E3"/>
                </a:solidFill>
                <a:latin typeface="Calibri"/>
              </a:rPr>
              <a:t>Sells all 100 plates to tourists for €5 each — collects €500 cash.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30352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Dr. Cash  </a:t>
            </a:r>
            <a:r>
              <a:rPr sz="1400" b="1" i="0">
                <a:solidFill>
                  <a:srgbClr val="F0B429"/>
                </a:solidFill>
                <a:latin typeface="Calibri"/>
              </a:rPr>
              <a:t>€500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5687568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C9D4E3"/>
                </a:solidFill>
                <a:latin typeface="Calibri"/>
              </a:rPr>
              <a:t>     Cr. Sales Revenue  </a:t>
            </a:r>
            <a:r>
              <a:rPr sz="1400" b="1" i="0">
                <a:solidFill>
                  <a:srgbClr val="1F6FEB"/>
                </a:solidFill>
                <a:latin typeface="Calibri"/>
              </a:rPr>
              <a:t>€500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069080"/>
            <a:ext cx="5394960" cy="2240280"/>
          </a:xfrm>
          <a:prstGeom prst="roundRect">
            <a:avLst>
              <a:gd name="adj" fmla="val 8000"/>
            </a:avLst>
          </a:prstGeom>
          <a:solidFill>
            <a:srgbClr val="11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233672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F0B429"/>
                </a:solidFill>
                <a:latin typeface="Calibri"/>
              </a:rPr>
              <a:t>Event 3b · Cost of Goods Sold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572000"/>
            <a:ext cx="4846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C9D4E3"/>
                </a:solidFill>
                <a:latin typeface="Calibri"/>
              </a:rPr>
              <a:t>Records the €100 cost of the plates just sold.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530352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Dr. Cost of Goods Sold  </a:t>
            </a:r>
            <a:r>
              <a:rPr sz="1400" b="1" i="0">
                <a:solidFill>
                  <a:srgbClr val="F0B429"/>
                </a:solidFill>
                <a:latin typeface="Calibri"/>
              </a:rPr>
              <a:t>€100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5687568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C9D4E3"/>
                </a:solidFill>
                <a:latin typeface="Calibri"/>
              </a:rPr>
              <a:t>     Cr. Inventory  </a:t>
            </a:r>
            <a:r>
              <a:rPr sz="1400" b="1" i="0">
                <a:solidFill>
                  <a:srgbClr val="1F6FEB"/>
                </a:solidFill>
                <a:latin typeface="Calibri"/>
              </a:rPr>
              <a:t>€100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14455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0">
                <a:solidFill>
                  <a:srgbClr val="8F9EB3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0B429"/>
                </a:solidFill>
                <a:latin typeface="Calibri"/>
              </a:rPr>
              <a:t>FROM T-ACCOUNTS TO STATEMENTS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A2430"/>
                </a:solidFill>
                <a:latin typeface="Calibri"/>
              </a:rPr>
              <a:t>Claudio's Day: Balances → Income Statement → Balance Sheet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34440"/>
            <a:ext cx="1463040" cy="38100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39496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F6FEB"/>
                </a:solidFill>
                <a:latin typeface="Calibri"/>
              </a:rPr>
              <a:t>ENDING T-ACCOUNT BALANCES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286000"/>
            <a:ext cx="4754880" cy="658368"/>
          </a:xfrm>
          <a:prstGeom prst="roundRect">
            <a:avLst>
              <a:gd name="adj" fmla="val 8000"/>
            </a:avLst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40864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A2430"/>
                </a:solidFill>
                <a:latin typeface="Calibri"/>
              </a:rPr>
              <a:t>Cash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340864"/>
            <a:ext cx="2606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B6B7C"/>
                </a:solidFill>
                <a:latin typeface="Calibri"/>
              </a:rPr>
              <a:t>€100 Dr − €100 Cr + €500 Dr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606040"/>
            <a:ext cx="4434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0B429"/>
                </a:solidFill>
                <a:latin typeface="Calibri"/>
              </a:rPr>
              <a:t>= €500 Dr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054096"/>
            <a:ext cx="4754880" cy="658368"/>
          </a:xfrm>
          <a:prstGeom prst="roundRect">
            <a:avLst>
              <a:gd name="adj" fmla="val 8000"/>
            </a:avLst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108960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A2430"/>
                </a:solidFill>
                <a:latin typeface="Calibri"/>
              </a:rPr>
              <a:t>Inventory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108960"/>
            <a:ext cx="2606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B6B7C"/>
                </a:solidFill>
                <a:latin typeface="Calibri"/>
              </a:rPr>
              <a:t>€100 Dr − €100 Cr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374136"/>
            <a:ext cx="4434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5B6B7C"/>
                </a:solidFill>
                <a:latin typeface="Calibri"/>
              </a:rPr>
              <a:t>= €0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22192"/>
            <a:ext cx="4754880" cy="658368"/>
          </a:xfrm>
          <a:prstGeom prst="roundRect">
            <a:avLst>
              <a:gd name="adj" fmla="val 8000"/>
            </a:avLst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877056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A2430"/>
                </a:solidFill>
                <a:latin typeface="Calibri"/>
              </a:rPr>
              <a:t>Sales Revenue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3877056"/>
            <a:ext cx="2606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B6B7C"/>
                </a:solidFill>
                <a:latin typeface="Calibri"/>
              </a:rPr>
              <a:t>€500 Cr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142232"/>
            <a:ext cx="4434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F6FEB"/>
                </a:solidFill>
                <a:latin typeface="Calibri"/>
              </a:rPr>
              <a:t>= €500 Cr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4590288"/>
            <a:ext cx="4754880" cy="658368"/>
          </a:xfrm>
          <a:prstGeom prst="roundRect">
            <a:avLst>
              <a:gd name="adj" fmla="val 8000"/>
            </a:avLst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645152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A2430"/>
                </a:solidFill>
                <a:latin typeface="Calibri"/>
              </a:rPr>
              <a:t>COGS (Expense)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4645152"/>
            <a:ext cx="2606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B6B7C"/>
                </a:solidFill>
                <a:latin typeface="Calibri"/>
              </a:rPr>
              <a:t>€100 Dr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910328"/>
            <a:ext cx="4434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D64545"/>
                </a:solidFill>
                <a:latin typeface="Calibri"/>
              </a:rPr>
              <a:t>= €100 Dr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5358384"/>
            <a:ext cx="4754880" cy="658368"/>
          </a:xfrm>
          <a:prstGeom prst="roundRect">
            <a:avLst>
              <a:gd name="adj" fmla="val 8000"/>
            </a:avLst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5413248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A2430"/>
                </a:solidFill>
                <a:latin typeface="Calibri"/>
              </a:rPr>
              <a:t>Paid-In Capital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5413248"/>
            <a:ext cx="2606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B6B7C"/>
                </a:solidFill>
                <a:latin typeface="Calibri"/>
              </a:rPr>
              <a:t>€100 Cr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5678424"/>
            <a:ext cx="4434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2EA44F"/>
                </a:solidFill>
                <a:latin typeface="Calibri"/>
              </a:rPr>
              <a:t>= €100 Cr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1645920"/>
            <a:ext cx="5394960" cy="214884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1810512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0B429"/>
                </a:solidFill>
                <a:latin typeface="Calibri"/>
              </a:rPr>
              <a:t>STEP A · INCOME STATEMENT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224028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Revenue €500  −  COGS €100  =  </a:t>
            </a:r>
            <a:r>
              <a:rPr sz="2000" b="1" i="0">
                <a:solidFill>
                  <a:srgbClr val="2EA44F"/>
                </a:solidFill>
                <a:latin typeface="Calibri"/>
              </a:rPr>
              <a:t>Net Profit €400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2788920"/>
            <a:ext cx="4846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>
                <a:solidFill>
                  <a:srgbClr val="C9D4E3"/>
                </a:solidFill>
                <a:latin typeface="Calibri"/>
              </a:rPr>
              <a:t>Net Profit flows directly into Retained Earnings under Equity on the Balance Sheet.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3977639"/>
            <a:ext cx="5394960" cy="214884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4142232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0B429"/>
                </a:solidFill>
                <a:latin typeface="Calibri"/>
              </a:rPr>
              <a:t>STEP B · BALANCE SHEET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452628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F0B429"/>
                </a:solidFill>
                <a:latin typeface="Calibri"/>
              </a:rPr>
              <a:t>Assets:  Cash €500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4864608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F6FEB"/>
                </a:solidFill>
                <a:latin typeface="Calibri"/>
              </a:rPr>
              <a:t>Liabilities:  €0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5202936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2EA44F"/>
                </a:solidFill>
                <a:latin typeface="Calibri"/>
              </a:rPr>
              <a:t>Equity:  Capital €100 + Retained Earnings €400 = </a:t>
            </a:r>
            <a:r>
              <a:rPr sz="1500" b="1" i="0">
                <a:solidFill>
                  <a:srgbClr val="2EA44F"/>
                </a:solidFill>
                <a:latin typeface="Calibri"/>
              </a:rPr>
              <a:t>€500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92240" y="5623560"/>
            <a:ext cx="4846320" cy="384048"/>
          </a:xfrm>
          <a:prstGeom prst="roundRect">
            <a:avLst>
              <a:gd name="adj" fmla="val 8000"/>
            </a:avLst>
          </a:prstGeom>
          <a:solidFill>
            <a:srgbClr val="2E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5669280"/>
            <a:ext cx="4846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€500 Assets = €0 Liabilities + €500 Equity 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14455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0">
                <a:solidFill>
                  <a:srgbClr val="8F9EB3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0B429"/>
                </a:solidFill>
                <a:latin typeface="Calibr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Accounting: The Structured Language of Business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34440"/>
            <a:ext cx="1463040" cy="38100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5394960" cy="1371600"/>
          </a:xfrm>
          <a:prstGeom prst="roundRect">
            <a:avLst>
              <a:gd name="adj" fmla="val 8000"/>
            </a:avLst>
          </a:prstGeom>
          <a:solidFill>
            <a:srgbClr val="11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63500" cy="1371600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01368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F0B429"/>
                </a:solidFill>
                <a:latin typeface="Calibri"/>
              </a:rPr>
              <a:t>Unbreakable Rule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49377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C9D4E3"/>
                </a:solidFill>
                <a:latin typeface="Calibri"/>
              </a:rPr>
              <a:t>Assets = Liabilities + Owner's Equity must stay in balance after every single transaction.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5394960" cy="1371600"/>
          </a:xfrm>
          <a:prstGeom prst="roundRect">
            <a:avLst>
              <a:gd name="adj" fmla="val 8000"/>
            </a:avLst>
          </a:prstGeom>
          <a:solidFill>
            <a:srgbClr val="11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691640"/>
            <a:ext cx="63500" cy="1371600"/>
          </a:xfrm>
          <a:prstGeom prst="rect">
            <a:avLst/>
          </a:prstGeom>
          <a:solidFill>
            <a:srgbClr val="2E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801368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2EA44F"/>
                </a:solidFill>
                <a:latin typeface="Calibri"/>
              </a:rPr>
              <a:t>Expanded Equity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48840"/>
            <a:ext cx="49377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C9D4E3"/>
                </a:solidFill>
                <a:latin typeface="Calibri"/>
              </a:rPr>
              <a:t>Owner's Equity expands to Capital − Drawings + Revenues − Expenses.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200400"/>
            <a:ext cx="5394960" cy="1371600"/>
          </a:xfrm>
          <a:prstGeom prst="roundRect">
            <a:avLst>
              <a:gd name="adj" fmla="val 8000"/>
            </a:avLst>
          </a:prstGeom>
          <a:solidFill>
            <a:srgbClr val="11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200400"/>
            <a:ext cx="63500" cy="13716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310128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F6FEB"/>
                </a:solidFill>
                <a:latin typeface="Calibri"/>
              </a:rPr>
              <a:t>3-Step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657600"/>
            <a:ext cx="49377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C9D4E3"/>
                </a:solidFill>
                <a:latin typeface="Calibri"/>
              </a:rPr>
              <a:t>What happened → which accounts &amp; their classification → directional impact (up/down).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200400"/>
            <a:ext cx="5394960" cy="1371600"/>
          </a:xfrm>
          <a:prstGeom prst="roundRect">
            <a:avLst>
              <a:gd name="adj" fmla="val 8000"/>
            </a:avLst>
          </a:prstGeom>
          <a:solidFill>
            <a:srgbClr val="11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200400"/>
            <a:ext cx="63500" cy="1371600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310128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D64545"/>
                </a:solidFill>
                <a:latin typeface="Calibri"/>
              </a:rPr>
              <a:t>Debits &amp; Credits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657600"/>
            <a:ext cx="49377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C9D4E3"/>
                </a:solidFill>
                <a:latin typeface="Calibri"/>
              </a:rPr>
              <a:t>Debit means LEFT, Credit means RIGHT. Equal debits and credits maintain equation balance.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709160"/>
            <a:ext cx="5394960" cy="1371600"/>
          </a:xfrm>
          <a:prstGeom prst="roundRect">
            <a:avLst>
              <a:gd name="adj" fmla="val 8000"/>
            </a:avLst>
          </a:prstGeom>
          <a:solidFill>
            <a:srgbClr val="11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709160"/>
            <a:ext cx="63500" cy="1371600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818888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F0B429"/>
                </a:solidFill>
                <a:latin typeface="Calibri"/>
              </a:rPr>
              <a:t>DEALER Framework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166360"/>
            <a:ext cx="49377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C9D4E3"/>
                </a:solidFill>
                <a:latin typeface="Calibri"/>
              </a:rPr>
              <a:t>Dividends, Expenses, Assets increase with Debits. Liabilities, Equity, Revenue increase with Credits.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709160"/>
            <a:ext cx="5394960" cy="1371600"/>
          </a:xfrm>
          <a:prstGeom prst="roundRect">
            <a:avLst>
              <a:gd name="adj" fmla="val 8000"/>
            </a:avLst>
          </a:prstGeom>
          <a:solidFill>
            <a:srgbClr val="11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4709160"/>
            <a:ext cx="63500" cy="1371600"/>
          </a:xfrm>
          <a:prstGeom prst="rect">
            <a:avLst/>
          </a:prstGeom>
          <a:solidFill>
            <a:srgbClr val="2E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4818888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2EA44F"/>
                </a:solidFill>
                <a:latin typeface="Calibri"/>
              </a:rPr>
              <a:t>Statement Connection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5166360"/>
            <a:ext cx="49377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C9D4E3"/>
                </a:solidFill>
                <a:latin typeface="Calibri"/>
              </a:rPr>
              <a:t>Net Profit from the Income Statement (Revenue − Expenses) updates Retained Earnings on the Balance Sheet.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6172200"/>
            <a:ext cx="11064240" cy="502920"/>
          </a:xfrm>
          <a:prstGeom prst="roundRect">
            <a:avLst>
              <a:gd name="adj" fmla="val 8000"/>
            </a:avLst>
          </a:prstGeom>
          <a:solidFill>
            <a:srgbClr val="11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6236208"/>
            <a:ext cx="10515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F0B429"/>
                </a:solidFill>
                <a:latin typeface="Calibri"/>
              </a:rPr>
              <a:t>You now possess the essential skills to decode any business transaction.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14455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0">
                <a:solidFill>
                  <a:srgbClr val="8F9EB3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