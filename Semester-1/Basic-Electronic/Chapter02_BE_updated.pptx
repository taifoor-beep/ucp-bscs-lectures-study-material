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83" r:id="rId2"/>
    <p:sldId id="285" r:id="rId3"/>
    <p:sldId id="256" r:id="rId4"/>
    <p:sldId id="318" r:id="rId5"/>
    <p:sldId id="319" r:id="rId6"/>
    <p:sldId id="331" r:id="rId7"/>
    <p:sldId id="330" r:id="rId8"/>
    <p:sldId id="320" r:id="rId9"/>
    <p:sldId id="321" r:id="rId10"/>
    <p:sldId id="322" r:id="rId11"/>
    <p:sldId id="335" r:id="rId12"/>
    <p:sldId id="336" r:id="rId13"/>
    <p:sldId id="337" r:id="rId14"/>
    <p:sldId id="323" r:id="rId15"/>
    <p:sldId id="333" r:id="rId16"/>
    <p:sldId id="334" r:id="rId17"/>
    <p:sldId id="324" r:id="rId18"/>
    <p:sldId id="325" r:id="rId19"/>
    <p:sldId id="326" r:id="rId20"/>
    <p:sldId id="327" r:id="rId21"/>
    <p:sldId id="297" r:id="rId22"/>
    <p:sldId id="328" r:id="rId23"/>
    <p:sldId id="329" r:id="rId24"/>
    <p:sldId id="298" r:id="rId25"/>
    <p:sldId id="305" r:id="rId26"/>
    <p:sldId id="306" r:id="rId27"/>
    <p:sldId id="312" r:id="rId28"/>
    <p:sldId id="314" r:id="rId29"/>
    <p:sldId id="299" r:id="rId30"/>
    <p:sldId id="300" r:id="rId31"/>
    <p:sldId id="307" r:id="rId32"/>
    <p:sldId id="308" r:id="rId33"/>
    <p:sldId id="309" r:id="rId34"/>
    <p:sldId id="315" r:id="rId35"/>
    <p:sldId id="338" r:id="rId36"/>
    <p:sldId id="339" r:id="rId37"/>
  </p:sldIdLst>
  <p:sldSz cx="9144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70" d="100"/>
          <a:sy n="70" d="100"/>
        </p:scale>
        <p:origin x="1164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529A6A-01F6-10BD-1E58-46553091648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E1BD7F-E600-E8BC-CE25-07C2835511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710015-7810-426E-BF65-E6004B3E30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E7F2C6-D58B-4D67-5217-45CD22B8A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B17602-968C-201C-7F01-1422D41B84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1E74C220-6474-4F48-A9BC-D311A83009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4113700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29C2B9-39BC-A8F6-2EE3-648EFA3ADC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867F05-8854-4740-54AB-16B934DEA2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43021F-ED92-4D64-6B39-6289605880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2A8167-FA9A-43E9-8EB2-7AE1876650A2}" type="datetimeFigureOut">
              <a:rPr lang="en-GB" smtClean="0"/>
              <a:t>06/10/2026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89E49E-EAE2-5C49-FBFE-12AEDE18AB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1632BD-DB93-167E-8831-9E3A045577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90688B-8626-43A2-8A81-83822D0B20B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956346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4C3F10-6ADA-2A32-9B01-376FD9B0FC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44BCCC-F60F-A382-1AD5-C490847E68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4ADC94-CD69-9D5A-8A5D-45047ECA06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2A8167-FA9A-43E9-8EB2-7AE1876650A2}" type="datetimeFigureOut">
              <a:rPr lang="en-GB" smtClean="0"/>
              <a:t>06/10/2026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73055D-8E7E-DD4E-6088-0AB512D33F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84AB50-FD4B-24DD-E141-64B6E926C3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90688B-8626-43A2-8A81-83822D0B20B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726948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545F19-6AE1-2E09-33FA-474613E858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4DCC04-B373-1A0D-6BAB-7666A73BA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8DD1D9D-BF1C-B0A1-68A7-1E843F3426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72DE2B-D4A2-93F1-EA91-E8565C8AAD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2A8167-FA9A-43E9-8EB2-7AE1876650A2}" type="datetimeFigureOut">
              <a:rPr lang="en-GB" smtClean="0"/>
              <a:t>06/10/2026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A0D51F1-ED4B-C80F-94D5-7F73FBE3B8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1C7A1E-552E-3C05-EA8F-3CCB7052F5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90688B-8626-43A2-8A81-83822D0B20B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628767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D24718-2275-AA55-28BB-B91474DBCB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E06849-24CA-90D6-85B7-BCCC083E2D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8D1AE7-52E7-9A5E-BDEE-698CF49B21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3621243-4245-00C8-5252-FB5920CA7D7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13B26A8-D1B8-9880-7033-71E2A1CE08D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D5D5C6C-9022-C245-DF4E-7BF8CACA89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2A8167-FA9A-43E9-8EB2-7AE1876650A2}" type="datetimeFigureOut">
              <a:rPr lang="en-GB" smtClean="0"/>
              <a:t>06/10/2026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92C411B-1880-0611-8BF7-C232333A96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CB1E77A-E500-D204-3A53-5D7EEC8239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90688B-8626-43A2-8A81-83822D0B20B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417370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45E63C-33DC-DB36-2AB3-45BDF0D959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1A60804-D75D-6368-B51F-2544A5DEAD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2A8167-FA9A-43E9-8EB2-7AE1876650A2}" type="datetimeFigureOut">
              <a:rPr lang="en-GB" smtClean="0"/>
              <a:t>06/10/2026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E4D744B-4710-8645-B734-8C6403E95E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CC1BDEB-62C2-8A07-D813-7618A55964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90688B-8626-43A2-8A81-83822D0B20B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424616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E3D925C-C751-0A77-95FF-ECE4E695BA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2A8167-FA9A-43E9-8EB2-7AE1876650A2}" type="datetimeFigureOut">
              <a:rPr lang="en-GB" smtClean="0"/>
              <a:t>06/10/2026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C7A220D-CBAC-ABBF-E4E4-7F25E0CA1E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225CC1-0B72-B2E8-3B28-4CEFD9769E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90688B-8626-43A2-8A81-83822D0B20B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58988734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B83900-FBA8-ACA1-23B3-8214A0A12A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AEC58A-17E0-DA71-6168-F314B3D7C8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26D98AB-ED29-32B7-0144-87D14CF3C8E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9619A6E-C3BF-E29A-46C0-C044A8CDB1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2A8167-FA9A-43E9-8EB2-7AE1876650A2}" type="datetimeFigureOut">
              <a:rPr lang="en-GB" smtClean="0"/>
              <a:t>06/10/2026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25D3EB-F98A-7B5B-F053-FAD3EED661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94988C9-1837-F2D2-B3D6-96998ACE9B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90688B-8626-43A2-8A81-83822D0B20B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851378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7B9DCA-6728-33AE-8744-71B0086EEC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B1AFC45-6ED1-C417-A428-A3092BF01AD2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91EAEAA-CF5B-8D10-075C-F5886A8075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6479A97-6B98-5956-FD0B-A5AA028C01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2A8167-FA9A-43E9-8EB2-7AE1876650A2}" type="datetimeFigureOut">
              <a:rPr lang="en-GB" smtClean="0"/>
              <a:t>06/10/2026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567669-A68C-0967-42B3-EB7BFB6EAC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196C93E-13AB-A1CF-8803-BA8DDA7707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90688B-8626-43A2-8A81-83822D0B20B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325347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05F882-6E9C-0046-F91B-FA9DAC4A50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164F2BE-BBEA-46B8-6528-45D7FBFA51A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F9325A-7816-CE71-8FDA-66CD9F12C8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2A8167-FA9A-43E9-8EB2-7AE1876650A2}" type="datetimeFigureOut">
              <a:rPr lang="en-GB" smtClean="0"/>
              <a:t>06/10/2026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2ECEBC-E6A2-9AC7-9428-3D82581680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58C2AD-7432-D70C-9EE1-701671BF67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90688B-8626-43A2-8A81-83822D0B20B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184754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D093295-A653-0C56-5058-927C9B7F0EF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D9429EF-B838-001A-DF41-C3C1118E18F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BAFDB5-CFF2-BE19-D0B8-EB37F00512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2A8167-FA9A-43E9-8EB2-7AE1876650A2}" type="datetimeFigureOut">
              <a:rPr lang="en-GB" smtClean="0"/>
              <a:t>06/10/2026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B63FDC-2BF7-A225-BF3A-6277150EDA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616855-4EFB-7F13-C87B-03F2A01234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90688B-8626-43A2-8A81-83822D0B20B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724279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F6E5706-19F2-71A2-23A7-D110DABD3F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AC763F-4195-F3E2-6493-309E0D2AE2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AC431F-584E-BA25-B9CB-AE02DCA48EE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F2A8167-FA9A-43E9-8EB2-7AE1876650A2}" type="datetimeFigureOut">
              <a:rPr lang="en-GB" smtClean="0"/>
              <a:t>06/10/2026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1383E0-8F76-DE85-9B3C-2504AF09401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E32472-6817-EDF6-F5F1-6AA4A6F683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A90688B-8626-43A2-8A81-83822D0B20B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848084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oleObject" Target="../embeddings/oleObject3.bin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7" Type="http://schemas.openxmlformats.org/officeDocument/2006/relationships/image" Target="../media/image7.emf"/><Relationship Id="rId2" Type="http://schemas.openxmlformats.org/officeDocument/2006/relationships/oleObject" Target="../embeddings/oleObject4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6.bin"/><Relationship Id="rId5" Type="http://schemas.openxmlformats.org/officeDocument/2006/relationships/image" Target="../media/image6.wmf"/><Relationship Id="rId4" Type="http://schemas.openxmlformats.org/officeDocument/2006/relationships/oleObject" Target="../embeddings/oleObject5.bin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wmf"/><Relationship Id="rId2" Type="http://schemas.openxmlformats.org/officeDocument/2006/relationships/oleObject" Target="../embeddings/oleObject5.bin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oleObject" Target="../embeddings/oleObject7.bin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wmf"/><Relationship Id="rId2" Type="http://schemas.openxmlformats.org/officeDocument/2006/relationships/oleObject" Target="../embeddings/oleObject8.bin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wmf"/><Relationship Id="rId2" Type="http://schemas.openxmlformats.org/officeDocument/2006/relationships/oleObject" Target="../embeddings/oleObject9.bin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.emf"/><Relationship Id="rId4" Type="http://schemas.openxmlformats.org/officeDocument/2006/relationships/oleObject" Target="../embeddings/oleObject10.bin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emf"/><Relationship Id="rId2" Type="http://schemas.openxmlformats.org/officeDocument/2006/relationships/oleObject" Target="../embeddings/oleObject11.bin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emf"/><Relationship Id="rId2" Type="http://schemas.openxmlformats.org/officeDocument/2006/relationships/oleObject" Target="../embeddings/oleObject12.bin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3.emf"/><Relationship Id="rId4" Type="http://schemas.openxmlformats.org/officeDocument/2006/relationships/oleObject" Target="../embeddings/oleObject13.bin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emf"/><Relationship Id="rId2" Type="http://schemas.openxmlformats.org/officeDocument/2006/relationships/oleObject" Target="../embeddings/oleObject14.bin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emf"/><Relationship Id="rId2" Type="http://schemas.openxmlformats.org/officeDocument/2006/relationships/oleObject" Target="../embeddings/oleObject15.bin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oleObject" Target="../embeddings/oleObject16.bin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oleObject" Target="../embeddings/oleObject16.bin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oleObject" Target="../embeddings/oleObject16.bin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0.bin"/><Relationship Id="rId3" Type="http://schemas.openxmlformats.org/officeDocument/2006/relationships/image" Target="../media/image27.wmf"/><Relationship Id="rId7" Type="http://schemas.openxmlformats.org/officeDocument/2006/relationships/image" Target="../media/image6.wmf"/><Relationship Id="rId2" Type="http://schemas.openxmlformats.org/officeDocument/2006/relationships/oleObject" Target="../embeddings/oleObject17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9.bin"/><Relationship Id="rId5" Type="http://schemas.openxmlformats.org/officeDocument/2006/relationships/image" Target="../media/image28.wmf"/><Relationship Id="rId4" Type="http://schemas.openxmlformats.org/officeDocument/2006/relationships/oleObject" Target="../embeddings/oleObject18.bin"/><Relationship Id="rId9" Type="http://schemas.openxmlformats.org/officeDocument/2006/relationships/image" Target="../media/image29.wmf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5" descr="3DSIMAGE">
            <a:extLst>
              <a:ext uri="{FF2B5EF4-FFF2-40B4-BE49-F238E27FC236}">
                <a16:creationId xmlns:a16="http://schemas.microsoft.com/office/drawing/2014/main" id="{E73F6A7C-15C6-EA65-26A8-0B336FF3101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3" name="Text Box 6">
            <a:extLst>
              <a:ext uri="{FF2B5EF4-FFF2-40B4-BE49-F238E27FC236}">
                <a16:creationId xmlns:a16="http://schemas.microsoft.com/office/drawing/2014/main" id="{88B46BFB-098A-E817-5934-5EB33A37EFCD}"/>
              </a:ext>
            </a:extLst>
          </p:cNvPr>
          <p:cNvSpPr txBox="1"/>
          <p:nvPr/>
        </p:nvSpPr>
        <p:spPr>
          <a:xfrm>
            <a:off x="3352803" y="4435470"/>
            <a:ext cx="2209803" cy="669926"/>
          </a:xfrm>
          <a:prstGeom prst="rect">
            <a:avLst/>
          </a:prstGeom>
          <a:gradFill>
            <a:gsLst>
              <a:gs pos="0">
                <a:srgbClr val="008000"/>
              </a:gs>
              <a:gs pos="100000">
                <a:srgbClr val="33CC33"/>
              </a:gs>
            </a:gsLst>
            <a:lin ang="2700000"/>
          </a:gradFill>
          <a:ln w="28575" cap="flat">
            <a:solidFill>
              <a:srgbClr val="000000"/>
            </a:solidFill>
            <a:prstDash val="solid"/>
            <a:miter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3600" b="1" i="0" u="none" strike="noStrike" kern="1200" cap="none" spc="0" baseline="0">
                <a:solidFill>
                  <a:srgbClr val="FFFFFF"/>
                </a:solidFill>
                <a:uFillTx/>
                <a:latin typeface="Times New Roman" pitchFamily="18"/>
              </a:rPr>
              <a:t>Chapter 2</a:t>
            </a:r>
          </a:p>
        </p:txBody>
      </p:sp>
    </p:spTree>
  </p:cSld>
  <p:clrMapOvr>
    <a:masterClrMapping/>
  </p:clrMapOvr>
  <p:transition>
    <p:diamond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9">
            <a:extLst>
              <a:ext uri="{FF2B5EF4-FFF2-40B4-BE49-F238E27FC236}">
                <a16:creationId xmlns:a16="http://schemas.microsoft.com/office/drawing/2014/main" id="{94E98207-61D2-6ACE-0EA3-4B821B800195}"/>
              </a:ext>
            </a:extLst>
          </p:cNvPr>
          <p:cNvSpPr/>
          <p:nvPr/>
        </p:nvSpPr>
        <p:spPr>
          <a:xfrm>
            <a:off x="3352803" y="457200"/>
            <a:ext cx="1981203" cy="685800"/>
          </a:xfrm>
          <a:prstGeom prst="rect">
            <a:avLst/>
          </a:prstGeom>
          <a:solidFill>
            <a:srgbClr val="969696"/>
          </a:solidFill>
          <a:ln w="9528" cap="flat">
            <a:solidFill>
              <a:srgbClr val="000000"/>
            </a:solidFill>
            <a:prstDash val="solid"/>
            <a:miter/>
          </a:ln>
        </p:spPr>
        <p:txBody>
          <a:bodyPr vert="horz" wrap="non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3600" b="0" i="0" u="none" strike="noStrike" kern="1200" cap="none" spc="0" baseline="0">
                <a:solidFill>
                  <a:srgbClr val="0000FF"/>
                </a:solidFill>
                <a:uFillTx/>
                <a:latin typeface="Times New Roman" pitchFamily="18"/>
              </a:rPr>
              <a:t>Summary</a:t>
            </a:r>
          </a:p>
        </p:txBody>
      </p:sp>
      <p:sp>
        <p:nvSpPr>
          <p:cNvPr id="3" name="Rectangle 14">
            <a:extLst>
              <a:ext uri="{FF2B5EF4-FFF2-40B4-BE49-F238E27FC236}">
                <a16:creationId xmlns:a16="http://schemas.microsoft.com/office/drawing/2014/main" id="{DAB90563-BE6F-AAA5-9DA3-DCD05B8B0D5C}"/>
              </a:ext>
            </a:extLst>
          </p:cNvPr>
          <p:cNvSpPr/>
          <p:nvPr/>
        </p:nvSpPr>
        <p:spPr>
          <a:xfrm>
            <a:off x="761996" y="1295403"/>
            <a:ext cx="7086600" cy="609603"/>
          </a:xfrm>
          <a:prstGeom prst="rect">
            <a:avLst/>
          </a:prstGeom>
          <a:solidFill>
            <a:srgbClr val="969696"/>
          </a:solidFill>
          <a:ln w="9528" cap="flat">
            <a:solidFill>
              <a:srgbClr val="000000"/>
            </a:solidFill>
            <a:prstDash val="solid"/>
            <a:miter/>
          </a:ln>
        </p:spPr>
        <p:txBody>
          <a:bodyPr vert="horz" wrap="none" lIns="91440" tIns="45720" rIns="91440" bIns="4572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240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</a:endParaRPr>
          </a:p>
        </p:txBody>
      </p:sp>
      <p:sp>
        <p:nvSpPr>
          <p:cNvPr id="4" name="Text Box 15">
            <a:extLst>
              <a:ext uri="{FF2B5EF4-FFF2-40B4-BE49-F238E27FC236}">
                <a16:creationId xmlns:a16="http://schemas.microsoft.com/office/drawing/2014/main" id="{730A232E-04F2-9A34-AC09-7304456C69BE}"/>
              </a:ext>
            </a:extLst>
          </p:cNvPr>
          <p:cNvSpPr txBox="1"/>
          <p:nvPr/>
        </p:nvSpPr>
        <p:spPr>
          <a:xfrm>
            <a:off x="838203" y="1371600"/>
            <a:ext cx="7162796" cy="45720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400" b="0" i="0" u="none" strike="noStrike" kern="1200" cap="none" spc="0" baseline="0">
                <a:solidFill>
                  <a:srgbClr val="000000"/>
                </a:solidFill>
                <a:uFillTx/>
                <a:latin typeface="Times New Roman" pitchFamily="18"/>
              </a:rPr>
              <a:t>The Bohr atom is a tool for visualizing atomic structure</a:t>
            </a:r>
            <a:r>
              <a:rPr lang="en-US" sz="2400" b="0" i="0" u="none" strike="noStrike" kern="1200" cap="none" spc="0" baseline="0">
                <a:solidFill>
                  <a:srgbClr val="000000"/>
                </a:solidFill>
                <a:uFillTx/>
                <a:latin typeface="Times" pitchFamily="18"/>
                <a:cs typeface="Times New Roman" pitchFamily="18"/>
              </a:rPr>
              <a:t>. </a:t>
            </a:r>
          </a:p>
        </p:txBody>
      </p:sp>
      <p:sp>
        <p:nvSpPr>
          <p:cNvPr id="5" name="Text Box 16">
            <a:extLst>
              <a:ext uri="{FF2B5EF4-FFF2-40B4-BE49-F238E27FC236}">
                <a16:creationId xmlns:a16="http://schemas.microsoft.com/office/drawing/2014/main" id="{97456C4E-88C9-9E14-E292-E358F231E701}"/>
              </a:ext>
            </a:extLst>
          </p:cNvPr>
          <p:cNvSpPr txBox="1"/>
          <p:nvPr/>
        </p:nvSpPr>
        <p:spPr>
          <a:xfrm>
            <a:off x="838203" y="2057400"/>
            <a:ext cx="4038603" cy="701673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000" b="0" i="0" u="none" strike="noStrike" kern="1200" cap="none" spc="0" baseline="0">
                <a:solidFill>
                  <a:srgbClr val="000000"/>
                </a:solidFill>
                <a:uFillTx/>
                <a:latin typeface="Times New Roman" pitchFamily="18"/>
                <a:cs typeface="Times New Roman" pitchFamily="18"/>
              </a:rPr>
              <a:t>The nucleus is positively charged and has the protons and neutrons.</a:t>
            </a:r>
          </a:p>
        </p:txBody>
      </p:sp>
      <p:graphicFrame>
        <p:nvGraphicFramePr>
          <p:cNvPr id="6" name="Object 22">
            <a:extLst>
              <a:ext uri="{FF2B5EF4-FFF2-40B4-BE49-F238E27FC236}">
                <a16:creationId xmlns:a16="http://schemas.microsoft.com/office/drawing/2014/main" id="{7973E1E2-0F14-1DA8-95AF-D80A36050883}"/>
              </a:ext>
            </a:extLst>
          </p:cNvPr>
          <p:cNvGraphicFramePr/>
          <p:nvPr/>
        </p:nvGraphicFramePr>
        <p:xfrm>
          <a:off x="4462464" y="1828800"/>
          <a:ext cx="3919539" cy="426720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2105025" imgH="2295525" progId="">
                  <p:embed/>
                </p:oleObj>
              </mc:Choice>
              <mc:Fallback>
                <p:oleObj r:id="rId2" imgW="2105025" imgH="2295525" progId="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4462464" y="1828800"/>
                        <a:ext cx="3919539" cy="4267203"/>
                      </a:xfrm>
                      <a:prstGeom prst="rect">
                        <a:avLst/>
                      </a:prstGeom>
                      <a:noFill/>
                      <a:ln cap="flat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Line 20">
            <a:extLst>
              <a:ext uri="{FF2B5EF4-FFF2-40B4-BE49-F238E27FC236}">
                <a16:creationId xmlns:a16="http://schemas.microsoft.com/office/drawing/2014/main" id="{17A13F1B-47B8-1D07-D2F5-C367B6E81864}"/>
              </a:ext>
            </a:extLst>
          </p:cNvPr>
          <p:cNvSpPr/>
          <p:nvPr/>
        </p:nvSpPr>
        <p:spPr>
          <a:xfrm>
            <a:off x="4267203" y="2362196"/>
            <a:ext cx="2176464" cy="1447796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ss"/>
              <a:gd name="f6" fmla="val 0"/>
              <a:gd name="f7" fmla="+- 0 0 -180"/>
              <a:gd name="f8" fmla="+- 0 0 -360"/>
              <a:gd name="f9" fmla="abs f3"/>
              <a:gd name="f10" fmla="abs f4"/>
              <a:gd name="f11" fmla="abs f5"/>
              <a:gd name="f12" fmla="val f6"/>
              <a:gd name="f13" fmla="*/ f7 f0 1"/>
              <a:gd name="f14" fmla="*/ f8 f0 1"/>
              <a:gd name="f15" fmla="?: f9 f3 1"/>
              <a:gd name="f16" fmla="?: f10 f4 1"/>
              <a:gd name="f17" fmla="?: f11 f5 1"/>
              <a:gd name="f18" fmla="*/ f13 1 f2"/>
              <a:gd name="f19" fmla="*/ f14 1 f2"/>
              <a:gd name="f20" fmla="*/ f15 1 21600"/>
              <a:gd name="f21" fmla="*/ f16 1 21600"/>
              <a:gd name="f22" fmla="*/ 21600 f15 1"/>
              <a:gd name="f23" fmla="*/ 21600 f16 1"/>
              <a:gd name="f24" fmla="+- f18 0 f1"/>
              <a:gd name="f25" fmla="+- f19 0 f1"/>
              <a:gd name="f26" fmla="min f21 f20"/>
              <a:gd name="f27" fmla="*/ f22 1 f17"/>
              <a:gd name="f28" fmla="*/ f23 1 f17"/>
              <a:gd name="f29" fmla="val f27"/>
              <a:gd name="f30" fmla="val f28"/>
              <a:gd name="f31" fmla="*/ f6 f26 1"/>
              <a:gd name="f32" fmla="*/ f27 f26 1"/>
              <a:gd name="f33" fmla="*/ f28 f26 1"/>
              <a:gd name="f34" fmla="*/ f12 f26 1"/>
              <a:gd name="f35" fmla="*/ f29 f26 1"/>
              <a:gd name="f36" fmla="*/ f30 f2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4">
                <a:pos x="f34" y="f34"/>
              </a:cxn>
              <a:cxn ang="f25">
                <a:pos x="f35" y="f36"/>
              </a:cxn>
            </a:cxnLst>
            <a:rect l="f31" t="f31" r="f32" b="f33"/>
            <a:pathLst>
              <a:path>
                <a:moveTo>
                  <a:pt x="f34" y="f34"/>
                </a:moveTo>
                <a:lnTo>
                  <a:pt x="f35" y="f36"/>
                </a:lnTo>
              </a:path>
            </a:pathLst>
          </a:custGeom>
          <a:noFill/>
          <a:ln w="9528" cap="flat">
            <a:solidFill>
              <a:srgbClr val="000000"/>
            </a:solidFill>
            <a:prstDash val="solid"/>
            <a:round/>
            <a:tailEnd type="arrow"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240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</a:endParaRPr>
          </a:p>
        </p:txBody>
      </p:sp>
      <p:sp>
        <p:nvSpPr>
          <p:cNvPr id="8" name="Line 21">
            <a:extLst>
              <a:ext uri="{FF2B5EF4-FFF2-40B4-BE49-F238E27FC236}">
                <a16:creationId xmlns:a16="http://schemas.microsoft.com/office/drawing/2014/main" id="{DBB209A5-303C-CBD7-CF82-EF7B50DD41FE}"/>
              </a:ext>
            </a:extLst>
          </p:cNvPr>
          <p:cNvSpPr/>
          <p:nvPr/>
        </p:nvSpPr>
        <p:spPr>
          <a:xfrm>
            <a:off x="3962396" y="3429000"/>
            <a:ext cx="2252660" cy="68580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ss"/>
              <a:gd name="f6" fmla="val 0"/>
              <a:gd name="f7" fmla="+- 0 0 -180"/>
              <a:gd name="f8" fmla="+- 0 0 -360"/>
              <a:gd name="f9" fmla="abs f3"/>
              <a:gd name="f10" fmla="abs f4"/>
              <a:gd name="f11" fmla="abs f5"/>
              <a:gd name="f12" fmla="val f6"/>
              <a:gd name="f13" fmla="*/ f7 f0 1"/>
              <a:gd name="f14" fmla="*/ f8 f0 1"/>
              <a:gd name="f15" fmla="?: f9 f3 1"/>
              <a:gd name="f16" fmla="?: f10 f4 1"/>
              <a:gd name="f17" fmla="?: f11 f5 1"/>
              <a:gd name="f18" fmla="*/ f13 1 f2"/>
              <a:gd name="f19" fmla="*/ f14 1 f2"/>
              <a:gd name="f20" fmla="*/ f15 1 21600"/>
              <a:gd name="f21" fmla="*/ f16 1 21600"/>
              <a:gd name="f22" fmla="*/ 21600 f15 1"/>
              <a:gd name="f23" fmla="*/ 21600 f16 1"/>
              <a:gd name="f24" fmla="+- f18 0 f1"/>
              <a:gd name="f25" fmla="+- f19 0 f1"/>
              <a:gd name="f26" fmla="min f21 f20"/>
              <a:gd name="f27" fmla="*/ f22 1 f17"/>
              <a:gd name="f28" fmla="*/ f23 1 f17"/>
              <a:gd name="f29" fmla="val f27"/>
              <a:gd name="f30" fmla="val f28"/>
              <a:gd name="f31" fmla="*/ f6 f26 1"/>
              <a:gd name="f32" fmla="*/ f27 f26 1"/>
              <a:gd name="f33" fmla="*/ f28 f26 1"/>
              <a:gd name="f34" fmla="*/ f12 f26 1"/>
              <a:gd name="f35" fmla="*/ f29 f26 1"/>
              <a:gd name="f36" fmla="*/ f30 f2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4">
                <a:pos x="f34" y="f34"/>
              </a:cxn>
              <a:cxn ang="f25">
                <a:pos x="f35" y="f36"/>
              </a:cxn>
            </a:cxnLst>
            <a:rect l="f31" t="f31" r="f32" b="f33"/>
            <a:pathLst>
              <a:path>
                <a:moveTo>
                  <a:pt x="f34" y="f34"/>
                </a:moveTo>
                <a:lnTo>
                  <a:pt x="f35" y="f36"/>
                </a:lnTo>
              </a:path>
            </a:pathLst>
          </a:custGeom>
          <a:noFill/>
          <a:ln w="9528" cap="flat">
            <a:solidFill>
              <a:srgbClr val="000000"/>
            </a:solidFill>
            <a:prstDash val="solid"/>
            <a:round/>
            <a:tailEnd type="arrow"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240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</a:endParaRPr>
          </a:p>
        </p:txBody>
      </p:sp>
      <p:sp>
        <p:nvSpPr>
          <p:cNvPr id="9" name="Text Box 23">
            <a:extLst>
              <a:ext uri="{FF2B5EF4-FFF2-40B4-BE49-F238E27FC236}">
                <a16:creationId xmlns:a16="http://schemas.microsoft.com/office/drawing/2014/main" id="{AC5B163F-A586-FC1B-FC1B-D33D4DE1B8BE}"/>
              </a:ext>
            </a:extLst>
          </p:cNvPr>
          <p:cNvSpPr txBox="1"/>
          <p:nvPr/>
        </p:nvSpPr>
        <p:spPr>
          <a:xfrm>
            <a:off x="838203" y="3657600"/>
            <a:ext cx="3733796" cy="100647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ct val="100000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000" b="0" i="0" u="none" strike="noStrike" kern="1200" cap="none" spc="0" baseline="0">
                <a:solidFill>
                  <a:srgbClr val="000000"/>
                </a:solidFill>
                <a:uFillTx/>
                <a:latin typeface="Times New Roman" pitchFamily="18"/>
              </a:rPr>
              <a:t>The atomic number is the number of protons and determines the particular element.</a:t>
            </a:r>
          </a:p>
        </p:txBody>
      </p:sp>
      <p:sp>
        <p:nvSpPr>
          <p:cNvPr id="10" name="Text Box 24">
            <a:extLst>
              <a:ext uri="{FF2B5EF4-FFF2-40B4-BE49-F238E27FC236}">
                <a16:creationId xmlns:a16="http://schemas.microsoft.com/office/drawing/2014/main" id="{548806A3-D2B3-D30A-739F-78ACD6E5B320}"/>
              </a:ext>
            </a:extLst>
          </p:cNvPr>
          <p:cNvSpPr txBox="1"/>
          <p:nvPr/>
        </p:nvSpPr>
        <p:spPr>
          <a:xfrm>
            <a:off x="838203" y="4724403"/>
            <a:ext cx="3581403" cy="100647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ct val="100000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000" b="0" i="0" u="none" strike="noStrike" kern="1200" cap="none" spc="0" baseline="0">
                <a:solidFill>
                  <a:srgbClr val="000000"/>
                </a:solidFill>
                <a:uFillTx/>
                <a:latin typeface="Times New Roman" pitchFamily="18"/>
              </a:rPr>
              <a:t>In the neutral atom, the number of electrons is equal to the number of protons. </a:t>
            </a:r>
          </a:p>
        </p:txBody>
      </p:sp>
      <p:sp>
        <p:nvSpPr>
          <p:cNvPr id="11" name="Text Box 25">
            <a:extLst>
              <a:ext uri="{FF2B5EF4-FFF2-40B4-BE49-F238E27FC236}">
                <a16:creationId xmlns:a16="http://schemas.microsoft.com/office/drawing/2014/main" id="{8CDCB647-297D-991C-1CC0-9CE8CB92EA24}"/>
              </a:ext>
            </a:extLst>
          </p:cNvPr>
          <p:cNvSpPr txBox="1"/>
          <p:nvPr/>
        </p:nvSpPr>
        <p:spPr>
          <a:xfrm>
            <a:off x="838203" y="2819396"/>
            <a:ext cx="3352803" cy="701673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000" b="0" i="0" u="none" strike="noStrike" kern="1200" cap="none" spc="0" baseline="0">
                <a:solidFill>
                  <a:srgbClr val="000000"/>
                </a:solidFill>
                <a:uFillTx/>
                <a:latin typeface="Times New Roman" pitchFamily="18"/>
              </a:rPr>
              <a:t>Electrons are negatively charged and in discrete shells.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Effect">
                      <p:stCondLst>
                        <p:cond delay="indefinite"/>
                      </p:stCondLst>
                      <p:childTnLst>
                        <p:par>
                          <p:cTn id="4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Effect">
                      <p:stCondLst>
                        <p:cond delay="indefinite"/>
                      </p:stCondLst>
                      <p:childTnLst>
                        <p:par>
                          <p:cTn id="10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 nodeType="afterEffect">
                            <p:stCondLst>
                              <p:cond delay="500"/>
                            </p:stCondLst>
                            <p:childTnLst>
                              <p:par>
                                <p:cTn id="1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Effect">
                      <p:stCondLst>
                        <p:cond delay="indefinite"/>
                      </p:stCondLst>
                      <p:childTnLst>
                        <p:par>
                          <p:cTn id="20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Effect">
                      <p:stCondLst>
                        <p:cond delay="indefinite"/>
                      </p:stCondLst>
                      <p:childTnLst>
                        <p:par>
                          <p:cTn id="26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9" grpId="0"/>
      <p:bldP spid="10" grpId="0"/>
      <p:bldP spid="1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0">
            <a:extLst>
              <a:ext uri="{FF2B5EF4-FFF2-40B4-BE49-F238E27FC236}">
                <a16:creationId xmlns:a16="http://schemas.microsoft.com/office/drawing/2014/main" id="{E11A7A94-E482-997A-1AA2-769F6F11DB68}"/>
              </a:ext>
            </a:extLst>
          </p:cNvPr>
          <p:cNvSpPr/>
          <p:nvPr/>
        </p:nvSpPr>
        <p:spPr>
          <a:xfrm>
            <a:off x="3352803" y="457200"/>
            <a:ext cx="1981203" cy="685800"/>
          </a:xfrm>
          <a:prstGeom prst="rect">
            <a:avLst/>
          </a:prstGeom>
          <a:solidFill>
            <a:srgbClr val="969696"/>
          </a:solidFill>
          <a:ln w="9528" cap="flat">
            <a:solidFill>
              <a:srgbClr val="000000"/>
            </a:solidFill>
            <a:prstDash val="solid"/>
            <a:miter/>
          </a:ln>
        </p:spPr>
        <p:txBody>
          <a:bodyPr vert="horz" wrap="non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3600" b="0" i="0" u="none" strike="noStrike" kern="1200" cap="none" spc="0" baseline="0">
                <a:solidFill>
                  <a:srgbClr val="0000FF"/>
                </a:solidFill>
                <a:uFillTx/>
                <a:latin typeface="Times New Roman" pitchFamily="18"/>
              </a:rPr>
              <a:t>Summary</a:t>
            </a:r>
          </a:p>
        </p:txBody>
      </p:sp>
      <p:sp>
        <p:nvSpPr>
          <p:cNvPr id="3" name="Rectangle 27">
            <a:extLst>
              <a:ext uri="{FF2B5EF4-FFF2-40B4-BE49-F238E27FC236}">
                <a16:creationId xmlns:a16="http://schemas.microsoft.com/office/drawing/2014/main" id="{1F8E0748-B736-4726-1DA8-1C4090E9B48E}"/>
              </a:ext>
            </a:extLst>
          </p:cNvPr>
          <p:cNvSpPr/>
          <p:nvPr/>
        </p:nvSpPr>
        <p:spPr>
          <a:xfrm>
            <a:off x="761996" y="1295403"/>
            <a:ext cx="7848596" cy="1371600"/>
          </a:xfrm>
          <a:prstGeom prst="rect">
            <a:avLst/>
          </a:prstGeom>
          <a:solidFill>
            <a:srgbClr val="969696"/>
          </a:solidFill>
          <a:ln w="9528" cap="flat">
            <a:solidFill>
              <a:srgbClr val="000000"/>
            </a:solidFill>
            <a:prstDash val="solid"/>
            <a:miter/>
          </a:ln>
        </p:spPr>
        <p:txBody>
          <a:bodyPr vert="horz" wrap="none" lIns="91440" tIns="45720" rIns="91440" bIns="4572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240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</a:endParaRPr>
          </a:p>
        </p:txBody>
      </p:sp>
      <p:sp>
        <p:nvSpPr>
          <p:cNvPr id="4" name="Text Box 28">
            <a:extLst>
              <a:ext uri="{FF2B5EF4-FFF2-40B4-BE49-F238E27FC236}">
                <a16:creationId xmlns:a16="http://schemas.microsoft.com/office/drawing/2014/main" id="{52DC291A-8D1B-A5CB-51EC-24D6314A911B}"/>
              </a:ext>
            </a:extLst>
          </p:cNvPr>
          <p:cNvSpPr txBox="1"/>
          <p:nvPr/>
        </p:nvSpPr>
        <p:spPr>
          <a:xfrm>
            <a:off x="838203" y="1371600"/>
            <a:ext cx="7619996" cy="118744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400" b="0" i="0" u="none" strike="noStrike" kern="1200" cap="none" spc="0" baseline="0">
                <a:solidFill>
                  <a:srgbClr val="000000"/>
                </a:solidFill>
                <a:uFillTx/>
                <a:latin typeface="Times New Roman" pitchFamily="18"/>
              </a:rPr>
              <a:t>The outer shell is called the </a:t>
            </a:r>
            <a:r>
              <a:rPr lang="en-US" sz="2400" b="0" i="1" u="none" strike="noStrike" kern="1200" cap="none" spc="0" baseline="0">
                <a:solidFill>
                  <a:srgbClr val="000000"/>
                </a:solidFill>
                <a:uFillTx/>
                <a:latin typeface="Times New Roman" pitchFamily="18"/>
              </a:rPr>
              <a:t>valence shell</a:t>
            </a:r>
            <a:r>
              <a:rPr lang="en-US" sz="2400" b="0" i="0" u="none" strike="noStrike" kern="1200" cap="none" spc="0" baseline="0">
                <a:solidFill>
                  <a:srgbClr val="000000"/>
                </a:solidFill>
                <a:uFillTx/>
                <a:latin typeface="Times" pitchFamily="18"/>
                <a:cs typeface="Times New Roman" pitchFamily="18"/>
              </a:rPr>
              <a:t>. Electrons in this shell are involved in chemical reactions and in metals they account for electrical and thermal conductivity.</a:t>
            </a:r>
          </a:p>
        </p:txBody>
      </p:sp>
      <p:graphicFrame>
        <p:nvGraphicFramePr>
          <p:cNvPr id="5" name="Object 30">
            <a:extLst>
              <a:ext uri="{FF2B5EF4-FFF2-40B4-BE49-F238E27FC236}">
                <a16:creationId xmlns:a16="http://schemas.microsoft.com/office/drawing/2014/main" id="{F92D5203-2EC4-676D-1812-CE587B1A1DAE}"/>
              </a:ext>
            </a:extLst>
          </p:cNvPr>
          <p:cNvGraphicFramePr/>
          <p:nvPr/>
        </p:nvGraphicFramePr>
        <p:xfrm>
          <a:off x="4495803" y="2743200"/>
          <a:ext cx="3733796" cy="329565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2628900" imgH="2324100" progId="">
                  <p:embed/>
                </p:oleObj>
              </mc:Choice>
              <mc:Fallback>
                <p:oleObj r:id="rId2" imgW="2628900" imgH="2324100" progId="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4495803" y="2743200"/>
                        <a:ext cx="3733796" cy="3295653"/>
                      </a:xfrm>
                      <a:prstGeom prst="rect">
                        <a:avLst/>
                      </a:prstGeom>
                      <a:noFill/>
                      <a:ln cap="flat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 Box 31">
            <a:extLst>
              <a:ext uri="{FF2B5EF4-FFF2-40B4-BE49-F238E27FC236}">
                <a16:creationId xmlns:a16="http://schemas.microsoft.com/office/drawing/2014/main" id="{B43FEB3B-B672-C8BC-EDCB-F84115524018}"/>
              </a:ext>
            </a:extLst>
          </p:cNvPr>
          <p:cNvSpPr txBox="1"/>
          <p:nvPr/>
        </p:nvSpPr>
        <p:spPr>
          <a:xfrm>
            <a:off x="838203" y="2819396"/>
            <a:ext cx="3581403" cy="118744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400" b="0" i="0" u="none" strike="noStrike" kern="1200" cap="none" spc="0" baseline="0">
                <a:solidFill>
                  <a:srgbClr val="000000"/>
                </a:solidFill>
                <a:uFillTx/>
                <a:latin typeface="Times New Roman" pitchFamily="18"/>
              </a:rPr>
              <a:t>A neutral Si atom is shown. There are 4 electrons in the valence shell.</a:t>
            </a:r>
          </a:p>
        </p:txBody>
      </p:sp>
      <p:sp>
        <p:nvSpPr>
          <p:cNvPr id="7" name="WordArt 32">
            <a:extLst>
              <a:ext uri="{FF2B5EF4-FFF2-40B4-BE49-F238E27FC236}">
                <a16:creationId xmlns:a16="http://schemas.microsoft.com/office/drawing/2014/main" id="{F5424BB9-C484-57EC-AC8F-A0A1C804A067}"/>
              </a:ext>
            </a:extLst>
          </p:cNvPr>
          <p:cNvSpPr/>
          <p:nvPr/>
        </p:nvSpPr>
        <p:spPr>
          <a:xfrm>
            <a:off x="838203" y="4038603"/>
            <a:ext cx="1343025" cy="630241"/>
          </a:xfrm>
          <a:prstGeom prst="rect">
            <a:avLst/>
          </a:prstGeom>
        </p:spPr>
        <p:txBody>
          <a:bodyPr vert="horz" wrap="none" lIns="91440" tIns="45720" rIns="91440" bIns="45720" fromWordArt="1" anchor="t" anchorCtr="1" compatLnSpc="1">
            <a:prstTxWarp prst="textPlain">
              <a:avLst/>
            </a:prstTxWarp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800" b="0" i="0" u="none" strike="noStrike" kern="1200" cap="none" spc="0" baseline="0">
                <a:ln w="9528" cap="flat">
                  <a:solidFill>
                    <a:srgbClr val="CC99FF"/>
                  </a:solidFill>
                  <a:prstDash val="solid"/>
                  <a:round/>
                </a:ln>
                <a:gradFill>
                  <a:gsLst>
                    <a:gs pos="0">
                      <a:srgbClr val="6600CC"/>
                    </a:gs>
                    <a:gs pos="100000">
                      <a:srgbClr val="CC00CC"/>
                    </a:gs>
                  </a:gsLst>
                  <a:lin ang="5400000"/>
                </a:gradFill>
                <a:effectLst>
                  <a:outerShdw dist="53886" dir="2700000" algn="tl">
                    <a:srgbClr val="9999FF">
                      <a:alpha val="79999"/>
                    </a:srgbClr>
                  </a:outerShdw>
                </a:effectLst>
                <a:uFillTx/>
                <a:latin typeface="Impact" pitchFamily="34"/>
              </a:rPr>
              <a:t>Question:</a:t>
            </a:r>
          </a:p>
        </p:txBody>
      </p:sp>
      <p:sp>
        <p:nvSpPr>
          <p:cNvPr id="8" name="Text Box 33">
            <a:extLst>
              <a:ext uri="{FF2B5EF4-FFF2-40B4-BE49-F238E27FC236}">
                <a16:creationId xmlns:a16="http://schemas.microsoft.com/office/drawing/2014/main" id="{47CDA4A6-DAB1-DC3F-A588-F02EA127FC80}"/>
              </a:ext>
            </a:extLst>
          </p:cNvPr>
          <p:cNvSpPr txBox="1"/>
          <p:nvPr/>
        </p:nvSpPr>
        <p:spPr>
          <a:xfrm>
            <a:off x="914400" y="4648196"/>
            <a:ext cx="3733796" cy="822329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400" b="0" i="0" u="none" strike="noStrike" kern="1200" cap="none" spc="0" baseline="0">
                <a:solidFill>
                  <a:srgbClr val="000000"/>
                </a:solidFill>
                <a:uFillTx/>
                <a:latin typeface="Times New Roman" pitchFamily="18"/>
              </a:rPr>
              <a:t>Is Si a conductor, insulator, or semiconductor? </a:t>
            </a:r>
          </a:p>
        </p:txBody>
      </p:sp>
      <p:sp>
        <p:nvSpPr>
          <p:cNvPr id="9" name="Text Box 34">
            <a:extLst>
              <a:ext uri="{FF2B5EF4-FFF2-40B4-BE49-F238E27FC236}">
                <a16:creationId xmlns:a16="http://schemas.microsoft.com/office/drawing/2014/main" id="{CDF600B6-00B6-8901-AC00-565910A6A073}"/>
              </a:ext>
            </a:extLst>
          </p:cNvPr>
          <p:cNvSpPr txBox="1"/>
          <p:nvPr/>
        </p:nvSpPr>
        <p:spPr>
          <a:xfrm>
            <a:off x="914400" y="5486400"/>
            <a:ext cx="2438403" cy="45720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400" b="0" i="0" u="none" strike="noStrike" kern="1200" cap="none" spc="0" baseline="0">
                <a:solidFill>
                  <a:srgbClr val="FF0000"/>
                </a:solidFill>
                <a:uFillTx/>
                <a:latin typeface="Times New Roman" pitchFamily="18"/>
              </a:rPr>
              <a:t>Semiconductor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Effect">
                      <p:stCondLst>
                        <p:cond delay="indefinite"/>
                      </p:stCondLst>
                      <p:childTnLst>
                        <p:par>
                          <p:cTn id="4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5" presetID="2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-90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Effect">
                      <p:stCondLst>
                        <p:cond delay="indefinite"/>
                      </p:stCondLst>
                      <p:childTnLst>
                        <p:par>
                          <p:cTn id="20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6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87DC0511-1558-2C73-CB77-859585879BCC}"/>
              </a:ext>
            </a:extLst>
          </p:cNvPr>
          <p:cNvSpPr/>
          <p:nvPr/>
        </p:nvSpPr>
        <p:spPr>
          <a:xfrm>
            <a:off x="3352803" y="457200"/>
            <a:ext cx="1981203" cy="685800"/>
          </a:xfrm>
          <a:prstGeom prst="rect">
            <a:avLst/>
          </a:prstGeom>
          <a:solidFill>
            <a:srgbClr val="969696"/>
          </a:solidFill>
          <a:ln w="9528" cap="flat">
            <a:solidFill>
              <a:srgbClr val="000000"/>
            </a:solidFill>
            <a:prstDash val="solid"/>
            <a:miter/>
          </a:ln>
        </p:spPr>
        <p:txBody>
          <a:bodyPr vert="horz" wrap="non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3600" b="0" i="0" u="none" strike="noStrike" kern="1200" cap="none" spc="0" baseline="0">
                <a:solidFill>
                  <a:srgbClr val="0000FF"/>
                </a:solidFill>
                <a:uFillTx/>
                <a:latin typeface="Times New Roman" pitchFamily="18"/>
              </a:rPr>
              <a:t>Summary</a:t>
            </a:r>
          </a:p>
        </p:txBody>
      </p:sp>
      <p:sp>
        <p:nvSpPr>
          <p:cNvPr id="3" name="Rectangle 10">
            <a:extLst>
              <a:ext uri="{FF2B5EF4-FFF2-40B4-BE49-F238E27FC236}">
                <a16:creationId xmlns:a16="http://schemas.microsoft.com/office/drawing/2014/main" id="{077DB826-4A87-101D-A337-442B6029065D}"/>
              </a:ext>
            </a:extLst>
          </p:cNvPr>
          <p:cNvSpPr/>
          <p:nvPr/>
        </p:nvSpPr>
        <p:spPr>
          <a:xfrm>
            <a:off x="2590796" y="4038603"/>
            <a:ext cx="4190996" cy="1295403"/>
          </a:xfrm>
          <a:prstGeom prst="rect">
            <a:avLst/>
          </a:prstGeom>
          <a:solidFill>
            <a:srgbClr val="969696"/>
          </a:solidFill>
          <a:ln w="9528" cap="flat">
            <a:solidFill>
              <a:srgbClr val="000000"/>
            </a:solidFill>
            <a:prstDash val="solid"/>
            <a:miter/>
          </a:ln>
        </p:spPr>
        <p:txBody>
          <a:bodyPr vert="horz" wrap="none" lIns="91440" tIns="45720" rIns="91440" bIns="4572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240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</a:endParaRP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7E1DC362-8B2E-A334-D258-E0CC5F1BB58C}"/>
              </a:ext>
            </a:extLst>
          </p:cNvPr>
          <p:cNvSpPr/>
          <p:nvPr/>
        </p:nvSpPr>
        <p:spPr>
          <a:xfrm>
            <a:off x="1219196" y="1371600"/>
            <a:ext cx="7086600" cy="1143000"/>
          </a:xfrm>
          <a:prstGeom prst="rect">
            <a:avLst/>
          </a:prstGeom>
          <a:solidFill>
            <a:srgbClr val="969696"/>
          </a:solidFill>
          <a:ln w="9528" cap="flat">
            <a:solidFill>
              <a:srgbClr val="000000"/>
            </a:solidFill>
            <a:prstDash val="solid"/>
            <a:miter/>
          </a:ln>
        </p:spPr>
        <p:txBody>
          <a:bodyPr vert="horz" wrap="none" lIns="91440" tIns="45720" rIns="91440" bIns="4572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240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</a:endParaRPr>
          </a:p>
        </p:txBody>
      </p:sp>
      <p:sp>
        <p:nvSpPr>
          <p:cNvPr id="5" name="Text Box 12">
            <a:extLst>
              <a:ext uri="{FF2B5EF4-FFF2-40B4-BE49-F238E27FC236}">
                <a16:creationId xmlns:a16="http://schemas.microsoft.com/office/drawing/2014/main" id="{29CDEAEA-911B-F0F1-F6C7-71214CDAD277}"/>
              </a:ext>
            </a:extLst>
          </p:cNvPr>
          <p:cNvSpPr txBox="1"/>
          <p:nvPr/>
        </p:nvSpPr>
        <p:spPr>
          <a:xfrm>
            <a:off x="1371600" y="1447796"/>
            <a:ext cx="6858000" cy="946147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17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800" b="0" i="0" u="none" strike="noStrike" kern="1200" cap="none" spc="0" baseline="0">
                <a:solidFill>
                  <a:srgbClr val="000000"/>
                </a:solidFill>
                <a:uFillTx/>
                <a:latin typeface="Times New Roman" pitchFamily="18"/>
              </a:rPr>
              <a:t>There is a force (</a:t>
            </a:r>
            <a:r>
              <a:rPr lang="en-US" sz="2800" b="0" i="1" u="none" strike="noStrike" kern="1200" cap="none" spc="0" baseline="0">
                <a:solidFill>
                  <a:srgbClr val="000000"/>
                </a:solidFill>
                <a:uFillTx/>
                <a:latin typeface="Times New Roman" pitchFamily="18"/>
              </a:rPr>
              <a:t>F</a:t>
            </a:r>
            <a:r>
              <a:rPr lang="en-US" sz="2800" b="0" i="0" u="none" strike="noStrike" kern="1200" cap="none" spc="0" baseline="0">
                <a:solidFill>
                  <a:srgbClr val="000000"/>
                </a:solidFill>
                <a:uFillTx/>
                <a:latin typeface="Times New Roman" pitchFamily="18"/>
              </a:rPr>
              <a:t>) between charges. Like charges repel; unlike charges attract.</a:t>
            </a:r>
          </a:p>
        </p:txBody>
      </p:sp>
      <p:sp>
        <p:nvSpPr>
          <p:cNvPr id="6" name="Text Box 13">
            <a:extLst>
              <a:ext uri="{FF2B5EF4-FFF2-40B4-BE49-F238E27FC236}">
                <a16:creationId xmlns:a16="http://schemas.microsoft.com/office/drawing/2014/main" id="{794893C4-56FC-12FB-58BE-E35070D75FC4}"/>
              </a:ext>
            </a:extLst>
          </p:cNvPr>
          <p:cNvSpPr txBox="1"/>
          <p:nvPr/>
        </p:nvSpPr>
        <p:spPr>
          <a:xfrm>
            <a:off x="1143000" y="2819396"/>
            <a:ext cx="7315200" cy="822329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400" b="0" i="0" u="none" strike="noStrike" kern="1200" cap="none" spc="0" baseline="0">
                <a:solidFill>
                  <a:srgbClr val="000000"/>
                </a:solidFill>
                <a:uFillTx/>
                <a:latin typeface="Times New Roman" pitchFamily="18"/>
              </a:rPr>
              <a:t>The force is directly proportional to charge.</a:t>
            </a:r>
          </a:p>
          <a:p>
            <a:pPr marL="0" marR="0" lvl="0" indent="0" algn="l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400" b="0" i="0" u="none" strike="noStrike" kern="1200" cap="none" spc="0" baseline="0">
                <a:solidFill>
                  <a:srgbClr val="000000"/>
                </a:solidFill>
                <a:uFillTx/>
                <a:latin typeface="Times New Roman" pitchFamily="18"/>
              </a:rPr>
              <a:t>The force is inversely proportional to square of distance.</a:t>
            </a:r>
          </a:p>
        </p:txBody>
      </p:sp>
      <p:graphicFrame>
        <p:nvGraphicFramePr>
          <p:cNvPr id="7" name="Object 14">
            <a:extLst>
              <a:ext uri="{FF2B5EF4-FFF2-40B4-BE49-F238E27FC236}">
                <a16:creationId xmlns:a16="http://schemas.microsoft.com/office/drawing/2014/main" id="{3C9B8869-BA07-8A6E-7C8C-2F939B354D9B}"/>
              </a:ext>
            </a:extLst>
          </p:cNvPr>
          <p:cNvGraphicFramePr/>
          <p:nvPr/>
        </p:nvGraphicFramePr>
        <p:xfrm>
          <a:off x="2895603" y="4190996"/>
          <a:ext cx="3543299" cy="100965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9525" imgH="9525" progId="">
                  <p:embed/>
                </p:oleObj>
              </mc:Choice>
              <mc:Fallback>
                <p:oleObj r:id="rId2" imgW="9525" imgH="9525" progId="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895603" y="4190996"/>
                        <a:ext cx="3543299" cy="1009653"/>
                      </a:xfrm>
                      <a:prstGeom prst="rect">
                        <a:avLst/>
                      </a:prstGeom>
                      <a:noFill/>
                      <a:ln cap="flat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Effect">
                      <p:stCondLst>
                        <p:cond delay="indefinite"/>
                      </p:stCondLst>
                      <p:childTnLst>
                        <p:par>
                          <p:cTn id="4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Effect">
                      <p:stCondLst>
                        <p:cond delay="indefinite"/>
                      </p:stCondLst>
                      <p:childTnLst>
                        <p:par>
                          <p:cTn id="9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6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30">
            <a:extLst>
              <a:ext uri="{FF2B5EF4-FFF2-40B4-BE49-F238E27FC236}">
                <a16:creationId xmlns:a16="http://schemas.microsoft.com/office/drawing/2014/main" id="{F4D20172-626F-1333-8285-255061F81EF0}"/>
              </a:ext>
            </a:extLst>
          </p:cNvPr>
          <p:cNvGraphicFramePr/>
          <p:nvPr/>
        </p:nvGraphicFramePr>
        <p:xfrm>
          <a:off x="9144000" y="3733796"/>
          <a:ext cx="941383" cy="95250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952500" imgH="962025" progId="">
                  <p:embed/>
                </p:oleObj>
              </mc:Choice>
              <mc:Fallback>
                <p:oleObj r:id="rId2" imgW="952500" imgH="962025" progId="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9144000" y="3733796"/>
                        <a:ext cx="941383" cy="952503"/>
                      </a:xfrm>
                      <a:prstGeom prst="rect">
                        <a:avLst/>
                      </a:prstGeom>
                      <a:noFill/>
                      <a:ln cap="flat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32">
            <a:extLst>
              <a:ext uri="{FF2B5EF4-FFF2-40B4-BE49-F238E27FC236}">
                <a16:creationId xmlns:a16="http://schemas.microsoft.com/office/drawing/2014/main" id="{24D3F0B0-C165-6773-D923-BDCEA04FA0D2}"/>
              </a:ext>
            </a:extLst>
          </p:cNvPr>
          <p:cNvSpPr/>
          <p:nvPr/>
        </p:nvSpPr>
        <p:spPr>
          <a:xfrm>
            <a:off x="609603" y="990596"/>
            <a:ext cx="5410203" cy="5257800"/>
          </a:xfrm>
          <a:prstGeom prst="rect">
            <a:avLst/>
          </a:prstGeom>
          <a:gradFill>
            <a:gsLst>
              <a:gs pos="0">
                <a:srgbClr val="FFEFD1"/>
              </a:gs>
              <a:gs pos="100000">
                <a:srgbClr val="F0EBD5"/>
              </a:gs>
            </a:gsLst>
            <a:path path="circle">
              <a:fillToRect l="50000" t="50000" r="50000" b="50000"/>
            </a:path>
          </a:gradFill>
          <a:ln cap="flat">
            <a:noFill/>
            <a:prstDash val="solid"/>
          </a:ln>
        </p:spPr>
        <p:txBody>
          <a:bodyPr vert="horz" wrap="none" lIns="91440" tIns="45720" rIns="91440" bIns="4572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240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FA81D530-E07C-880F-B50B-85281D24EFDB}"/>
              </a:ext>
            </a:extLst>
          </p:cNvPr>
          <p:cNvSpPr/>
          <p:nvPr/>
        </p:nvSpPr>
        <p:spPr>
          <a:xfrm>
            <a:off x="3352803" y="457200"/>
            <a:ext cx="2705106" cy="685800"/>
          </a:xfrm>
          <a:prstGeom prst="rect">
            <a:avLst/>
          </a:prstGeom>
          <a:solidFill>
            <a:srgbClr val="969696"/>
          </a:solidFill>
          <a:ln w="9528" cap="flat">
            <a:solidFill>
              <a:srgbClr val="000000"/>
            </a:solidFill>
            <a:prstDash val="solid"/>
            <a:miter/>
          </a:ln>
        </p:spPr>
        <p:txBody>
          <a:bodyPr vert="horz" wrap="non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4000" b="1" dirty="0">
                <a:solidFill>
                  <a:srgbClr val="0000FF"/>
                </a:solidFill>
                <a:latin typeface="Times New Roman" pitchFamily="18"/>
              </a:rPr>
              <a:t>Voltage</a:t>
            </a:r>
            <a:endParaRPr lang="en-US" sz="4000" b="1" i="0" u="none" strike="noStrike" kern="1200" cap="none" spc="0" baseline="0" dirty="0">
              <a:solidFill>
                <a:srgbClr val="0000FF"/>
              </a:solidFill>
              <a:uFillTx/>
              <a:latin typeface="Times New Roman" pitchFamily="18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2359485-DF9C-D05D-AD58-CE9FADA91825}"/>
              </a:ext>
            </a:extLst>
          </p:cNvPr>
          <p:cNvSpPr/>
          <p:nvPr/>
        </p:nvSpPr>
        <p:spPr>
          <a:xfrm>
            <a:off x="1219196" y="1371600"/>
            <a:ext cx="7086600" cy="1143000"/>
          </a:xfrm>
          <a:prstGeom prst="rect">
            <a:avLst/>
          </a:prstGeom>
          <a:solidFill>
            <a:srgbClr val="969696"/>
          </a:solidFill>
          <a:ln w="9528" cap="flat">
            <a:solidFill>
              <a:srgbClr val="000000"/>
            </a:solidFill>
            <a:prstDash val="solid"/>
            <a:miter/>
          </a:ln>
        </p:spPr>
        <p:txBody>
          <a:bodyPr vert="horz" wrap="none" lIns="91440" tIns="45720" rIns="91440" bIns="4572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240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</a:endParaRPr>
          </a:p>
        </p:txBody>
      </p:sp>
      <p:sp>
        <p:nvSpPr>
          <p:cNvPr id="6" name="Text Box 5">
            <a:extLst>
              <a:ext uri="{FF2B5EF4-FFF2-40B4-BE49-F238E27FC236}">
                <a16:creationId xmlns:a16="http://schemas.microsoft.com/office/drawing/2014/main" id="{A63B7B15-C8AE-789B-FBE7-B0B166FE18C9}"/>
              </a:ext>
            </a:extLst>
          </p:cNvPr>
          <p:cNvSpPr txBox="1"/>
          <p:nvPr/>
        </p:nvSpPr>
        <p:spPr>
          <a:xfrm>
            <a:off x="1371600" y="1447796"/>
            <a:ext cx="6858000" cy="946147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17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800" b="0" i="0" u="none" strike="noStrike" kern="1200" cap="none" spc="0" baseline="0">
                <a:solidFill>
                  <a:srgbClr val="000000"/>
                </a:solidFill>
                <a:uFillTx/>
                <a:latin typeface="Times New Roman" pitchFamily="18"/>
              </a:rPr>
              <a:t>Voltage (</a:t>
            </a:r>
            <a:r>
              <a:rPr lang="en-US" sz="2800" b="0" i="1" u="none" strike="noStrike" kern="1200" cap="none" spc="0" baseline="0">
                <a:solidFill>
                  <a:srgbClr val="000000"/>
                </a:solidFill>
                <a:uFillTx/>
                <a:latin typeface="Times New Roman" pitchFamily="18"/>
              </a:rPr>
              <a:t>V</a:t>
            </a:r>
            <a:r>
              <a:rPr lang="en-US" sz="2800" b="0" i="0" u="none" strike="noStrike" kern="1200" cap="none" spc="0" baseline="0">
                <a:solidFill>
                  <a:srgbClr val="000000"/>
                </a:solidFill>
                <a:uFillTx/>
                <a:latin typeface="Times New Roman" pitchFamily="18"/>
              </a:rPr>
              <a:t>) is the work (</a:t>
            </a:r>
            <a:r>
              <a:rPr lang="en-US" sz="2800" b="0" i="1" u="none" strike="noStrike" kern="1200" cap="none" spc="0" baseline="0">
                <a:solidFill>
                  <a:srgbClr val="000000"/>
                </a:solidFill>
                <a:uFillTx/>
                <a:latin typeface="Times New Roman" pitchFamily="18"/>
              </a:rPr>
              <a:t>W</a:t>
            </a:r>
            <a:r>
              <a:rPr lang="en-US" sz="2800" b="0" i="0" u="none" strike="noStrike" kern="1200" cap="none" spc="0" baseline="0">
                <a:solidFill>
                  <a:srgbClr val="000000"/>
                </a:solidFill>
                <a:uFillTx/>
                <a:latin typeface="Times New Roman" pitchFamily="18"/>
              </a:rPr>
              <a:t>) per charge (</a:t>
            </a:r>
            <a:r>
              <a:rPr lang="en-US" sz="2800" b="0" i="1" u="none" strike="noStrike" kern="1200" cap="none" spc="0" baseline="0">
                <a:solidFill>
                  <a:srgbClr val="000000"/>
                </a:solidFill>
                <a:uFillTx/>
                <a:latin typeface="Times New Roman" pitchFamily="18"/>
              </a:rPr>
              <a:t>Q</a:t>
            </a:r>
            <a:r>
              <a:rPr lang="en-US" sz="2800" b="0" i="0" u="none" strike="noStrike" kern="1200" cap="none" spc="0" baseline="0">
                <a:solidFill>
                  <a:srgbClr val="000000"/>
                </a:solidFill>
                <a:uFillTx/>
                <a:latin typeface="Times New Roman" pitchFamily="18"/>
              </a:rPr>
              <a:t>); it is responsible for establishing current.</a:t>
            </a:r>
          </a:p>
        </p:txBody>
      </p:sp>
      <p:graphicFrame>
        <p:nvGraphicFramePr>
          <p:cNvPr id="7" name="Object 8">
            <a:extLst>
              <a:ext uri="{FF2B5EF4-FFF2-40B4-BE49-F238E27FC236}">
                <a16:creationId xmlns:a16="http://schemas.microsoft.com/office/drawing/2014/main" id="{BA82A7C2-676D-A2DB-AF0B-A9FF52206251}"/>
              </a:ext>
            </a:extLst>
          </p:cNvPr>
          <p:cNvGraphicFramePr/>
          <p:nvPr/>
        </p:nvGraphicFramePr>
        <p:xfrm>
          <a:off x="3352803" y="2743200"/>
          <a:ext cx="685800" cy="628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10972800" imgH="10058400" progId="">
                  <p:embed/>
                </p:oleObj>
              </mc:Choice>
              <mc:Fallback>
                <p:oleObj r:id="rId4" imgW="10972800" imgH="10058400" progId="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352803" y="2743200"/>
                        <a:ext cx="685800" cy="628650"/>
                      </a:xfrm>
                      <a:prstGeom prst="rect">
                        <a:avLst/>
                      </a:prstGeom>
                      <a:noFill/>
                      <a:ln cap="flat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 Box 9">
            <a:extLst>
              <a:ext uri="{FF2B5EF4-FFF2-40B4-BE49-F238E27FC236}">
                <a16:creationId xmlns:a16="http://schemas.microsoft.com/office/drawing/2014/main" id="{0D906F23-E3E0-F2AB-1CEA-DDCC439DBDCD}"/>
              </a:ext>
            </a:extLst>
          </p:cNvPr>
          <p:cNvSpPr txBox="1"/>
          <p:nvPr/>
        </p:nvSpPr>
        <p:spPr>
          <a:xfrm>
            <a:off x="1371600" y="3505196"/>
            <a:ext cx="3810003" cy="118744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400" b="0" i="0" u="none" strike="noStrike" kern="1200" cap="none" spc="0" baseline="0">
                <a:solidFill>
                  <a:srgbClr val="000000"/>
                </a:solidFill>
                <a:uFillTx/>
                <a:latin typeface="Times New Roman" pitchFamily="18"/>
              </a:rPr>
              <a:t>Work is done as a charge is moved in the electric field from one potential to another. </a:t>
            </a:r>
          </a:p>
        </p:txBody>
      </p:sp>
      <p:graphicFrame>
        <p:nvGraphicFramePr>
          <p:cNvPr id="9" name="Object 14">
            <a:extLst>
              <a:ext uri="{FF2B5EF4-FFF2-40B4-BE49-F238E27FC236}">
                <a16:creationId xmlns:a16="http://schemas.microsoft.com/office/drawing/2014/main" id="{15F0777D-D1D0-CCA5-6BAF-0020E05A6E98}"/>
              </a:ext>
            </a:extLst>
          </p:cNvPr>
          <p:cNvGraphicFramePr/>
          <p:nvPr/>
        </p:nvGraphicFramePr>
        <p:xfrm>
          <a:off x="5627683" y="2438403"/>
          <a:ext cx="3135313" cy="3886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2314575" imgH="2867025" progId="">
                  <p:embed/>
                </p:oleObj>
              </mc:Choice>
              <mc:Fallback>
                <p:oleObj r:id="rId6" imgW="2314575" imgH="2867025" progId="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5627683" y="2438403"/>
                        <a:ext cx="3135313" cy="3886200"/>
                      </a:xfrm>
                      <a:prstGeom prst="rect">
                        <a:avLst/>
                      </a:prstGeom>
                      <a:noFill/>
                      <a:ln cap="flat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0" name="Group 28">
            <a:extLst>
              <a:ext uri="{FF2B5EF4-FFF2-40B4-BE49-F238E27FC236}">
                <a16:creationId xmlns:a16="http://schemas.microsoft.com/office/drawing/2014/main" id="{B78D42AE-123A-2A19-865A-0F48FF36F59A}"/>
              </a:ext>
            </a:extLst>
          </p:cNvPr>
          <p:cNvGrpSpPr/>
          <p:nvPr/>
        </p:nvGrpSpPr>
        <p:grpSpPr>
          <a:xfrm>
            <a:off x="6096003" y="2590796"/>
            <a:ext cx="2133596" cy="3352804"/>
            <a:chOff x="6096003" y="2590796"/>
            <a:chExt cx="2133596" cy="3352804"/>
          </a:xfrm>
        </p:grpSpPr>
        <p:sp>
          <p:nvSpPr>
            <p:cNvPr id="11" name="Line 16">
              <a:extLst>
                <a:ext uri="{FF2B5EF4-FFF2-40B4-BE49-F238E27FC236}">
                  <a16:creationId xmlns:a16="http://schemas.microsoft.com/office/drawing/2014/main" id="{41C8040F-4ED9-D923-70A1-40E5D68299C9}"/>
                </a:ext>
              </a:extLst>
            </p:cNvPr>
            <p:cNvSpPr/>
            <p:nvPr/>
          </p:nvSpPr>
          <p:spPr>
            <a:xfrm>
              <a:off x="6096003" y="2590796"/>
              <a:ext cx="2133596" cy="0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ss"/>
                <a:gd name="f6" fmla="val 0"/>
                <a:gd name="f7" fmla="+- 0 0 -180"/>
                <a:gd name="f8" fmla="+- 0 0 -360"/>
                <a:gd name="f9" fmla="abs f3"/>
                <a:gd name="f10" fmla="abs f4"/>
                <a:gd name="f11" fmla="abs f5"/>
                <a:gd name="f12" fmla="val f6"/>
                <a:gd name="f13" fmla="*/ f7 f0 1"/>
                <a:gd name="f14" fmla="*/ f8 f0 1"/>
                <a:gd name="f15" fmla="?: f9 f3 1"/>
                <a:gd name="f16" fmla="?: f10 f4 1"/>
                <a:gd name="f17" fmla="?: f11 f5 1"/>
                <a:gd name="f18" fmla="*/ f13 1 f2"/>
                <a:gd name="f19" fmla="*/ f14 1 f2"/>
                <a:gd name="f20" fmla="*/ f15 1 21600"/>
                <a:gd name="f21" fmla="*/ f16 1 21600"/>
                <a:gd name="f22" fmla="*/ 21600 f15 1"/>
                <a:gd name="f23" fmla="*/ 21600 f16 1"/>
                <a:gd name="f24" fmla="+- f18 0 f1"/>
                <a:gd name="f25" fmla="+- f19 0 f1"/>
                <a:gd name="f26" fmla="min f21 f20"/>
                <a:gd name="f27" fmla="*/ f22 1 f17"/>
                <a:gd name="f28" fmla="*/ f23 1 f17"/>
                <a:gd name="f29" fmla="val f27"/>
                <a:gd name="f30" fmla="val f28"/>
                <a:gd name="f31" fmla="*/ f6 f26 1"/>
                <a:gd name="f32" fmla="*/ f27 f26 1"/>
                <a:gd name="f33" fmla="*/ f28 f26 1"/>
                <a:gd name="f34" fmla="*/ f12 f26 1"/>
                <a:gd name="f35" fmla="*/ f29 f26 1"/>
                <a:gd name="f36" fmla="*/ f30 f26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4">
                  <a:pos x="f34" y="f34"/>
                </a:cxn>
                <a:cxn ang="f25">
                  <a:pos x="f35" y="f36"/>
                </a:cxn>
              </a:cxnLst>
              <a:rect l="f31" t="f31" r="f32" b="f33"/>
              <a:pathLst>
                <a:path>
                  <a:moveTo>
                    <a:pt x="f34" y="f34"/>
                  </a:moveTo>
                  <a:lnTo>
                    <a:pt x="f35" y="f36"/>
                  </a:lnTo>
                </a:path>
              </a:pathLst>
            </a:custGeom>
            <a:noFill/>
            <a:ln w="9528" cap="flat">
              <a:solidFill>
                <a:srgbClr val="000000"/>
              </a:solidFill>
              <a:prstDash val="solid"/>
              <a:round/>
              <a:tailEnd type="arrow"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2400" b="0" i="0" u="none" strike="noStrike" kern="1200" cap="none" spc="0" baseline="0">
                <a:solidFill>
                  <a:srgbClr val="000000"/>
                </a:solidFill>
                <a:uFillTx/>
                <a:latin typeface="Times New Roman" pitchFamily="18"/>
              </a:endParaRPr>
            </a:p>
          </p:txBody>
        </p:sp>
        <p:sp>
          <p:nvSpPr>
            <p:cNvPr id="12" name="Line 17">
              <a:extLst>
                <a:ext uri="{FF2B5EF4-FFF2-40B4-BE49-F238E27FC236}">
                  <a16:creationId xmlns:a16="http://schemas.microsoft.com/office/drawing/2014/main" id="{432B7735-1C5D-FEB7-3007-3B1E818F329B}"/>
                </a:ext>
              </a:extLst>
            </p:cNvPr>
            <p:cNvSpPr/>
            <p:nvPr/>
          </p:nvSpPr>
          <p:spPr>
            <a:xfrm>
              <a:off x="6096003" y="2895603"/>
              <a:ext cx="2133596" cy="0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ss"/>
                <a:gd name="f6" fmla="val 0"/>
                <a:gd name="f7" fmla="+- 0 0 -180"/>
                <a:gd name="f8" fmla="+- 0 0 -360"/>
                <a:gd name="f9" fmla="abs f3"/>
                <a:gd name="f10" fmla="abs f4"/>
                <a:gd name="f11" fmla="abs f5"/>
                <a:gd name="f12" fmla="val f6"/>
                <a:gd name="f13" fmla="*/ f7 f0 1"/>
                <a:gd name="f14" fmla="*/ f8 f0 1"/>
                <a:gd name="f15" fmla="?: f9 f3 1"/>
                <a:gd name="f16" fmla="?: f10 f4 1"/>
                <a:gd name="f17" fmla="?: f11 f5 1"/>
                <a:gd name="f18" fmla="*/ f13 1 f2"/>
                <a:gd name="f19" fmla="*/ f14 1 f2"/>
                <a:gd name="f20" fmla="*/ f15 1 21600"/>
                <a:gd name="f21" fmla="*/ f16 1 21600"/>
                <a:gd name="f22" fmla="*/ 21600 f15 1"/>
                <a:gd name="f23" fmla="*/ 21600 f16 1"/>
                <a:gd name="f24" fmla="+- f18 0 f1"/>
                <a:gd name="f25" fmla="+- f19 0 f1"/>
                <a:gd name="f26" fmla="min f21 f20"/>
                <a:gd name="f27" fmla="*/ f22 1 f17"/>
                <a:gd name="f28" fmla="*/ f23 1 f17"/>
                <a:gd name="f29" fmla="val f27"/>
                <a:gd name="f30" fmla="val f28"/>
                <a:gd name="f31" fmla="*/ f6 f26 1"/>
                <a:gd name="f32" fmla="*/ f27 f26 1"/>
                <a:gd name="f33" fmla="*/ f28 f26 1"/>
                <a:gd name="f34" fmla="*/ f12 f26 1"/>
                <a:gd name="f35" fmla="*/ f29 f26 1"/>
                <a:gd name="f36" fmla="*/ f30 f26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4">
                  <a:pos x="f34" y="f34"/>
                </a:cxn>
                <a:cxn ang="f25">
                  <a:pos x="f35" y="f36"/>
                </a:cxn>
              </a:cxnLst>
              <a:rect l="f31" t="f31" r="f32" b="f33"/>
              <a:pathLst>
                <a:path>
                  <a:moveTo>
                    <a:pt x="f34" y="f34"/>
                  </a:moveTo>
                  <a:lnTo>
                    <a:pt x="f35" y="f36"/>
                  </a:lnTo>
                </a:path>
              </a:pathLst>
            </a:custGeom>
            <a:noFill/>
            <a:ln w="9528" cap="flat">
              <a:solidFill>
                <a:srgbClr val="000000"/>
              </a:solidFill>
              <a:prstDash val="solid"/>
              <a:round/>
              <a:tailEnd type="arrow"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2400" b="0" i="0" u="none" strike="noStrike" kern="1200" cap="none" spc="0" baseline="0">
                <a:solidFill>
                  <a:srgbClr val="000000"/>
                </a:solidFill>
                <a:uFillTx/>
                <a:latin typeface="Times New Roman" pitchFamily="18"/>
              </a:endParaRPr>
            </a:p>
          </p:txBody>
        </p:sp>
        <p:sp>
          <p:nvSpPr>
            <p:cNvPr id="13" name="Line 18">
              <a:extLst>
                <a:ext uri="{FF2B5EF4-FFF2-40B4-BE49-F238E27FC236}">
                  <a16:creationId xmlns:a16="http://schemas.microsoft.com/office/drawing/2014/main" id="{6190925E-1573-8C24-AC66-DFD85A617FFD}"/>
                </a:ext>
              </a:extLst>
            </p:cNvPr>
            <p:cNvSpPr/>
            <p:nvPr/>
          </p:nvSpPr>
          <p:spPr>
            <a:xfrm>
              <a:off x="6096003" y="3200400"/>
              <a:ext cx="2133596" cy="0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ss"/>
                <a:gd name="f6" fmla="val 0"/>
                <a:gd name="f7" fmla="+- 0 0 -180"/>
                <a:gd name="f8" fmla="+- 0 0 -360"/>
                <a:gd name="f9" fmla="abs f3"/>
                <a:gd name="f10" fmla="abs f4"/>
                <a:gd name="f11" fmla="abs f5"/>
                <a:gd name="f12" fmla="val f6"/>
                <a:gd name="f13" fmla="*/ f7 f0 1"/>
                <a:gd name="f14" fmla="*/ f8 f0 1"/>
                <a:gd name="f15" fmla="?: f9 f3 1"/>
                <a:gd name="f16" fmla="?: f10 f4 1"/>
                <a:gd name="f17" fmla="?: f11 f5 1"/>
                <a:gd name="f18" fmla="*/ f13 1 f2"/>
                <a:gd name="f19" fmla="*/ f14 1 f2"/>
                <a:gd name="f20" fmla="*/ f15 1 21600"/>
                <a:gd name="f21" fmla="*/ f16 1 21600"/>
                <a:gd name="f22" fmla="*/ 21600 f15 1"/>
                <a:gd name="f23" fmla="*/ 21600 f16 1"/>
                <a:gd name="f24" fmla="+- f18 0 f1"/>
                <a:gd name="f25" fmla="+- f19 0 f1"/>
                <a:gd name="f26" fmla="min f21 f20"/>
                <a:gd name="f27" fmla="*/ f22 1 f17"/>
                <a:gd name="f28" fmla="*/ f23 1 f17"/>
                <a:gd name="f29" fmla="val f27"/>
                <a:gd name="f30" fmla="val f28"/>
                <a:gd name="f31" fmla="*/ f6 f26 1"/>
                <a:gd name="f32" fmla="*/ f27 f26 1"/>
                <a:gd name="f33" fmla="*/ f28 f26 1"/>
                <a:gd name="f34" fmla="*/ f12 f26 1"/>
                <a:gd name="f35" fmla="*/ f29 f26 1"/>
                <a:gd name="f36" fmla="*/ f30 f26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4">
                  <a:pos x="f34" y="f34"/>
                </a:cxn>
                <a:cxn ang="f25">
                  <a:pos x="f35" y="f36"/>
                </a:cxn>
              </a:cxnLst>
              <a:rect l="f31" t="f31" r="f32" b="f33"/>
              <a:pathLst>
                <a:path>
                  <a:moveTo>
                    <a:pt x="f34" y="f34"/>
                  </a:moveTo>
                  <a:lnTo>
                    <a:pt x="f35" y="f36"/>
                  </a:lnTo>
                </a:path>
              </a:pathLst>
            </a:custGeom>
            <a:noFill/>
            <a:ln w="9528" cap="flat">
              <a:solidFill>
                <a:srgbClr val="000000"/>
              </a:solidFill>
              <a:prstDash val="solid"/>
              <a:round/>
              <a:tailEnd type="arrow"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2400" b="0" i="0" u="none" strike="noStrike" kern="1200" cap="none" spc="0" baseline="0">
                <a:solidFill>
                  <a:srgbClr val="000000"/>
                </a:solidFill>
                <a:uFillTx/>
                <a:latin typeface="Times New Roman" pitchFamily="18"/>
              </a:endParaRPr>
            </a:p>
          </p:txBody>
        </p:sp>
        <p:sp>
          <p:nvSpPr>
            <p:cNvPr id="14" name="Line 19">
              <a:extLst>
                <a:ext uri="{FF2B5EF4-FFF2-40B4-BE49-F238E27FC236}">
                  <a16:creationId xmlns:a16="http://schemas.microsoft.com/office/drawing/2014/main" id="{87EBE7B6-8452-EA25-37B5-CB86812D4CE7}"/>
                </a:ext>
              </a:extLst>
            </p:cNvPr>
            <p:cNvSpPr/>
            <p:nvPr/>
          </p:nvSpPr>
          <p:spPr>
            <a:xfrm>
              <a:off x="6096003" y="3505196"/>
              <a:ext cx="2133596" cy="0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ss"/>
                <a:gd name="f6" fmla="val 0"/>
                <a:gd name="f7" fmla="+- 0 0 -180"/>
                <a:gd name="f8" fmla="+- 0 0 -360"/>
                <a:gd name="f9" fmla="abs f3"/>
                <a:gd name="f10" fmla="abs f4"/>
                <a:gd name="f11" fmla="abs f5"/>
                <a:gd name="f12" fmla="val f6"/>
                <a:gd name="f13" fmla="*/ f7 f0 1"/>
                <a:gd name="f14" fmla="*/ f8 f0 1"/>
                <a:gd name="f15" fmla="?: f9 f3 1"/>
                <a:gd name="f16" fmla="?: f10 f4 1"/>
                <a:gd name="f17" fmla="?: f11 f5 1"/>
                <a:gd name="f18" fmla="*/ f13 1 f2"/>
                <a:gd name="f19" fmla="*/ f14 1 f2"/>
                <a:gd name="f20" fmla="*/ f15 1 21600"/>
                <a:gd name="f21" fmla="*/ f16 1 21600"/>
                <a:gd name="f22" fmla="*/ 21600 f15 1"/>
                <a:gd name="f23" fmla="*/ 21600 f16 1"/>
                <a:gd name="f24" fmla="+- f18 0 f1"/>
                <a:gd name="f25" fmla="+- f19 0 f1"/>
                <a:gd name="f26" fmla="min f21 f20"/>
                <a:gd name="f27" fmla="*/ f22 1 f17"/>
                <a:gd name="f28" fmla="*/ f23 1 f17"/>
                <a:gd name="f29" fmla="val f27"/>
                <a:gd name="f30" fmla="val f28"/>
                <a:gd name="f31" fmla="*/ f6 f26 1"/>
                <a:gd name="f32" fmla="*/ f27 f26 1"/>
                <a:gd name="f33" fmla="*/ f28 f26 1"/>
                <a:gd name="f34" fmla="*/ f12 f26 1"/>
                <a:gd name="f35" fmla="*/ f29 f26 1"/>
                <a:gd name="f36" fmla="*/ f30 f26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4">
                  <a:pos x="f34" y="f34"/>
                </a:cxn>
                <a:cxn ang="f25">
                  <a:pos x="f35" y="f36"/>
                </a:cxn>
              </a:cxnLst>
              <a:rect l="f31" t="f31" r="f32" b="f33"/>
              <a:pathLst>
                <a:path>
                  <a:moveTo>
                    <a:pt x="f34" y="f34"/>
                  </a:moveTo>
                  <a:lnTo>
                    <a:pt x="f35" y="f36"/>
                  </a:lnTo>
                </a:path>
              </a:pathLst>
            </a:custGeom>
            <a:noFill/>
            <a:ln w="9528" cap="flat">
              <a:solidFill>
                <a:srgbClr val="000000"/>
              </a:solidFill>
              <a:prstDash val="solid"/>
              <a:round/>
              <a:tailEnd type="arrow"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2400" b="0" i="0" u="none" strike="noStrike" kern="1200" cap="none" spc="0" baseline="0">
                <a:solidFill>
                  <a:srgbClr val="000000"/>
                </a:solidFill>
                <a:uFillTx/>
                <a:latin typeface="Times New Roman" pitchFamily="18"/>
              </a:endParaRPr>
            </a:p>
          </p:txBody>
        </p:sp>
        <p:sp>
          <p:nvSpPr>
            <p:cNvPr id="15" name="Line 20">
              <a:extLst>
                <a:ext uri="{FF2B5EF4-FFF2-40B4-BE49-F238E27FC236}">
                  <a16:creationId xmlns:a16="http://schemas.microsoft.com/office/drawing/2014/main" id="{06037086-25AD-6A3D-400D-C513B4194C3A}"/>
                </a:ext>
              </a:extLst>
            </p:cNvPr>
            <p:cNvSpPr/>
            <p:nvPr/>
          </p:nvSpPr>
          <p:spPr>
            <a:xfrm>
              <a:off x="6096003" y="3810003"/>
              <a:ext cx="2133596" cy="0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ss"/>
                <a:gd name="f6" fmla="val 0"/>
                <a:gd name="f7" fmla="+- 0 0 -180"/>
                <a:gd name="f8" fmla="+- 0 0 -360"/>
                <a:gd name="f9" fmla="abs f3"/>
                <a:gd name="f10" fmla="abs f4"/>
                <a:gd name="f11" fmla="abs f5"/>
                <a:gd name="f12" fmla="val f6"/>
                <a:gd name="f13" fmla="*/ f7 f0 1"/>
                <a:gd name="f14" fmla="*/ f8 f0 1"/>
                <a:gd name="f15" fmla="?: f9 f3 1"/>
                <a:gd name="f16" fmla="?: f10 f4 1"/>
                <a:gd name="f17" fmla="?: f11 f5 1"/>
                <a:gd name="f18" fmla="*/ f13 1 f2"/>
                <a:gd name="f19" fmla="*/ f14 1 f2"/>
                <a:gd name="f20" fmla="*/ f15 1 21600"/>
                <a:gd name="f21" fmla="*/ f16 1 21600"/>
                <a:gd name="f22" fmla="*/ 21600 f15 1"/>
                <a:gd name="f23" fmla="*/ 21600 f16 1"/>
                <a:gd name="f24" fmla="+- f18 0 f1"/>
                <a:gd name="f25" fmla="+- f19 0 f1"/>
                <a:gd name="f26" fmla="min f21 f20"/>
                <a:gd name="f27" fmla="*/ f22 1 f17"/>
                <a:gd name="f28" fmla="*/ f23 1 f17"/>
                <a:gd name="f29" fmla="val f27"/>
                <a:gd name="f30" fmla="val f28"/>
                <a:gd name="f31" fmla="*/ f6 f26 1"/>
                <a:gd name="f32" fmla="*/ f27 f26 1"/>
                <a:gd name="f33" fmla="*/ f28 f26 1"/>
                <a:gd name="f34" fmla="*/ f12 f26 1"/>
                <a:gd name="f35" fmla="*/ f29 f26 1"/>
                <a:gd name="f36" fmla="*/ f30 f26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4">
                  <a:pos x="f34" y="f34"/>
                </a:cxn>
                <a:cxn ang="f25">
                  <a:pos x="f35" y="f36"/>
                </a:cxn>
              </a:cxnLst>
              <a:rect l="f31" t="f31" r="f32" b="f33"/>
              <a:pathLst>
                <a:path>
                  <a:moveTo>
                    <a:pt x="f34" y="f34"/>
                  </a:moveTo>
                  <a:lnTo>
                    <a:pt x="f35" y="f36"/>
                  </a:lnTo>
                </a:path>
              </a:pathLst>
            </a:custGeom>
            <a:noFill/>
            <a:ln w="9528" cap="flat">
              <a:solidFill>
                <a:srgbClr val="000000"/>
              </a:solidFill>
              <a:prstDash val="solid"/>
              <a:round/>
              <a:tailEnd type="arrow"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2400" b="0" i="0" u="none" strike="noStrike" kern="1200" cap="none" spc="0" baseline="0">
                <a:solidFill>
                  <a:srgbClr val="000000"/>
                </a:solidFill>
                <a:uFillTx/>
                <a:latin typeface="Times New Roman" pitchFamily="18"/>
              </a:endParaRPr>
            </a:p>
          </p:txBody>
        </p:sp>
        <p:sp>
          <p:nvSpPr>
            <p:cNvPr id="16" name="Line 21">
              <a:extLst>
                <a:ext uri="{FF2B5EF4-FFF2-40B4-BE49-F238E27FC236}">
                  <a16:creationId xmlns:a16="http://schemas.microsoft.com/office/drawing/2014/main" id="{0C501491-DB90-CD8A-3D8B-9A2631D08E19}"/>
                </a:ext>
              </a:extLst>
            </p:cNvPr>
            <p:cNvSpPr/>
            <p:nvPr/>
          </p:nvSpPr>
          <p:spPr>
            <a:xfrm>
              <a:off x="6096003" y="4114800"/>
              <a:ext cx="2133596" cy="0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ss"/>
                <a:gd name="f6" fmla="val 0"/>
                <a:gd name="f7" fmla="+- 0 0 -180"/>
                <a:gd name="f8" fmla="+- 0 0 -360"/>
                <a:gd name="f9" fmla="abs f3"/>
                <a:gd name="f10" fmla="abs f4"/>
                <a:gd name="f11" fmla="abs f5"/>
                <a:gd name="f12" fmla="val f6"/>
                <a:gd name="f13" fmla="*/ f7 f0 1"/>
                <a:gd name="f14" fmla="*/ f8 f0 1"/>
                <a:gd name="f15" fmla="?: f9 f3 1"/>
                <a:gd name="f16" fmla="?: f10 f4 1"/>
                <a:gd name="f17" fmla="?: f11 f5 1"/>
                <a:gd name="f18" fmla="*/ f13 1 f2"/>
                <a:gd name="f19" fmla="*/ f14 1 f2"/>
                <a:gd name="f20" fmla="*/ f15 1 21600"/>
                <a:gd name="f21" fmla="*/ f16 1 21600"/>
                <a:gd name="f22" fmla="*/ 21600 f15 1"/>
                <a:gd name="f23" fmla="*/ 21600 f16 1"/>
                <a:gd name="f24" fmla="+- f18 0 f1"/>
                <a:gd name="f25" fmla="+- f19 0 f1"/>
                <a:gd name="f26" fmla="min f21 f20"/>
                <a:gd name="f27" fmla="*/ f22 1 f17"/>
                <a:gd name="f28" fmla="*/ f23 1 f17"/>
                <a:gd name="f29" fmla="val f27"/>
                <a:gd name="f30" fmla="val f28"/>
                <a:gd name="f31" fmla="*/ f6 f26 1"/>
                <a:gd name="f32" fmla="*/ f27 f26 1"/>
                <a:gd name="f33" fmla="*/ f28 f26 1"/>
                <a:gd name="f34" fmla="*/ f12 f26 1"/>
                <a:gd name="f35" fmla="*/ f29 f26 1"/>
                <a:gd name="f36" fmla="*/ f30 f26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4">
                  <a:pos x="f34" y="f34"/>
                </a:cxn>
                <a:cxn ang="f25">
                  <a:pos x="f35" y="f36"/>
                </a:cxn>
              </a:cxnLst>
              <a:rect l="f31" t="f31" r="f32" b="f33"/>
              <a:pathLst>
                <a:path>
                  <a:moveTo>
                    <a:pt x="f34" y="f34"/>
                  </a:moveTo>
                  <a:lnTo>
                    <a:pt x="f35" y="f36"/>
                  </a:lnTo>
                </a:path>
              </a:pathLst>
            </a:custGeom>
            <a:noFill/>
            <a:ln w="9528" cap="flat">
              <a:solidFill>
                <a:srgbClr val="000000"/>
              </a:solidFill>
              <a:prstDash val="solid"/>
              <a:round/>
              <a:tailEnd type="arrow"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2400" b="0" i="0" u="none" strike="noStrike" kern="1200" cap="none" spc="0" baseline="0">
                <a:solidFill>
                  <a:srgbClr val="000000"/>
                </a:solidFill>
                <a:uFillTx/>
                <a:latin typeface="Times New Roman" pitchFamily="18"/>
              </a:endParaRPr>
            </a:p>
          </p:txBody>
        </p:sp>
        <p:sp>
          <p:nvSpPr>
            <p:cNvPr id="17" name="Line 22">
              <a:extLst>
                <a:ext uri="{FF2B5EF4-FFF2-40B4-BE49-F238E27FC236}">
                  <a16:creationId xmlns:a16="http://schemas.microsoft.com/office/drawing/2014/main" id="{AFF5A5E9-1D90-B917-C173-83F0B7899F61}"/>
                </a:ext>
              </a:extLst>
            </p:cNvPr>
            <p:cNvSpPr/>
            <p:nvPr/>
          </p:nvSpPr>
          <p:spPr>
            <a:xfrm>
              <a:off x="6096003" y="4419596"/>
              <a:ext cx="2133596" cy="0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ss"/>
                <a:gd name="f6" fmla="val 0"/>
                <a:gd name="f7" fmla="+- 0 0 -180"/>
                <a:gd name="f8" fmla="+- 0 0 -360"/>
                <a:gd name="f9" fmla="abs f3"/>
                <a:gd name="f10" fmla="abs f4"/>
                <a:gd name="f11" fmla="abs f5"/>
                <a:gd name="f12" fmla="val f6"/>
                <a:gd name="f13" fmla="*/ f7 f0 1"/>
                <a:gd name="f14" fmla="*/ f8 f0 1"/>
                <a:gd name="f15" fmla="?: f9 f3 1"/>
                <a:gd name="f16" fmla="?: f10 f4 1"/>
                <a:gd name="f17" fmla="?: f11 f5 1"/>
                <a:gd name="f18" fmla="*/ f13 1 f2"/>
                <a:gd name="f19" fmla="*/ f14 1 f2"/>
                <a:gd name="f20" fmla="*/ f15 1 21600"/>
                <a:gd name="f21" fmla="*/ f16 1 21600"/>
                <a:gd name="f22" fmla="*/ 21600 f15 1"/>
                <a:gd name="f23" fmla="*/ 21600 f16 1"/>
                <a:gd name="f24" fmla="+- f18 0 f1"/>
                <a:gd name="f25" fmla="+- f19 0 f1"/>
                <a:gd name="f26" fmla="min f21 f20"/>
                <a:gd name="f27" fmla="*/ f22 1 f17"/>
                <a:gd name="f28" fmla="*/ f23 1 f17"/>
                <a:gd name="f29" fmla="val f27"/>
                <a:gd name="f30" fmla="val f28"/>
                <a:gd name="f31" fmla="*/ f6 f26 1"/>
                <a:gd name="f32" fmla="*/ f27 f26 1"/>
                <a:gd name="f33" fmla="*/ f28 f26 1"/>
                <a:gd name="f34" fmla="*/ f12 f26 1"/>
                <a:gd name="f35" fmla="*/ f29 f26 1"/>
                <a:gd name="f36" fmla="*/ f30 f26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4">
                  <a:pos x="f34" y="f34"/>
                </a:cxn>
                <a:cxn ang="f25">
                  <a:pos x="f35" y="f36"/>
                </a:cxn>
              </a:cxnLst>
              <a:rect l="f31" t="f31" r="f32" b="f33"/>
              <a:pathLst>
                <a:path>
                  <a:moveTo>
                    <a:pt x="f34" y="f34"/>
                  </a:moveTo>
                  <a:lnTo>
                    <a:pt x="f35" y="f36"/>
                  </a:lnTo>
                </a:path>
              </a:pathLst>
            </a:custGeom>
            <a:noFill/>
            <a:ln w="9528" cap="flat">
              <a:solidFill>
                <a:srgbClr val="000000"/>
              </a:solidFill>
              <a:prstDash val="solid"/>
              <a:round/>
              <a:tailEnd type="arrow"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2400" b="0" i="0" u="none" strike="noStrike" kern="1200" cap="none" spc="0" baseline="0">
                <a:solidFill>
                  <a:srgbClr val="000000"/>
                </a:solidFill>
                <a:uFillTx/>
                <a:latin typeface="Times New Roman" pitchFamily="18"/>
              </a:endParaRPr>
            </a:p>
          </p:txBody>
        </p:sp>
        <p:sp>
          <p:nvSpPr>
            <p:cNvPr id="18" name="Line 23">
              <a:extLst>
                <a:ext uri="{FF2B5EF4-FFF2-40B4-BE49-F238E27FC236}">
                  <a16:creationId xmlns:a16="http://schemas.microsoft.com/office/drawing/2014/main" id="{7533F6B8-2766-1D19-2808-9839A239A3AF}"/>
                </a:ext>
              </a:extLst>
            </p:cNvPr>
            <p:cNvSpPr/>
            <p:nvPr/>
          </p:nvSpPr>
          <p:spPr>
            <a:xfrm>
              <a:off x="6096003" y="4724403"/>
              <a:ext cx="2133596" cy="0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ss"/>
                <a:gd name="f6" fmla="val 0"/>
                <a:gd name="f7" fmla="+- 0 0 -180"/>
                <a:gd name="f8" fmla="+- 0 0 -360"/>
                <a:gd name="f9" fmla="abs f3"/>
                <a:gd name="f10" fmla="abs f4"/>
                <a:gd name="f11" fmla="abs f5"/>
                <a:gd name="f12" fmla="val f6"/>
                <a:gd name="f13" fmla="*/ f7 f0 1"/>
                <a:gd name="f14" fmla="*/ f8 f0 1"/>
                <a:gd name="f15" fmla="?: f9 f3 1"/>
                <a:gd name="f16" fmla="?: f10 f4 1"/>
                <a:gd name="f17" fmla="?: f11 f5 1"/>
                <a:gd name="f18" fmla="*/ f13 1 f2"/>
                <a:gd name="f19" fmla="*/ f14 1 f2"/>
                <a:gd name="f20" fmla="*/ f15 1 21600"/>
                <a:gd name="f21" fmla="*/ f16 1 21600"/>
                <a:gd name="f22" fmla="*/ 21600 f15 1"/>
                <a:gd name="f23" fmla="*/ 21600 f16 1"/>
                <a:gd name="f24" fmla="+- f18 0 f1"/>
                <a:gd name="f25" fmla="+- f19 0 f1"/>
                <a:gd name="f26" fmla="min f21 f20"/>
                <a:gd name="f27" fmla="*/ f22 1 f17"/>
                <a:gd name="f28" fmla="*/ f23 1 f17"/>
                <a:gd name="f29" fmla="val f27"/>
                <a:gd name="f30" fmla="val f28"/>
                <a:gd name="f31" fmla="*/ f6 f26 1"/>
                <a:gd name="f32" fmla="*/ f27 f26 1"/>
                <a:gd name="f33" fmla="*/ f28 f26 1"/>
                <a:gd name="f34" fmla="*/ f12 f26 1"/>
                <a:gd name="f35" fmla="*/ f29 f26 1"/>
                <a:gd name="f36" fmla="*/ f30 f26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4">
                  <a:pos x="f34" y="f34"/>
                </a:cxn>
                <a:cxn ang="f25">
                  <a:pos x="f35" y="f36"/>
                </a:cxn>
              </a:cxnLst>
              <a:rect l="f31" t="f31" r="f32" b="f33"/>
              <a:pathLst>
                <a:path>
                  <a:moveTo>
                    <a:pt x="f34" y="f34"/>
                  </a:moveTo>
                  <a:lnTo>
                    <a:pt x="f35" y="f36"/>
                  </a:lnTo>
                </a:path>
              </a:pathLst>
            </a:custGeom>
            <a:noFill/>
            <a:ln w="9528" cap="flat">
              <a:solidFill>
                <a:srgbClr val="000000"/>
              </a:solidFill>
              <a:prstDash val="solid"/>
              <a:round/>
              <a:tailEnd type="arrow"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2400" b="0" i="0" u="none" strike="noStrike" kern="1200" cap="none" spc="0" baseline="0">
                <a:solidFill>
                  <a:srgbClr val="000000"/>
                </a:solidFill>
                <a:uFillTx/>
                <a:latin typeface="Times New Roman" pitchFamily="18"/>
              </a:endParaRPr>
            </a:p>
          </p:txBody>
        </p:sp>
        <p:sp>
          <p:nvSpPr>
            <p:cNvPr id="19" name="Line 24">
              <a:extLst>
                <a:ext uri="{FF2B5EF4-FFF2-40B4-BE49-F238E27FC236}">
                  <a16:creationId xmlns:a16="http://schemas.microsoft.com/office/drawing/2014/main" id="{8A350B8A-AAB6-318D-D127-70B84165C3AE}"/>
                </a:ext>
              </a:extLst>
            </p:cNvPr>
            <p:cNvSpPr/>
            <p:nvPr/>
          </p:nvSpPr>
          <p:spPr>
            <a:xfrm>
              <a:off x="6096003" y="5029200"/>
              <a:ext cx="2133596" cy="0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ss"/>
                <a:gd name="f6" fmla="val 0"/>
                <a:gd name="f7" fmla="+- 0 0 -180"/>
                <a:gd name="f8" fmla="+- 0 0 -360"/>
                <a:gd name="f9" fmla="abs f3"/>
                <a:gd name="f10" fmla="abs f4"/>
                <a:gd name="f11" fmla="abs f5"/>
                <a:gd name="f12" fmla="val f6"/>
                <a:gd name="f13" fmla="*/ f7 f0 1"/>
                <a:gd name="f14" fmla="*/ f8 f0 1"/>
                <a:gd name="f15" fmla="?: f9 f3 1"/>
                <a:gd name="f16" fmla="?: f10 f4 1"/>
                <a:gd name="f17" fmla="?: f11 f5 1"/>
                <a:gd name="f18" fmla="*/ f13 1 f2"/>
                <a:gd name="f19" fmla="*/ f14 1 f2"/>
                <a:gd name="f20" fmla="*/ f15 1 21600"/>
                <a:gd name="f21" fmla="*/ f16 1 21600"/>
                <a:gd name="f22" fmla="*/ 21600 f15 1"/>
                <a:gd name="f23" fmla="*/ 21600 f16 1"/>
                <a:gd name="f24" fmla="+- f18 0 f1"/>
                <a:gd name="f25" fmla="+- f19 0 f1"/>
                <a:gd name="f26" fmla="min f21 f20"/>
                <a:gd name="f27" fmla="*/ f22 1 f17"/>
                <a:gd name="f28" fmla="*/ f23 1 f17"/>
                <a:gd name="f29" fmla="val f27"/>
                <a:gd name="f30" fmla="val f28"/>
                <a:gd name="f31" fmla="*/ f6 f26 1"/>
                <a:gd name="f32" fmla="*/ f27 f26 1"/>
                <a:gd name="f33" fmla="*/ f28 f26 1"/>
                <a:gd name="f34" fmla="*/ f12 f26 1"/>
                <a:gd name="f35" fmla="*/ f29 f26 1"/>
                <a:gd name="f36" fmla="*/ f30 f26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4">
                  <a:pos x="f34" y="f34"/>
                </a:cxn>
                <a:cxn ang="f25">
                  <a:pos x="f35" y="f36"/>
                </a:cxn>
              </a:cxnLst>
              <a:rect l="f31" t="f31" r="f32" b="f33"/>
              <a:pathLst>
                <a:path>
                  <a:moveTo>
                    <a:pt x="f34" y="f34"/>
                  </a:moveTo>
                  <a:lnTo>
                    <a:pt x="f35" y="f36"/>
                  </a:lnTo>
                </a:path>
              </a:pathLst>
            </a:custGeom>
            <a:noFill/>
            <a:ln w="9528" cap="flat">
              <a:solidFill>
                <a:srgbClr val="000000"/>
              </a:solidFill>
              <a:prstDash val="solid"/>
              <a:round/>
              <a:tailEnd type="arrow"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2400" b="0" i="0" u="none" strike="noStrike" kern="1200" cap="none" spc="0" baseline="0">
                <a:solidFill>
                  <a:srgbClr val="000000"/>
                </a:solidFill>
                <a:uFillTx/>
                <a:latin typeface="Times New Roman" pitchFamily="18"/>
              </a:endParaRPr>
            </a:p>
          </p:txBody>
        </p:sp>
        <p:sp>
          <p:nvSpPr>
            <p:cNvPr id="20" name="Line 25">
              <a:extLst>
                <a:ext uri="{FF2B5EF4-FFF2-40B4-BE49-F238E27FC236}">
                  <a16:creationId xmlns:a16="http://schemas.microsoft.com/office/drawing/2014/main" id="{7D42BF2B-54A6-5F8A-22BF-04B98EAFB73B}"/>
                </a:ext>
              </a:extLst>
            </p:cNvPr>
            <p:cNvSpPr/>
            <p:nvPr/>
          </p:nvSpPr>
          <p:spPr>
            <a:xfrm>
              <a:off x="6096003" y="5333996"/>
              <a:ext cx="2133596" cy="0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ss"/>
                <a:gd name="f6" fmla="val 0"/>
                <a:gd name="f7" fmla="+- 0 0 -180"/>
                <a:gd name="f8" fmla="+- 0 0 -360"/>
                <a:gd name="f9" fmla="abs f3"/>
                <a:gd name="f10" fmla="abs f4"/>
                <a:gd name="f11" fmla="abs f5"/>
                <a:gd name="f12" fmla="val f6"/>
                <a:gd name="f13" fmla="*/ f7 f0 1"/>
                <a:gd name="f14" fmla="*/ f8 f0 1"/>
                <a:gd name="f15" fmla="?: f9 f3 1"/>
                <a:gd name="f16" fmla="?: f10 f4 1"/>
                <a:gd name="f17" fmla="?: f11 f5 1"/>
                <a:gd name="f18" fmla="*/ f13 1 f2"/>
                <a:gd name="f19" fmla="*/ f14 1 f2"/>
                <a:gd name="f20" fmla="*/ f15 1 21600"/>
                <a:gd name="f21" fmla="*/ f16 1 21600"/>
                <a:gd name="f22" fmla="*/ 21600 f15 1"/>
                <a:gd name="f23" fmla="*/ 21600 f16 1"/>
                <a:gd name="f24" fmla="+- f18 0 f1"/>
                <a:gd name="f25" fmla="+- f19 0 f1"/>
                <a:gd name="f26" fmla="min f21 f20"/>
                <a:gd name="f27" fmla="*/ f22 1 f17"/>
                <a:gd name="f28" fmla="*/ f23 1 f17"/>
                <a:gd name="f29" fmla="val f27"/>
                <a:gd name="f30" fmla="val f28"/>
                <a:gd name="f31" fmla="*/ f6 f26 1"/>
                <a:gd name="f32" fmla="*/ f27 f26 1"/>
                <a:gd name="f33" fmla="*/ f28 f26 1"/>
                <a:gd name="f34" fmla="*/ f12 f26 1"/>
                <a:gd name="f35" fmla="*/ f29 f26 1"/>
                <a:gd name="f36" fmla="*/ f30 f26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4">
                  <a:pos x="f34" y="f34"/>
                </a:cxn>
                <a:cxn ang="f25">
                  <a:pos x="f35" y="f36"/>
                </a:cxn>
              </a:cxnLst>
              <a:rect l="f31" t="f31" r="f32" b="f33"/>
              <a:pathLst>
                <a:path>
                  <a:moveTo>
                    <a:pt x="f34" y="f34"/>
                  </a:moveTo>
                  <a:lnTo>
                    <a:pt x="f35" y="f36"/>
                  </a:lnTo>
                </a:path>
              </a:pathLst>
            </a:custGeom>
            <a:noFill/>
            <a:ln w="9528" cap="flat">
              <a:solidFill>
                <a:srgbClr val="000000"/>
              </a:solidFill>
              <a:prstDash val="solid"/>
              <a:round/>
              <a:tailEnd type="arrow"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2400" b="0" i="0" u="none" strike="noStrike" kern="1200" cap="none" spc="0" baseline="0">
                <a:solidFill>
                  <a:srgbClr val="000000"/>
                </a:solidFill>
                <a:uFillTx/>
                <a:latin typeface="Times New Roman" pitchFamily="18"/>
              </a:endParaRPr>
            </a:p>
          </p:txBody>
        </p:sp>
        <p:sp>
          <p:nvSpPr>
            <p:cNvPr id="21" name="Line 26">
              <a:extLst>
                <a:ext uri="{FF2B5EF4-FFF2-40B4-BE49-F238E27FC236}">
                  <a16:creationId xmlns:a16="http://schemas.microsoft.com/office/drawing/2014/main" id="{88C99CE9-6EB5-60DC-A085-B46AF8FAC633}"/>
                </a:ext>
              </a:extLst>
            </p:cNvPr>
            <p:cNvSpPr/>
            <p:nvPr/>
          </p:nvSpPr>
          <p:spPr>
            <a:xfrm>
              <a:off x="6096003" y="5638803"/>
              <a:ext cx="2133596" cy="0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ss"/>
                <a:gd name="f6" fmla="val 0"/>
                <a:gd name="f7" fmla="+- 0 0 -180"/>
                <a:gd name="f8" fmla="+- 0 0 -360"/>
                <a:gd name="f9" fmla="abs f3"/>
                <a:gd name="f10" fmla="abs f4"/>
                <a:gd name="f11" fmla="abs f5"/>
                <a:gd name="f12" fmla="val f6"/>
                <a:gd name="f13" fmla="*/ f7 f0 1"/>
                <a:gd name="f14" fmla="*/ f8 f0 1"/>
                <a:gd name="f15" fmla="?: f9 f3 1"/>
                <a:gd name="f16" fmla="?: f10 f4 1"/>
                <a:gd name="f17" fmla="?: f11 f5 1"/>
                <a:gd name="f18" fmla="*/ f13 1 f2"/>
                <a:gd name="f19" fmla="*/ f14 1 f2"/>
                <a:gd name="f20" fmla="*/ f15 1 21600"/>
                <a:gd name="f21" fmla="*/ f16 1 21600"/>
                <a:gd name="f22" fmla="*/ 21600 f15 1"/>
                <a:gd name="f23" fmla="*/ 21600 f16 1"/>
                <a:gd name="f24" fmla="+- f18 0 f1"/>
                <a:gd name="f25" fmla="+- f19 0 f1"/>
                <a:gd name="f26" fmla="min f21 f20"/>
                <a:gd name="f27" fmla="*/ f22 1 f17"/>
                <a:gd name="f28" fmla="*/ f23 1 f17"/>
                <a:gd name="f29" fmla="val f27"/>
                <a:gd name="f30" fmla="val f28"/>
                <a:gd name="f31" fmla="*/ f6 f26 1"/>
                <a:gd name="f32" fmla="*/ f27 f26 1"/>
                <a:gd name="f33" fmla="*/ f28 f26 1"/>
                <a:gd name="f34" fmla="*/ f12 f26 1"/>
                <a:gd name="f35" fmla="*/ f29 f26 1"/>
                <a:gd name="f36" fmla="*/ f30 f26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4">
                  <a:pos x="f34" y="f34"/>
                </a:cxn>
                <a:cxn ang="f25">
                  <a:pos x="f35" y="f36"/>
                </a:cxn>
              </a:cxnLst>
              <a:rect l="f31" t="f31" r="f32" b="f33"/>
              <a:pathLst>
                <a:path>
                  <a:moveTo>
                    <a:pt x="f34" y="f34"/>
                  </a:moveTo>
                  <a:lnTo>
                    <a:pt x="f35" y="f36"/>
                  </a:lnTo>
                </a:path>
              </a:pathLst>
            </a:custGeom>
            <a:noFill/>
            <a:ln w="9528" cap="flat">
              <a:solidFill>
                <a:srgbClr val="000000"/>
              </a:solidFill>
              <a:prstDash val="solid"/>
              <a:round/>
              <a:tailEnd type="arrow"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2400" b="0" i="0" u="none" strike="noStrike" kern="1200" cap="none" spc="0" baseline="0">
                <a:solidFill>
                  <a:srgbClr val="000000"/>
                </a:solidFill>
                <a:uFillTx/>
                <a:latin typeface="Times New Roman" pitchFamily="18"/>
              </a:endParaRPr>
            </a:p>
          </p:txBody>
        </p:sp>
        <p:sp>
          <p:nvSpPr>
            <p:cNvPr id="22" name="Line 27">
              <a:extLst>
                <a:ext uri="{FF2B5EF4-FFF2-40B4-BE49-F238E27FC236}">
                  <a16:creationId xmlns:a16="http://schemas.microsoft.com/office/drawing/2014/main" id="{7402C346-7229-2270-6CF3-62FCB5B37450}"/>
                </a:ext>
              </a:extLst>
            </p:cNvPr>
            <p:cNvSpPr/>
            <p:nvPr/>
          </p:nvSpPr>
          <p:spPr>
            <a:xfrm>
              <a:off x="6096003" y="5943600"/>
              <a:ext cx="2133596" cy="0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ss"/>
                <a:gd name="f6" fmla="val 0"/>
                <a:gd name="f7" fmla="+- 0 0 -180"/>
                <a:gd name="f8" fmla="+- 0 0 -360"/>
                <a:gd name="f9" fmla="abs f3"/>
                <a:gd name="f10" fmla="abs f4"/>
                <a:gd name="f11" fmla="abs f5"/>
                <a:gd name="f12" fmla="val f6"/>
                <a:gd name="f13" fmla="*/ f7 f0 1"/>
                <a:gd name="f14" fmla="*/ f8 f0 1"/>
                <a:gd name="f15" fmla="?: f9 f3 1"/>
                <a:gd name="f16" fmla="?: f10 f4 1"/>
                <a:gd name="f17" fmla="?: f11 f5 1"/>
                <a:gd name="f18" fmla="*/ f13 1 f2"/>
                <a:gd name="f19" fmla="*/ f14 1 f2"/>
                <a:gd name="f20" fmla="*/ f15 1 21600"/>
                <a:gd name="f21" fmla="*/ f16 1 21600"/>
                <a:gd name="f22" fmla="*/ 21600 f15 1"/>
                <a:gd name="f23" fmla="*/ 21600 f16 1"/>
                <a:gd name="f24" fmla="+- f18 0 f1"/>
                <a:gd name="f25" fmla="+- f19 0 f1"/>
                <a:gd name="f26" fmla="min f21 f20"/>
                <a:gd name="f27" fmla="*/ f22 1 f17"/>
                <a:gd name="f28" fmla="*/ f23 1 f17"/>
                <a:gd name="f29" fmla="val f27"/>
                <a:gd name="f30" fmla="val f28"/>
                <a:gd name="f31" fmla="*/ f6 f26 1"/>
                <a:gd name="f32" fmla="*/ f27 f26 1"/>
                <a:gd name="f33" fmla="*/ f28 f26 1"/>
                <a:gd name="f34" fmla="*/ f12 f26 1"/>
                <a:gd name="f35" fmla="*/ f29 f26 1"/>
                <a:gd name="f36" fmla="*/ f30 f26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4">
                  <a:pos x="f34" y="f34"/>
                </a:cxn>
                <a:cxn ang="f25">
                  <a:pos x="f35" y="f36"/>
                </a:cxn>
              </a:cxnLst>
              <a:rect l="f31" t="f31" r="f32" b="f33"/>
              <a:pathLst>
                <a:path>
                  <a:moveTo>
                    <a:pt x="f34" y="f34"/>
                  </a:moveTo>
                  <a:lnTo>
                    <a:pt x="f35" y="f36"/>
                  </a:lnTo>
                </a:path>
              </a:pathLst>
            </a:custGeom>
            <a:noFill/>
            <a:ln w="9528" cap="flat">
              <a:solidFill>
                <a:srgbClr val="000000"/>
              </a:solidFill>
              <a:prstDash val="solid"/>
              <a:round/>
              <a:tailEnd type="arrow"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2400" b="0" i="0" u="none" strike="noStrike" kern="1200" cap="none" spc="0" baseline="0">
                <a:solidFill>
                  <a:srgbClr val="000000"/>
                </a:solidFill>
                <a:uFillTx/>
                <a:latin typeface="Times New Roman" pitchFamily="18"/>
              </a:endParaRPr>
            </a:p>
          </p:txBody>
        </p:sp>
      </p:grpSp>
      <p:grpSp>
        <p:nvGrpSpPr>
          <p:cNvPr id="23" name="Group 38">
            <a:extLst>
              <a:ext uri="{FF2B5EF4-FFF2-40B4-BE49-F238E27FC236}">
                <a16:creationId xmlns:a16="http://schemas.microsoft.com/office/drawing/2014/main" id="{0D938CE8-3F6A-1B1C-32B2-4048F4A4EFBC}"/>
              </a:ext>
            </a:extLst>
          </p:cNvPr>
          <p:cNvGrpSpPr/>
          <p:nvPr/>
        </p:nvGrpSpPr>
        <p:grpSpPr>
          <a:xfrm>
            <a:off x="0" y="3657600"/>
            <a:ext cx="609603" cy="1066803"/>
            <a:chOff x="0" y="3657600"/>
            <a:chExt cx="609603" cy="1066803"/>
          </a:xfrm>
        </p:grpSpPr>
        <p:sp>
          <p:nvSpPr>
            <p:cNvPr id="24" name="Rectangle 33">
              <a:extLst>
                <a:ext uri="{FF2B5EF4-FFF2-40B4-BE49-F238E27FC236}">
                  <a16:creationId xmlns:a16="http://schemas.microsoft.com/office/drawing/2014/main" id="{34956D85-1D82-B68F-3B0C-14962EB6079E}"/>
                </a:ext>
              </a:extLst>
            </p:cNvPr>
            <p:cNvSpPr/>
            <p:nvPr/>
          </p:nvSpPr>
          <p:spPr>
            <a:xfrm>
              <a:off x="0" y="3657600"/>
              <a:ext cx="571500" cy="1066803"/>
            </a:xfrm>
            <a:prstGeom prst="rect">
              <a:avLst/>
            </a:prstGeom>
            <a:solidFill>
              <a:srgbClr val="000000"/>
            </a:solidFill>
            <a:ln w="9528" cap="flat">
              <a:solidFill>
                <a:srgbClr val="000000"/>
              </a:solidFill>
              <a:prstDash val="solid"/>
              <a:miter/>
            </a:ln>
          </p:spPr>
          <p:txBody>
            <a:bodyPr vert="horz" wrap="none" lIns="91440" tIns="45720" rIns="91440" bIns="45720" anchor="ctr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2400" b="0" i="0" u="none" strike="noStrike" kern="1200" cap="none" spc="0" baseline="0">
                <a:solidFill>
                  <a:srgbClr val="000000"/>
                </a:solidFill>
                <a:uFillTx/>
                <a:latin typeface="Times New Roman" pitchFamily="18"/>
              </a:endParaRPr>
            </a:p>
          </p:txBody>
        </p:sp>
        <p:sp>
          <p:nvSpPr>
            <p:cNvPr id="25" name="Line 34">
              <a:extLst>
                <a:ext uri="{FF2B5EF4-FFF2-40B4-BE49-F238E27FC236}">
                  <a16:creationId xmlns:a16="http://schemas.microsoft.com/office/drawing/2014/main" id="{9C23227A-248E-B88E-7D5B-FFB617B5D86E}"/>
                </a:ext>
              </a:extLst>
            </p:cNvPr>
            <p:cNvSpPr/>
            <p:nvPr/>
          </p:nvSpPr>
          <p:spPr>
            <a:xfrm>
              <a:off x="0" y="3810003"/>
              <a:ext cx="609603" cy="0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ss"/>
                <a:gd name="f6" fmla="val 0"/>
                <a:gd name="f7" fmla="+- 0 0 -180"/>
                <a:gd name="f8" fmla="+- 0 0 -360"/>
                <a:gd name="f9" fmla="abs f3"/>
                <a:gd name="f10" fmla="abs f4"/>
                <a:gd name="f11" fmla="abs f5"/>
                <a:gd name="f12" fmla="val f6"/>
                <a:gd name="f13" fmla="*/ f7 f0 1"/>
                <a:gd name="f14" fmla="*/ f8 f0 1"/>
                <a:gd name="f15" fmla="?: f9 f3 1"/>
                <a:gd name="f16" fmla="?: f10 f4 1"/>
                <a:gd name="f17" fmla="?: f11 f5 1"/>
                <a:gd name="f18" fmla="*/ f13 1 f2"/>
                <a:gd name="f19" fmla="*/ f14 1 f2"/>
                <a:gd name="f20" fmla="*/ f15 1 21600"/>
                <a:gd name="f21" fmla="*/ f16 1 21600"/>
                <a:gd name="f22" fmla="*/ 21600 f15 1"/>
                <a:gd name="f23" fmla="*/ 21600 f16 1"/>
                <a:gd name="f24" fmla="+- f18 0 f1"/>
                <a:gd name="f25" fmla="+- f19 0 f1"/>
                <a:gd name="f26" fmla="min f21 f20"/>
                <a:gd name="f27" fmla="*/ f22 1 f17"/>
                <a:gd name="f28" fmla="*/ f23 1 f17"/>
                <a:gd name="f29" fmla="val f27"/>
                <a:gd name="f30" fmla="val f28"/>
                <a:gd name="f31" fmla="*/ f6 f26 1"/>
                <a:gd name="f32" fmla="*/ f27 f26 1"/>
                <a:gd name="f33" fmla="*/ f28 f26 1"/>
                <a:gd name="f34" fmla="*/ f12 f26 1"/>
                <a:gd name="f35" fmla="*/ f29 f26 1"/>
                <a:gd name="f36" fmla="*/ f30 f26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4">
                  <a:pos x="f34" y="f34"/>
                </a:cxn>
                <a:cxn ang="f25">
                  <a:pos x="f35" y="f36"/>
                </a:cxn>
              </a:cxnLst>
              <a:rect l="f31" t="f31" r="f32" b="f33"/>
              <a:pathLst>
                <a:path>
                  <a:moveTo>
                    <a:pt x="f34" y="f34"/>
                  </a:moveTo>
                  <a:lnTo>
                    <a:pt x="f35" y="f36"/>
                  </a:lnTo>
                </a:path>
              </a:pathLst>
            </a:custGeom>
            <a:noFill/>
            <a:ln w="38103" cap="flat">
              <a:solidFill>
                <a:srgbClr val="8E2200"/>
              </a:solidFill>
              <a:prstDash val="solid"/>
              <a:round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2400" b="0" i="0" u="none" strike="noStrike" kern="1200" cap="none" spc="0" baseline="0">
                <a:solidFill>
                  <a:srgbClr val="000000"/>
                </a:solidFill>
                <a:uFillTx/>
                <a:latin typeface="Times New Roman" pitchFamily="18"/>
              </a:endParaRPr>
            </a:p>
          </p:txBody>
        </p:sp>
        <p:sp>
          <p:nvSpPr>
            <p:cNvPr id="26" name="Line 35">
              <a:extLst>
                <a:ext uri="{FF2B5EF4-FFF2-40B4-BE49-F238E27FC236}">
                  <a16:creationId xmlns:a16="http://schemas.microsoft.com/office/drawing/2014/main" id="{A26C7539-1244-CE58-0E12-3767D4E98E6C}"/>
                </a:ext>
              </a:extLst>
            </p:cNvPr>
            <p:cNvSpPr/>
            <p:nvPr/>
          </p:nvSpPr>
          <p:spPr>
            <a:xfrm>
              <a:off x="0" y="4038603"/>
              <a:ext cx="609603" cy="0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ss"/>
                <a:gd name="f6" fmla="val 0"/>
                <a:gd name="f7" fmla="+- 0 0 -180"/>
                <a:gd name="f8" fmla="+- 0 0 -360"/>
                <a:gd name="f9" fmla="abs f3"/>
                <a:gd name="f10" fmla="abs f4"/>
                <a:gd name="f11" fmla="abs f5"/>
                <a:gd name="f12" fmla="val f6"/>
                <a:gd name="f13" fmla="*/ f7 f0 1"/>
                <a:gd name="f14" fmla="*/ f8 f0 1"/>
                <a:gd name="f15" fmla="?: f9 f3 1"/>
                <a:gd name="f16" fmla="?: f10 f4 1"/>
                <a:gd name="f17" fmla="?: f11 f5 1"/>
                <a:gd name="f18" fmla="*/ f13 1 f2"/>
                <a:gd name="f19" fmla="*/ f14 1 f2"/>
                <a:gd name="f20" fmla="*/ f15 1 21600"/>
                <a:gd name="f21" fmla="*/ f16 1 21600"/>
                <a:gd name="f22" fmla="*/ 21600 f15 1"/>
                <a:gd name="f23" fmla="*/ 21600 f16 1"/>
                <a:gd name="f24" fmla="+- f18 0 f1"/>
                <a:gd name="f25" fmla="+- f19 0 f1"/>
                <a:gd name="f26" fmla="min f21 f20"/>
                <a:gd name="f27" fmla="*/ f22 1 f17"/>
                <a:gd name="f28" fmla="*/ f23 1 f17"/>
                <a:gd name="f29" fmla="val f27"/>
                <a:gd name="f30" fmla="val f28"/>
                <a:gd name="f31" fmla="*/ f6 f26 1"/>
                <a:gd name="f32" fmla="*/ f27 f26 1"/>
                <a:gd name="f33" fmla="*/ f28 f26 1"/>
                <a:gd name="f34" fmla="*/ f12 f26 1"/>
                <a:gd name="f35" fmla="*/ f29 f26 1"/>
                <a:gd name="f36" fmla="*/ f30 f26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4">
                  <a:pos x="f34" y="f34"/>
                </a:cxn>
                <a:cxn ang="f25">
                  <a:pos x="f35" y="f36"/>
                </a:cxn>
              </a:cxnLst>
              <a:rect l="f31" t="f31" r="f32" b="f33"/>
              <a:pathLst>
                <a:path>
                  <a:moveTo>
                    <a:pt x="f34" y="f34"/>
                  </a:moveTo>
                  <a:lnTo>
                    <a:pt x="f35" y="f36"/>
                  </a:lnTo>
                </a:path>
              </a:pathLst>
            </a:custGeom>
            <a:noFill/>
            <a:ln w="38103" cap="flat">
              <a:solidFill>
                <a:srgbClr val="8E2200"/>
              </a:solidFill>
              <a:prstDash val="solid"/>
              <a:round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2400" b="0" i="0" u="none" strike="noStrike" kern="1200" cap="none" spc="0" baseline="0">
                <a:solidFill>
                  <a:srgbClr val="000000"/>
                </a:solidFill>
                <a:uFillTx/>
                <a:latin typeface="Times New Roman" pitchFamily="18"/>
              </a:endParaRPr>
            </a:p>
          </p:txBody>
        </p:sp>
        <p:sp>
          <p:nvSpPr>
            <p:cNvPr id="27" name="Line 36">
              <a:extLst>
                <a:ext uri="{FF2B5EF4-FFF2-40B4-BE49-F238E27FC236}">
                  <a16:creationId xmlns:a16="http://schemas.microsoft.com/office/drawing/2014/main" id="{A2E4FDA8-B989-03B4-3048-9DE4A2951C13}"/>
                </a:ext>
              </a:extLst>
            </p:cNvPr>
            <p:cNvSpPr/>
            <p:nvPr/>
          </p:nvSpPr>
          <p:spPr>
            <a:xfrm>
              <a:off x="0" y="4267203"/>
              <a:ext cx="609603" cy="0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ss"/>
                <a:gd name="f6" fmla="val 0"/>
                <a:gd name="f7" fmla="+- 0 0 -180"/>
                <a:gd name="f8" fmla="+- 0 0 -360"/>
                <a:gd name="f9" fmla="abs f3"/>
                <a:gd name="f10" fmla="abs f4"/>
                <a:gd name="f11" fmla="abs f5"/>
                <a:gd name="f12" fmla="val f6"/>
                <a:gd name="f13" fmla="*/ f7 f0 1"/>
                <a:gd name="f14" fmla="*/ f8 f0 1"/>
                <a:gd name="f15" fmla="?: f9 f3 1"/>
                <a:gd name="f16" fmla="?: f10 f4 1"/>
                <a:gd name="f17" fmla="?: f11 f5 1"/>
                <a:gd name="f18" fmla="*/ f13 1 f2"/>
                <a:gd name="f19" fmla="*/ f14 1 f2"/>
                <a:gd name="f20" fmla="*/ f15 1 21600"/>
                <a:gd name="f21" fmla="*/ f16 1 21600"/>
                <a:gd name="f22" fmla="*/ 21600 f15 1"/>
                <a:gd name="f23" fmla="*/ 21600 f16 1"/>
                <a:gd name="f24" fmla="+- f18 0 f1"/>
                <a:gd name="f25" fmla="+- f19 0 f1"/>
                <a:gd name="f26" fmla="min f21 f20"/>
                <a:gd name="f27" fmla="*/ f22 1 f17"/>
                <a:gd name="f28" fmla="*/ f23 1 f17"/>
                <a:gd name="f29" fmla="val f27"/>
                <a:gd name="f30" fmla="val f28"/>
                <a:gd name="f31" fmla="*/ f6 f26 1"/>
                <a:gd name="f32" fmla="*/ f27 f26 1"/>
                <a:gd name="f33" fmla="*/ f28 f26 1"/>
                <a:gd name="f34" fmla="*/ f12 f26 1"/>
                <a:gd name="f35" fmla="*/ f29 f26 1"/>
                <a:gd name="f36" fmla="*/ f30 f26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4">
                  <a:pos x="f34" y="f34"/>
                </a:cxn>
                <a:cxn ang="f25">
                  <a:pos x="f35" y="f36"/>
                </a:cxn>
              </a:cxnLst>
              <a:rect l="f31" t="f31" r="f32" b="f33"/>
              <a:pathLst>
                <a:path>
                  <a:moveTo>
                    <a:pt x="f34" y="f34"/>
                  </a:moveTo>
                  <a:lnTo>
                    <a:pt x="f35" y="f36"/>
                  </a:lnTo>
                </a:path>
              </a:pathLst>
            </a:custGeom>
            <a:noFill/>
            <a:ln w="38103" cap="flat">
              <a:solidFill>
                <a:srgbClr val="8E2200"/>
              </a:solidFill>
              <a:prstDash val="solid"/>
              <a:round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2400" b="0" i="0" u="none" strike="noStrike" kern="1200" cap="none" spc="0" baseline="0">
                <a:solidFill>
                  <a:srgbClr val="000000"/>
                </a:solidFill>
                <a:uFillTx/>
                <a:latin typeface="Times New Roman" pitchFamily="18"/>
              </a:endParaRPr>
            </a:p>
          </p:txBody>
        </p:sp>
        <p:sp>
          <p:nvSpPr>
            <p:cNvPr id="28" name="Line 37">
              <a:extLst>
                <a:ext uri="{FF2B5EF4-FFF2-40B4-BE49-F238E27FC236}">
                  <a16:creationId xmlns:a16="http://schemas.microsoft.com/office/drawing/2014/main" id="{583581EE-8B3B-BAFD-BCD6-20D302AA1CAF}"/>
                </a:ext>
              </a:extLst>
            </p:cNvPr>
            <p:cNvSpPr/>
            <p:nvPr/>
          </p:nvSpPr>
          <p:spPr>
            <a:xfrm>
              <a:off x="0" y="4495803"/>
              <a:ext cx="609603" cy="0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ss"/>
                <a:gd name="f6" fmla="val 0"/>
                <a:gd name="f7" fmla="+- 0 0 -180"/>
                <a:gd name="f8" fmla="+- 0 0 -360"/>
                <a:gd name="f9" fmla="abs f3"/>
                <a:gd name="f10" fmla="abs f4"/>
                <a:gd name="f11" fmla="abs f5"/>
                <a:gd name="f12" fmla="val f6"/>
                <a:gd name="f13" fmla="*/ f7 f0 1"/>
                <a:gd name="f14" fmla="*/ f8 f0 1"/>
                <a:gd name="f15" fmla="?: f9 f3 1"/>
                <a:gd name="f16" fmla="?: f10 f4 1"/>
                <a:gd name="f17" fmla="?: f11 f5 1"/>
                <a:gd name="f18" fmla="*/ f13 1 f2"/>
                <a:gd name="f19" fmla="*/ f14 1 f2"/>
                <a:gd name="f20" fmla="*/ f15 1 21600"/>
                <a:gd name="f21" fmla="*/ f16 1 21600"/>
                <a:gd name="f22" fmla="*/ 21600 f15 1"/>
                <a:gd name="f23" fmla="*/ 21600 f16 1"/>
                <a:gd name="f24" fmla="+- f18 0 f1"/>
                <a:gd name="f25" fmla="+- f19 0 f1"/>
                <a:gd name="f26" fmla="min f21 f20"/>
                <a:gd name="f27" fmla="*/ f22 1 f17"/>
                <a:gd name="f28" fmla="*/ f23 1 f17"/>
                <a:gd name="f29" fmla="val f27"/>
                <a:gd name="f30" fmla="val f28"/>
                <a:gd name="f31" fmla="*/ f6 f26 1"/>
                <a:gd name="f32" fmla="*/ f27 f26 1"/>
                <a:gd name="f33" fmla="*/ f28 f26 1"/>
                <a:gd name="f34" fmla="*/ f12 f26 1"/>
                <a:gd name="f35" fmla="*/ f29 f26 1"/>
                <a:gd name="f36" fmla="*/ f30 f26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4">
                  <a:pos x="f34" y="f34"/>
                </a:cxn>
                <a:cxn ang="f25">
                  <a:pos x="f35" y="f36"/>
                </a:cxn>
              </a:cxnLst>
              <a:rect l="f31" t="f31" r="f32" b="f33"/>
              <a:pathLst>
                <a:path>
                  <a:moveTo>
                    <a:pt x="f34" y="f34"/>
                  </a:moveTo>
                  <a:lnTo>
                    <a:pt x="f35" y="f36"/>
                  </a:lnTo>
                </a:path>
              </a:pathLst>
            </a:custGeom>
            <a:noFill/>
            <a:ln w="38103" cap="flat">
              <a:solidFill>
                <a:srgbClr val="8E2200"/>
              </a:solidFill>
              <a:prstDash val="solid"/>
              <a:round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2400" b="0" i="0" u="none" strike="noStrike" kern="1200" cap="none" spc="0" baseline="0">
                <a:solidFill>
                  <a:srgbClr val="000000"/>
                </a:solidFill>
                <a:uFillTx/>
                <a:latin typeface="Times New Roman" pitchFamily="18"/>
              </a:endParaRPr>
            </a:p>
          </p:txBody>
        </p:sp>
      </p:grpSp>
      <p:grpSp>
        <p:nvGrpSpPr>
          <p:cNvPr id="29" name="Group 39">
            <a:extLst>
              <a:ext uri="{FF2B5EF4-FFF2-40B4-BE49-F238E27FC236}">
                <a16:creationId xmlns:a16="http://schemas.microsoft.com/office/drawing/2014/main" id="{7194932A-5CAB-00E1-9744-D819DAF96509}"/>
              </a:ext>
            </a:extLst>
          </p:cNvPr>
          <p:cNvGrpSpPr/>
          <p:nvPr/>
        </p:nvGrpSpPr>
        <p:grpSpPr>
          <a:xfrm>
            <a:off x="8762996" y="3657600"/>
            <a:ext cx="431797" cy="1066803"/>
            <a:chOff x="8762996" y="3657600"/>
            <a:chExt cx="431797" cy="1066803"/>
          </a:xfrm>
        </p:grpSpPr>
        <p:sp>
          <p:nvSpPr>
            <p:cNvPr id="30" name="Rectangle 40">
              <a:extLst>
                <a:ext uri="{FF2B5EF4-FFF2-40B4-BE49-F238E27FC236}">
                  <a16:creationId xmlns:a16="http://schemas.microsoft.com/office/drawing/2014/main" id="{C92FDBD1-FAA7-2DF8-6889-9BA36DDC0842}"/>
                </a:ext>
              </a:extLst>
            </p:cNvPr>
            <p:cNvSpPr/>
            <p:nvPr/>
          </p:nvSpPr>
          <p:spPr>
            <a:xfrm>
              <a:off x="8762996" y="3657600"/>
              <a:ext cx="404814" cy="1066803"/>
            </a:xfrm>
            <a:prstGeom prst="rect">
              <a:avLst/>
            </a:prstGeom>
            <a:solidFill>
              <a:srgbClr val="000000"/>
            </a:solidFill>
            <a:ln w="9528" cap="flat">
              <a:solidFill>
                <a:srgbClr val="000000"/>
              </a:solidFill>
              <a:prstDash val="solid"/>
              <a:miter/>
            </a:ln>
          </p:spPr>
          <p:txBody>
            <a:bodyPr vert="horz" wrap="none" lIns="91440" tIns="45720" rIns="91440" bIns="45720" anchor="ctr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2400" b="0" i="0" u="none" strike="noStrike" kern="1200" cap="none" spc="0" baseline="0">
                <a:solidFill>
                  <a:srgbClr val="000000"/>
                </a:solidFill>
                <a:uFillTx/>
                <a:latin typeface="Times New Roman" pitchFamily="18"/>
              </a:endParaRPr>
            </a:p>
          </p:txBody>
        </p:sp>
        <p:sp>
          <p:nvSpPr>
            <p:cNvPr id="31" name="Line 41">
              <a:extLst>
                <a:ext uri="{FF2B5EF4-FFF2-40B4-BE49-F238E27FC236}">
                  <a16:creationId xmlns:a16="http://schemas.microsoft.com/office/drawing/2014/main" id="{D4720C61-1C9F-7501-8EE9-9C974EB3AA9F}"/>
                </a:ext>
              </a:extLst>
            </p:cNvPr>
            <p:cNvSpPr/>
            <p:nvPr/>
          </p:nvSpPr>
          <p:spPr>
            <a:xfrm>
              <a:off x="8762996" y="3810003"/>
              <a:ext cx="431797" cy="0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ss"/>
                <a:gd name="f6" fmla="val 0"/>
                <a:gd name="f7" fmla="+- 0 0 -180"/>
                <a:gd name="f8" fmla="+- 0 0 -360"/>
                <a:gd name="f9" fmla="abs f3"/>
                <a:gd name="f10" fmla="abs f4"/>
                <a:gd name="f11" fmla="abs f5"/>
                <a:gd name="f12" fmla="val f6"/>
                <a:gd name="f13" fmla="*/ f7 f0 1"/>
                <a:gd name="f14" fmla="*/ f8 f0 1"/>
                <a:gd name="f15" fmla="?: f9 f3 1"/>
                <a:gd name="f16" fmla="?: f10 f4 1"/>
                <a:gd name="f17" fmla="?: f11 f5 1"/>
                <a:gd name="f18" fmla="*/ f13 1 f2"/>
                <a:gd name="f19" fmla="*/ f14 1 f2"/>
                <a:gd name="f20" fmla="*/ f15 1 21600"/>
                <a:gd name="f21" fmla="*/ f16 1 21600"/>
                <a:gd name="f22" fmla="*/ 21600 f15 1"/>
                <a:gd name="f23" fmla="*/ 21600 f16 1"/>
                <a:gd name="f24" fmla="+- f18 0 f1"/>
                <a:gd name="f25" fmla="+- f19 0 f1"/>
                <a:gd name="f26" fmla="min f21 f20"/>
                <a:gd name="f27" fmla="*/ f22 1 f17"/>
                <a:gd name="f28" fmla="*/ f23 1 f17"/>
                <a:gd name="f29" fmla="val f27"/>
                <a:gd name="f30" fmla="val f28"/>
                <a:gd name="f31" fmla="*/ f6 f26 1"/>
                <a:gd name="f32" fmla="*/ f27 f26 1"/>
                <a:gd name="f33" fmla="*/ f28 f26 1"/>
                <a:gd name="f34" fmla="*/ f12 f26 1"/>
                <a:gd name="f35" fmla="*/ f29 f26 1"/>
                <a:gd name="f36" fmla="*/ f30 f26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4">
                  <a:pos x="f34" y="f34"/>
                </a:cxn>
                <a:cxn ang="f25">
                  <a:pos x="f35" y="f36"/>
                </a:cxn>
              </a:cxnLst>
              <a:rect l="f31" t="f31" r="f32" b="f33"/>
              <a:pathLst>
                <a:path>
                  <a:moveTo>
                    <a:pt x="f34" y="f34"/>
                  </a:moveTo>
                  <a:lnTo>
                    <a:pt x="f35" y="f36"/>
                  </a:lnTo>
                </a:path>
              </a:pathLst>
            </a:custGeom>
            <a:noFill/>
            <a:ln w="38103" cap="flat">
              <a:solidFill>
                <a:srgbClr val="8E2200"/>
              </a:solidFill>
              <a:prstDash val="solid"/>
              <a:round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2400" b="0" i="0" u="none" strike="noStrike" kern="1200" cap="none" spc="0" baseline="0">
                <a:solidFill>
                  <a:srgbClr val="000000"/>
                </a:solidFill>
                <a:uFillTx/>
                <a:latin typeface="Times New Roman" pitchFamily="18"/>
              </a:endParaRPr>
            </a:p>
          </p:txBody>
        </p:sp>
        <p:sp>
          <p:nvSpPr>
            <p:cNvPr id="32" name="Line 42">
              <a:extLst>
                <a:ext uri="{FF2B5EF4-FFF2-40B4-BE49-F238E27FC236}">
                  <a16:creationId xmlns:a16="http://schemas.microsoft.com/office/drawing/2014/main" id="{1FCD1236-4451-C028-2AD6-76AADFE398C0}"/>
                </a:ext>
              </a:extLst>
            </p:cNvPr>
            <p:cNvSpPr/>
            <p:nvPr/>
          </p:nvSpPr>
          <p:spPr>
            <a:xfrm>
              <a:off x="8762996" y="4038603"/>
              <a:ext cx="431797" cy="0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ss"/>
                <a:gd name="f6" fmla="val 0"/>
                <a:gd name="f7" fmla="+- 0 0 -180"/>
                <a:gd name="f8" fmla="+- 0 0 -360"/>
                <a:gd name="f9" fmla="abs f3"/>
                <a:gd name="f10" fmla="abs f4"/>
                <a:gd name="f11" fmla="abs f5"/>
                <a:gd name="f12" fmla="val f6"/>
                <a:gd name="f13" fmla="*/ f7 f0 1"/>
                <a:gd name="f14" fmla="*/ f8 f0 1"/>
                <a:gd name="f15" fmla="?: f9 f3 1"/>
                <a:gd name="f16" fmla="?: f10 f4 1"/>
                <a:gd name="f17" fmla="?: f11 f5 1"/>
                <a:gd name="f18" fmla="*/ f13 1 f2"/>
                <a:gd name="f19" fmla="*/ f14 1 f2"/>
                <a:gd name="f20" fmla="*/ f15 1 21600"/>
                <a:gd name="f21" fmla="*/ f16 1 21600"/>
                <a:gd name="f22" fmla="*/ 21600 f15 1"/>
                <a:gd name="f23" fmla="*/ 21600 f16 1"/>
                <a:gd name="f24" fmla="+- f18 0 f1"/>
                <a:gd name="f25" fmla="+- f19 0 f1"/>
                <a:gd name="f26" fmla="min f21 f20"/>
                <a:gd name="f27" fmla="*/ f22 1 f17"/>
                <a:gd name="f28" fmla="*/ f23 1 f17"/>
                <a:gd name="f29" fmla="val f27"/>
                <a:gd name="f30" fmla="val f28"/>
                <a:gd name="f31" fmla="*/ f6 f26 1"/>
                <a:gd name="f32" fmla="*/ f27 f26 1"/>
                <a:gd name="f33" fmla="*/ f28 f26 1"/>
                <a:gd name="f34" fmla="*/ f12 f26 1"/>
                <a:gd name="f35" fmla="*/ f29 f26 1"/>
                <a:gd name="f36" fmla="*/ f30 f26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4">
                  <a:pos x="f34" y="f34"/>
                </a:cxn>
                <a:cxn ang="f25">
                  <a:pos x="f35" y="f36"/>
                </a:cxn>
              </a:cxnLst>
              <a:rect l="f31" t="f31" r="f32" b="f33"/>
              <a:pathLst>
                <a:path>
                  <a:moveTo>
                    <a:pt x="f34" y="f34"/>
                  </a:moveTo>
                  <a:lnTo>
                    <a:pt x="f35" y="f36"/>
                  </a:lnTo>
                </a:path>
              </a:pathLst>
            </a:custGeom>
            <a:noFill/>
            <a:ln w="38103" cap="flat">
              <a:solidFill>
                <a:srgbClr val="8E2200"/>
              </a:solidFill>
              <a:prstDash val="solid"/>
              <a:round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2400" b="0" i="0" u="none" strike="noStrike" kern="1200" cap="none" spc="0" baseline="0">
                <a:solidFill>
                  <a:srgbClr val="000000"/>
                </a:solidFill>
                <a:uFillTx/>
                <a:latin typeface="Times New Roman" pitchFamily="18"/>
              </a:endParaRPr>
            </a:p>
          </p:txBody>
        </p:sp>
        <p:sp>
          <p:nvSpPr>
            <p:cNvPr id="33" name="Line 43">
              <a:extLst>
                <a:ext uri="{FF2B5EF4-FFF2-40B4-BE49-F238E27FC236}">
                  <a16:creationId xmlns:a16="http://schemas.microsoft.com/office/drawing/2014/main" id="{E25C8962-7D38-532E-E1A4-363400C163DE}"/>
                </a:ext>
              </a:extLst>
            </p:cNvPr>
            <p:cNvSpPr/>
            <p:nvPr/>
          </p:nvSpPr>
          <p:spPr>
            <a:xfrm>
              <a:off x="8762996" y="4267203"/>
              <a:ext cx="431797" cy="0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ss"/>
                <a:gd name="f6" fmla="val 0"/>
                <a:gd name="f7" fmla="+- 0 0 -180"/>
                <a:gd name="f8" fmla="+- 0 0 -360"/>
                <a:gd name="f9" fmla="abs f3"/>
                <a:gd name="f10" fmla="abs f4"/>
                <a:gd name="f11" fmla="abs f5"/>
                <a:gd name="f12" fmla="val f6"/>
                <a:gd name="f13" fmla="*/ f7 f0 1"/>
                <a:gd name="f14" fmla="*/ f8 f0 1"/>
                <a:gd name="f15" fmla="?: f9 f3 1"/>
                <a:gd name="f16" fmla="?: f10 f4 1"/>
                <a:gd name="f17" fmla="?: f11 f5 1"/>
                <a:gd name="f18" fmla="*/ f13 1 f2"/>
                <a:gd name="f19" fmla="*/ f14 1 f2"/>
                <a:gd name="f20" fmla="*/ f15 1 21600"/>
                <a:gd name="f21" fmla="*/ f16 1 21600"/>
                <a:gd name="f22" fmla="*/ 21600 f15 1"/>
                <a:gd name="f23" fmla="*/ 21600 f16 1"/>
                <a:gd name="f24" fmla="+- f18 0 f1"/>
                <a:gd name="f25" fmla="+- f19 0 f1"/>
                <a:gd name="f26" fmla="min f21 f20"/>
                <a:gd name="f27" fmla="*/ f22 1 f17"/>
                <a:gd name="f28" fmla="*/ f23 1 f17"/>
                <a:gd name="f29" fmla="val f27"/>
                <a:gd name="f30" fmla="val f28"/>
                <a:gd name="f31" fmla="*/ f6 f26 1"/>
                <a:gd name="f32" fmla="*/ f27 f26 1"/>
                <a:gd name="f33" fmla="*/ f28 f26 1"/>
                <a:gd name="f34" fmla="*/ f12 f26 1"/>
                <a:gd name="f35" fmla="*/ f29 f26 1"/>
                <a:gd name="f36" fmla="*/ f30 f26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4">
                  <a:pos x="f34" y="f34"/>
                </a:cxn>
                <a:cxn ang="f25">
                  <a:pos x="f35" y="f36"/>
                </a:cxn>
              </a:cxnLst>
              <a:rect l="f31" t="f31" r="f32" b="f33"/>
              <a:pathLst>
                <a:path>
                  <a:moveTo>
                    <a:pt x="f34" y="f34"/>
                  </a:moveTo>
                  <a:lnTo>
                    <a:pt x="f35" y="f36"/>
                  </a:lnTo>
                </a:path>
              </a:pathLst>
            </a:custGeom>
            <a:noFill/>
            <a:ln w="38103" cap="flat">
              <a:solidFill>
                <a:srgbClr val="8E2200"/>
              </a:solidFill>
              <a:prstDash val="solid"/>
              <a:round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2400" b="0" i="0" u="none" strike="noStrike" kern="1200" cap="none" spc="0" baseline="0">
                <a:solidFill>
                  <a:srgbClr val="000000"/>
                </a:solidFill>
                <a:uFillTx/>
                <a:latin typeface="Times New Roman" pitchFamily="18"/>
              </a:endParaRPr>
            </a:p>
          </p:txBody>
        </p:sp>
        <p:sp>
          <p:nvSpPr>
            <p:cNvPr id="34" name="Line 44">
              <a:extLst>
                <a:ext uri="{FF2B5EF4-FFF2-40B4-BE49-F238E27FC236}">
                  <a16:creationId xmlns:a16="http://schemas.microsoft.com/office/drawing/2014/main" id="{164DEC82-3703-51A7-82BE-6486523AA520}"/>
                </a:ext>
              </a:extLst>
            </p:cNvPr>
            <p:cNvSpPr/>
            <p:nvPr/>
          </p:nvSpPr>
          <p:spPr>
            <a:xfrm>
              <a:off x="8762996" y="4495803"/>
              <a:ext cx="431797" cy="0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ss"/>
                <a:gd name="f6" fmla="val 0"/>
                <a:gd name="f7" fmla="+- 0 0 -180"/>
                <a:gd name="f8" fmla="+- 0 0 -360"/>
                <a:gd name="f9" fmla="abs f3"/>
                <a:gd name="f10" fmla="abs f4"/>
                <a:gd name="f11" fmla="abs f5"/>
                <a:gd name="f12" fmla="val f6"/>
                <a:gd name="f13" fmla="*/ f7 f0 1"/>
                <a:gd name="f14" fmla="*/ f8 f0 1"/>
                <a:gd name="f15" fmla="?: f9 f3 1"/>
                <a:gd name="f16" fmla="?: f10 f4 1"/>
                <a:gd name="f17" fmla="?: f11 f5 1"/>
                <a:gd name="f18" fmla="*/ f13 1 f2"/>
                <a:gd name="f19" fmla="*/ f14 1 f2"/>
                <a:gd name="f20" fmla="*/ f15 1 21600"/>
                <a:gd name="f21" fmla="*/ f16 1 21600"/>
                <a:gd name="f22" fmla="*/ 21600 f15 1"/>
                <a:gd name="f23" fmla="*/ 21600 f16 1"/>
                <a:gd name="f24" fmla="+- f18 0 f1"/>
                <a:gd name="f25" fmla="+- f19 0 f1"/>
                <a:gd name="f26" fmla="min f21 f20"/>
                <a:gd name="f27" fmla="*/ f22 1 f17"/>
                <a:gd name="f28" fmla="*/ f23 1 f17"/>
                <a:gd name="f29" fmla="val f27"/>
                <a:gd name="f30" fmla="val f28"/>
                <a:gd name="f31" fmla="*/ f6 f26 1"/>
                <a:gd name="f32" fmla="*/ f27 f26 1"/>
                <a:gd name="f33" fmla="*/ f28 f26 1"/>
                <a:gd name="f34" fmla="*/ f12 f26 1"/>
                <a:gd name="f35" fmla="*/ f29 f26 1"/>
                <a:gd name="f36" fmla="*/ f30 f26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4">
                  <a:pos x="f34" y="f34"/>
                </a:cxn>
                <a:cxn ang="f25">
                  <a:pos x="f35" y="f36"/>
                </a:cxn>
              </a:cxnLst>
              <a:rect l="f31" t="f31" r="f32" b="f33"/>
              <a:pathLst>
                <a:path>
                  <a:moveTo>
                    <a:pt x="f34" y="f34"/>
                  </a:moveTo>
                  <a:lnTo>
                    <a:pt x="f35" y="f36"/>
                  </a:lnTo>
                </a:path>
              </a:pathLst>
            </a:custGeom>
            <a:noFill/>
            <a:ln w="38103" cap="flat">
              <a:solidFill>
                <a:srgbClr val="8E2200"/>
              </a:solidFill>
              <a:prstDash val="solid"/>
              <a:round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2400" b="0" i="0" u="none" strike="noStrike" kern="1200" cap="none" spc="0" baseline="0">
                <a:solidFill>
                  <a:srgbClr val="000000"/>
                </a:solidFill>
                <a:uFillTx/>
                <a:latin typeface="Times New Roman" pitchFamily="18"/>
              </a:endParaRPr>
            </a:p>
          </p:txBody>
        </p:sp>
      </p:grpSp>
      <p:sp>
        <p:nvSpPr>
          <p:cNvPr id="35" name="Text Box 46">
            <a:extLst>
              <a:ext uri="{FF2B5EF4-FFF2-40B4-BE49-F238E27FC236}">
                <a16:creationId xmlns:a16="http://schemas.microsoft.com/office/drawing/2014/main" id="{DCDA2F81-DC5E-E5AD-01A3-CBC79C449B1B}"/>
              </a:ext>
            </a:extLst>
          </p:cNvPr>
          <p:cNvSpPr txBox="1"/>
          <p:nvPr/>
        </p:nvSpPr>
        <p:spPr>
          <a:xfrm>
            <a:off x="1295403" y="4724403"/>
            <a:ext cx="4038603" cy="137000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400" b="0" i="0" u="none" strike="noStrike" kern="1200" cap="none" spc="0" baseline="0">
                <a:solidFill>
                  <a:srgbClr val="000000"/>
                </a:solidFill>
                <a:uFillTx/>
                <a:latin typeface="Times New Roman" pitchFamily="18"/>
              </a:rPr>
              <a:t>Voltage is the work per charge done against the electric field. 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240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Effect">
                      <p:stCondLst>
                        <p:cond delay="indefinite"/>
                      </p:stCondLst>
                      <p:childTnLst>
                        <p:par>
                          <p:cTn id="4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Effect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Effect">
                      <p:stCondLst>
                        <p:cond delay="indefinite"/>
                      </p:stCondLst>
                      <p:childTnLst>
                        <p:par>
                          <p:cTn id="15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3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7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DD91EC83-8EC8-9DB2-5951-0A440A5F0ABC}"/>
              </a:ext>
            </a:extLst>
          </p:cNvPr>
          <p:cNvSpPr/>
          <p:nvPr/>
        </p:nvSpPr>
        <p:spPr>
          <a:xfrm>
            <a:off x="3352803" y="457200"/>
            <a:ext cx="1981203" cy="685800"/>
          </a:xfrm>
          <a:prstGeom prst="rect">
            <a:avLst/>
          </a:prstGeom>
          <a:solidFill>
            <a:srgbClr val="969696"/>
          </a:solidFill>
          <a:ln w="9528" cap="flat">
            <a:solidFill>
              <a:srgbClr val="000000"/>
            </a:solidFill>
            <a:prstDash val="solid"/>
            <a:miter/>
          </a:ln>
        </p:spPr>
        <p:txBody>
          <a:bodyPr vert="horz" wrap="non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3600" dirty="0">
                <a:solidFill>
                  <a:srgbClr val="0000FF"/>
                </a:solidFill>
                <a:latin typeface="Times New Roman" pitchFamily="18"/>
              </a:rPr>
              <a:t>One Volt</a:t>
            </a:r>
            <a:endParaRPr lang="en-US" sz="3600" b="0" i="0" u="none" strike="noStrike" kern="1200" cap="none" spc="0" baseline="0" dirty="0">
              <a:solidFill>
                <a:srgbClr val="0000FF"/>
              </a:solidFill>
              <a:uFillTx/>
              <a:latin typeface="Times New Roman" pitchFamily="18"/>
            </a:endParaRPr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0F077156-A342-831F-0C6B-99391E463A72}"/>
              </a:ext>
            </a:extLst>
          </p:cNvPr>
          <p:cNvSpPr/>
          <p:nvPr/>
        </p:nvSpPr>
        <p:spPr>
          <a:xfrm>
            <a:off x="1219196" y="1371600"/>
            <a:ext cx="3352803" cy="761996"/>
          </a:xfrm>
          <a:prstGeom prst="rect">
            <a:avLst/>
          </a:prstGeom>
          <a:solidFill>
            <a:srgbClr val="969696"/>
          </a:solidFill>
          <a:ln w="9528" cap="flat">
            <a:solidFill>
              <a:srgbClr val="000000"/>
            </a:solidFill>
            <a:prstDash val="solid"/>
            <a:miter/>
          </a:ln>
        </p:spPr>
        <p:txBody>
          <a:bodyPr vert="horz" wrap="none" lIns="91440" tIns="45720" rIns="91440" bIns="4572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240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</a:endParaRPr>
          </a:p>
        </p:txBody>
      </p:sp>
      <p:sp>
        <p:nvSpPr>
          <p:cNvPr id="4" name="Text Box 6">
            <a:extLst>
              <a:ext uri="{FF2B5EF4-FFF2-40B4-BE49-F238E27FC236}">
                <a16:creationId xmlns:a16="http://schemas.microsoft.com/office/drawing/2014/main" id="{41FD87B6-B4A6-40C2-3D8E-A9B793675AC9}"/>
              </a:ext>
            </a:extLst>
          </p:cNvPr>
          <p:cNvSpPr txBox="1"/>
          <p:nvPr/>
        </p:nvSpPr>
        <p:spPr>
          <a:xfrm>
            <a:off x="1371600" y="1447796"/>
            <a:ext cx="3429000" cy="519114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17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800" b="0" i="0" u="none" strike="noStrike" kern="1200" cap="none" spc="0" baseline="0" dirty="0">
                <a:solidFill>
                  <a:srgbClr val="000000"/>
                </a:solidFill>
                <a:uFillTx/>
                <a:latin typeface="Times New Roman" pitchFamily="18"/>
              </a:rPr>
              <a:t>Definition of voltage</a:t>
            </a:r>
          </a:p>
        </p:txBody>
      </p:sp>
      <p:graphicFrame>
        <p:nvGraphicFramePr>
          <p:cNvPr id="5" name="Object 7">
            <a:extLst>
              <a:ext uri="{FF2B5EF4-FFF2-40B4-BE49-F238E27FC236}">
                <a16:creationId xmlns:a16="http://schemas.microsoft.com/office/drawing/2014/main" id="{F5CDEF40-9200-FE0E-0BAA-D34F8E3F96CE}"/>
              </a:ext>
            </a:extLst>
          </p:cNvPr>
          <p:cNvGraphicFramePr/>
          <p:nvPr/>
        </p:nvGraphicFramePr>
        <p:xfrm>
          <a:off x="3810003" y="2438403"/>
          <a:ext cx="685800" cy="628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10972800" imgH="10058400" progId="">
                  <p:embed/>
                </p:oleObj>
              </mc:Choice>
              <mc:Fallback>
                <p:oleObj r:id="rId2" imgW="10972800" imgH="10058400" progId="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3810003" y="2438403"/>
                        <a:ext cx="685800" cy="628650"/>
                      </a:xfrm>
                      <a:prstGeom prst="rect">
                        <a:avLst/>
                      </a:prstGeom>
                      <a:noFill/>
                      <a:ln cap="flat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36">
            <a:extLst>
              <a:ext uri="{FF2B5EF4-FFF2-40B4-BE49-F238E27FC236}">
                <a16:creationId xmlns:a16="http://schemas.microsoft.com/office/drawing/2014/main" id="{04590436-FA5E-BCC6-3907-5D242565EAE2}"/>
              </a:ext>
            </a:extLst>
          </p:cNvPr>
          <p:cNvSpPr/>
          <p:nvPr/>
        </p:nvSpPr>
        <p:spPr>
          <a:xfrm>
            <a:off x="990596" y="3429000"/>
            <a:ext cx="7391396" cy="1196977"/>
          </a:xfrm>
          <a:prstGeom prst="rect">
            <a:avLst/>
          </a:prstGeom>
          <a:solidFill>
            <a:srgbClr val="FFFF00"/>
          </a:solidFill>
          <a:ln w="9528" cap="flat">
            <a:solidFill>
              <a:srgbClr val="8E2200"/>
            </a:solidFill>
            <a:prstDash val="solid"/>
            <a:miter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400" b="1" i="0" u="none" strike="noStrike" kern="1200" cap="none" spc="0" baseline="0">
                <a:solidFill>
                  <a:srgbClr val="000000"/>
                </a:solidFill>
                <a:uFillTx/>
                <a:latin typeface="Times New Roman" pitchFamily="18"/>
              </a:rPr>
              <a:t>One volt is the potential difference (voltage) between two points when one joule of work is used to move one coulomb of charge from one point to the other.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7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0A45E2FE-8872-2DFA-0311-C8BFE229568B}"/>
              </a:ext>
            </a:extLst>
          </p:cNvPr>
          <p:cNvSpPr/>
          <p:nvPr/>
        </p:nvSpPr>
        <p:spPr>
          <a:xfrm>
            <a:off x="3352803" y="457200"/>
            <a:ext cx="1981203" cy="685800"/>
          </a:xfrm>
          <a:prstGeom prst="rect">
            <a:avLst/>
          </a:prstGeom>
          <a:solidFill>
            <a:srgbClr val="969696"/>
          </a:solidFill>
          <a:ln w="9528" cap="flat">
            <a:solidFill>
              <a:srgbClr val="000000"/>
            </a:solidFill>
            <a:prstDash val="solid"/>
            <a:miter/>
          </a:ln>
        </p:spPr>
        <p:txBody>
          <a:bodyPr vert="horz" wrap="non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3600" b="0" i="0" u="none" strike="noStrike" kern="1200" cap="none" spc="0" baseline="0">
                <a:solidFill>
                  <a:srgbClr val="0000FF"/>
                </a:solidFill>
                <a:uFillTx/>
                <a:latin typeface="Times New Roman" pitchFamily="18"/>
              </a:rPr>
              <a:t>Summary</a:t>
            </a: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15C4B29D-752D-0816-1586-6F455E5B0513}"/>
              </a:ext>
            </a:extLst>
          </p:cNvPr>
          <p:cNvSpPr/>
          <p:nvPr/>
        </p:nvSpPr>
        <p:spPr>
          <a:xfrm>
            <a:off x="1219196" y="1371600"/>
            <a:ext cx="1676396" cy="761996"/>
          </a:xfrm>
          <a:prstGeom prst="rect">
            <a:avLst/>
          </a:prstGeom>
          <a:solidFill>
            <a:srgbClr val="969696"/>
          </a:solidFill>
          <a:ln w="9528" cap="flat">
            <a:solidFill>
              <a:srgbClr val="000000"/>
            </a:solidFill>
            <a:prstDash val="solid"/>
            <a:miter/>
          </a:ln>
        </p:spPr>
        <p:txBody>
          <a:bodyPr vert="horz" wrap="none" lIns="91440" tIns="45720" rIns="91440" bIns="4572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240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</a:endParaRPr>
          </a:p>
        </p:txBody>
      </p:sp>
      <p:sp>
        <p:nvSpPr>
          <p:cNvPr id="4" name="Text Box 4">
            <a:extLst>
              <a:ext uri="{FF2B5EF4-FFF2-40B4-BE49-F238E27FC236}">
                <a16:creationId xmlns:a16="http://schemas.microsoft.com/office/drawing/2014/main" id="{290BDD0F-91D6-4B4C-95FB-E7BA103B7FFC}"/>
              </a:ext>
            </a:extLst>
          </p:cNvPr>
          <p:cNvSpPr txBox="1"/>
          <p:nvPr/>
        </p:nvSpPr>
        <p:spPr>
          <a:xfrm>
            <a:off x="1295403" y="2209803"/>
            <a:ext cx="6858000" cy="519114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17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800" b="0" i="0" u="none" strike="noStrike" kern="1200" cap="none" spc="0" baseline="0">
                <a:solidFill>
                  <a:srgbClr val="000000"/>
                </a:solidFill>
                <a:uFillTx/>
                <a:latin typeface="Times New Roman" pitchFamily="18"/>
              </a:rPr>
              <a:t>Voltage is responsible for establishing current.</a:t>
            </a:r>
          </a:p>
        </p:txBody>
      </p:sp>
      <p:sp>
        <p:nvSpPr>
          <p:cNvPr id="5" name="Text Box 6">
            <a:extLst>
              <a:ext uri="{FF2B5EF4-FFF2-40B4-BE49-F238E27FC236}">
                <a16:creationId xmlns:a16="http://schemas.microsoft.com/office/drawing/2014/main" id="{50C38F18-AFEE-BFD6-2472-69365CCEA5FA}"/>
              </a:ext>
            </a:extLst>
          </p:cNvPr>
          <p:cNvSpPr txBox="1"/>
          <p:nvPr/>
        </p:nvSpPr>
        <p:spPr>
          <a:xfrm>
            <a:off x="1219196" y="3047996"/>
            <a:ext cx="3047996" cy="2647946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400" b="0" i="0" u="none" strike="noStrike" kern="1200" cap="none" spc="0" baseline="0">
                <a:solidFill>
                  <a:srgbClr val="000000"/>
                </a:solidFill>
                <a:uFillTx/>
                <a:latin typeface="Times New Roman" pitchFamily="18"/>
              </a:rPr>
              <a:t>Sources of voltage include batteries, solar cells, and generators. A Cu-Zn battery, such as you might construct in a chemistry class, is shown. </a:t>
            </a:r>
          </a:p>
        </p:txBody>
      </p:sp>
      <p:grpSp>
        <p:nvGrpSpPr>
          <p:cNvPr id="6" name="Group 7">
            <a:extLst>
              <a:ext uri="{FF2B5EF4-FFF2-40B4-BE49-F238E27FC236}">
                <a16:creationId xmlns:a16="http://schemas.microsoft.com/office/drawing/2014/main" id="{55ADF6D7-B2F2-1EAD-C9FA-CAA42CCCC045}"/>
              </a:ext>
            </a:extLst>
          </p:cNvPr>
          <p:cNvGrpSpPr/>
          <p:nvPr/>
        </p:nvGrpSpPr>
        <p:grpSpPr>
          <a:xfrm>
            <a:off x="4343400" y="2819396"/>
            <a:ext cx="4267203" cy="3200400"/>
            <a:chOff x="4343400" y="2819396"/>
            <a:chExt cx="4267203" cy="3200400"/>
          </a:xfrm>
        </p:grpSpPr>
        <p:sp>
          <p:nvSpPr>
            <p:cNvPr id="7" name="Rectangle 8">
              <a:extLst>
                <a:ext uri="{FF2B5EF4-FFF2-40B4-BE49-F238E27FC236}">
                  <a16:creationId xmlns:a16="http://schemas.microsoft.com/office/drawing/2014/main" id="{B08885E2-892C-BEC7-FC50-D424B99D2E80}"/>
                </a:ext>
              </a:extLst>
            </p:cNvPr>
            <p:cNvSpPr/>
            <p:nvPr/>
          </p:nvSpPr>
          <p:spPr>
            <a:xfrm>
              <a:off x="4343400" y="2819396"/>
              <a:ext cx="4267203" cy="3047996"/>
            </a:xfrm>
            <a:prstGeom prst="rect">
              <a:avLst/>
            </a:prstGeom>
            <a:solidFill>
              <a:srgbClr val="FFCC66"/>
            </a:solidFill>
            <a:ln w="9528" cap="flat">
              <a:solidFill>
                <a:srgbClr val="000000"/>
              </a:solidFill>
              <a:prstDash val="solid"/>
              <a:miter/>
            </a:ln>
          </p:spPr>
          <p:txBody>
            <a:bodyPr vert="horz" wrap="none" lIns="91440" tIns="45720" rIns="91440" bIns="45720" anchor="ctr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2400" b="0" i="0" u="none" strike="noStrike" kern="1200" cap="none" spc="0" baseline="0">
                <a:solidFill>
                  <a:srgbClr val="000000"/>
                </a:solidFill>
                <a:uFillTx/>
                <a:latin typeface="Times New Roman" pitchFamily="18"/>
              </a:endParaRPr>
            </a:p>
          </p:txBody>
        </p:sp>
        <p:graphicFrame>
          <p:nvGraphicFramePr>
            <p:cNvPr id="8" name="Object 9">
              <a:extLst>
                <a:ext uri="{FF2B5EF4-FFF2-40B4-BE49-F238E27FC236}">
                  <a16:creationId xmlns:a16="http://schemas.microsoft.com/office/drawing/2014/main" id="{F8CD2C61-0829-5B82-2134-AB62961C81DC}"/>
                </a:ext>
              </a:extLst>
            </p:cNvPr>
            <p:cNvGraphicFramePr/>
            <p:nvPr/>
          </p:nvGraphicFramePr>
          <p:xfrm>
            <a:off x="4495803" y="2971800"/>
            <a:ext cx="4038603" cy="304799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2" imgW="2705100" imgH="2047875" progId="">
                    <p:embed/>
                  </p:oleObj>
                </mc:Choice>
                <mc:Fallback>
                  <p:oleObj r:id="rId2" imgW="2705100" imgH="2047875" progId="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3"/>
                        <a:stretch>
                          <a:fillRect/>
                        </a:stretch>
                      </p:blipFill>
                      <p:spPr>
                        <a:xfrm>
                          <a:off x="4495803" y="2971800"/>
                          <a:ext cx="4038603" cy="3047996"/>
                        </a:xfrm>
                        <a:prstGeom prst="rect">
                          <a:avLst/>
                        </a:prstGeom>
                        <a:noFill/>
                        <a:ln cap="flat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9" name="Text Box 10">
            <a:extLst>
              <a:ext uri="{FF2B5EF4-FFF2-40B4-BE49-F238E27FC236}">
                <a16:creationId xmlns:a16="http://schemas.microsoft.com/office/drawing/2014/main" id="{D4BCB74E-2F12-E0EF-4022-4654A1E062CF}"/>
              </a:ext>
            </a:extLst>
          </p:cNvPr>
          <p:cNvSpPr txBox="1"/>
          <p:nvPr/>
        </p:nvSpPr>
        <p:spPr>
          <a:xfrm>
            <a:off x="1371600" y="1524003"/>
            <a:ext cx="2209803" cy="519114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17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800" b="0" i="0" u="none" strike="noStrike" kern="1200" cap="none" spc="0" baseline="0">
                <a:solidFill>
                  <a:srgbClr val="000000"/>
                </a:solidFill>
                <a:uFillTx/>
                <a:latin typeface="Times New Roman" pitchFamily="18"/>
              </a:rPr>
              <a:t>Voltage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Effect">
                      <p:stCondLst>
                        <p:cond delay="indefinite"/>
                      </p:stCondLst>
                      <p:childTnLst>
                        <p:par>
                          <p:cTn id="4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6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185F90F7-DE79-E731-DEBD-F407D44D8E2D}"/>
              </a:ext>
            </a:extLst>
          </p:cNvPr>
          <p:cNvSpPr/>
          <p:nvPr/>
        </p:nvSpPr>
        <p:spPr>
          <a:xfrm>
            <a:off x="3352803" y="457200"/>
            <a:ext cx="1981203" cy="685800"/>
          </a:xfrm>
          <a:prstGeom prst="rect">
            <a:avLst/>
          </a:prstGeom>
          <a:solidFill>
            <a:srgbClr val="969696"/>
          </a:solidFill>
          <a:ln w="9528" cap="flat">
            <a:solidFill>
              <a:srgbClr val="000000"/>
            </a:solidFill>
            <a:prstDash val="solid"/>
            <a:miter/>
          </a:ln>
        </p:spPr>
        <p:txBody>
          <a:bodyPr vert="horz" wrap="non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4000" b="1" dirty="0">
                <a:solidFill>
                  <a:srgbClr val="0000FF"/>
                </a:solidFill>
                <a:latin typeface="Times New Roman" pitchFamily="18"/>
              </a:rPr>
              <a:t>Current</a:t>
            </a:r>
            <a:endParaRPr lang="en-US" sz="4000" b="1" i="0" u="none" strike="noStrike" kern="1200" cap="none" spc="0" baseline="0" dirty="0">
              <a:solidFill>
                <a:srgbClr val="0000FF"/>
              </a:solidFill>
              <a:uFillTx/>
              <a:latin typeface="Times New Roman" pitchFamily="18"/>
            </a:endParaRP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602B5639-7923-3317-CA89-83C7D850B5B9}"/>
              </a:ext>
            </a:extLst>
          </p:cNvPr>
          <p:cNvSpPr/>
          <p:nvPr/>
        </p:nvSpPr>
        <p:spPr>
          <a:xfrm>
            <a:off x="1219196" y="1371600"/>
            <a:ext cx="7086600" cy="1143000"/>
          </a:xfrm>
          <a:prstGeom prst="rect">
            <a:avLst/>
          </a:prstGeom>
          <a:solidFill>
            <a:srgbClr val="969696"/>
          </a:solidFill>
          <a:ln w="9528" cap="flat">
            <a:solidFill>
              <a:srgbClr val="000000"/>
            </a:solidFill>
            <a:prstDash val="solid"/>
            <a:miter/>
          </a:ln>
        </p:spPr>
        <p:txBody>
          <a:bodyPr vert="horz" wrap="none" lIns="91440" tIns="45720" rIns="91440" bIns="4572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240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</a:endParaRPr>
          </a:p>
        </p:txBody>
      </p:sp>
      <p:sp>
        <p:nvSpPr>
          <p:cNvPr id="4" name="Text Box 4">
            <a:extLst>
              <a:ext uri="{FF2B5EF4-FFF2-40B4-BE49-F238E27FC236}">
                <a16:creationId xmlns:a16="http://schemas.microsoft.com/office/drawing/2014/main" id="{D1198FD9-4A42-458B-2BFC-BA80DE3C1FE8}"/>
              </a:ext>
            </a:extLst>
          </p:cNvPr>
          <p:cNvSpPr txBox="1"/>
          <p:nvPr/>
        </p:nvSpPr>
        <p:spPr>
          <a:xfrm>
            <a:off x="1371600" y="1447796"/>
            <a:ext cx="6858000" cy="946147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17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800" b="0" i="0" u="none" strike="noStrike" kern="1200" cap="none" spc="0" baseline="0">
                <a:solidFill>
                  <a:srgbClr val="000000"/>
                </a:solidFill>
                <a:uFillTx/>
                <a:latin typeface="Times New Roman" pitchFamily="18"/>
              </a:rPr>
              <a:t>Current (</a:t>
            </a:r>
            <a:r>
              <a:rPr lang="en-US" sz="2800" b="0" i="1" u="none" strike="noStrike" kern="1200" cap="none" spc="0" baseline="0">
                <a:solidFill>
                  <a:srgbClr val="000000"/>
                </a:solidFill>
                <a:uFillTx/>
                <a:latin typeface="Times New Roman" pitchFamily="18"/>
              </a:rPr>
              <a:t>I</a:t>
            </a:r>
            <a:r>
              <a:rPr lang="en-US" sz="2800" b="0" i="0" u="none" strike="noStrike" kern="1200" cap="none" spc="0" baseline="0">
                <a:solidFill>
                  <a:srgbClr val="000000"/>
                </a:solidFill>
                <a:uFillTx/>
                <a:latin typeface="Times New Roman" pitchFamily="18"/>
              </a:rPr>
              <a:t>) is the amount of charge (</a:t>
            </a:r>
            <a:r>
              <a:rPr lang="en-US" sz="2800" b="0" i="1" u="none" strike="noStrike" kern="1200" cap="none" spc="0" baseline="0">
                <a:solidFill>
                  <a:srgbClr val="000000"/>
                </a:solidFill>
                <a:uFillTx/>
                <a:latin typeface="Times New Roman" pitchFamily="18"/>
              </a:rPr>
              <a:t>Q</a:t>
            </a:r>
            <a:r>
              <a:rPr lang="en-US" sz="2800" b="0" i="0" u="none" strike="noStrike" kern="1200" cap="none" spc="0" baseline="0">
                <a:solidFill>
                  <a:srgbClr val="000000"/>
                </a:solidFill>
                <a:uFillTx/>
                <a:latin typeface="Times New Roman" pitchFamily="18"/>
              </a:rPr>
              <a:t>) that flows past a point in a unit of time (</a:t>
            </a:r>
            <a:r>
              <a:rPr lang="en-US" sz="2800" b="0" i="1" u="none" strike="noStrike" kern="1200" cap="none" spc="0" baseline="0">
                <a:solidFill>
                  <a:srgbClr val="000000"/>
                </a:solidFill>
                <a:uFillTx/>
                <a:latin typeface="Times New Roman" pitchFamily="18"/>
              </a:rPr>
              <a:t>t</a:t>
            </a:r>
            <a:r>
              <a:rPr lang="en-US" sz="2800" b="0" i="0" u="none" strike="noStrike" kern="1200" cap="none" spc="0" baseline="0">
                <a:solidFill>
                  <a:srgbClr val="000000"/>
                </a:solidFill>
                <a:uFillTx/>
                <a:latin typeface="Times New Roman" pitchFamily="18"/>
              </a:rPr>
              <a:t>).  </a:t>
            </a:r>
          </a:p>
        </p:txBody>
      </p:sp>
      <p:graphicFrame>
        <p:nvGraphicFramePr>
          <p:cNvPr id="5" name="Object 5">
            <a:extLst>
              <a:ext uri="{FF2B5EF4-FFF2-40B4-BE49-F238E27FC236}">
                <a16:creationId xmlns:a16="http://schemas.microsoft.com/office/drawing/2014/main" id="{1BD1B5E4-D56E-B9C0-CB45-AB862E2D0AF4}"/>
              </a:ext>
            </a:extLst>
          </p:cNvPr>
          <p:cNvGraphicFramePr/>
          <p:nvPr/>
        </p:nvGraphicFramePr>
        <p:xfrm>
          <a:off x="3390896" y="2667003"/>
          <a:ext cx="609603" cy="59054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9753600" imgH="9448800" progId="">
                  <p:embed/>
                </p:oleObj>
              </mc:Choice>
              <mc:Fallback>
                <p:oleObj r:id="rId2" imgW="9753600" imgH="9448800" progId="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3390896" y="2667003"/>
                        <a:ext cx="609603" cy="590546"/>
                      </a:xfrm>
                      <a:prstGeom prst="rect">
                        <a:avLst/>
                      </a:prstGeom>
                      <a:noFill/>
                      <a:ln cap="flat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 Box 6">
            <a:extLst>
              <a:ext uri="{FF2B5EF4-FFF2-40B4-BE49-F238E27FC236}">
                <a16:creationId xmlns:a16="http://schemas.microsoft.com/office/drawing/2014/main" id="{FC90DF5E-90EC-363E-389E-2488E38FE9D9}"/>
              </a:ext>
            </a:extLst>
          </p:cNvPr>
          <p:cNvSpPr txBox="1"/>
          <p:nvPr/>
        </p:nvSpPr>
        <p:spPr>
          <a:xfrm>
            <a:off x="1219196" y="3352803"/>
            <a:ext cx="6934196" cy="701673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000" b="0" i="0" u="none" strike="noStrike" kern="1200" cap="none" spc="0" baseline="0">
                <a:solidFill>
                  <a:srgbClr val="000000"/>
                </a:solidFill>
                <a:uFillTx/>
                <a:latin typeface="Times New Roman" pitchFamily="18"/>
              </a:rPr>
              <a:t>One ampere is a number of electrons having a total charge of 1 C move through a given cross section in 1 s. </a:t>
            </a:r>
          </a:p>
        </p:txBody>
      </p:sp>
      <p:grpSp>
        <p:nvGrpSpPr>
          <p:cNvPr id="7" name="Group 26">
            <a:extLst>
              <a:ext uri="{FF2B5EF4-FFF2-40B4-BE49-F238E27FC236}">
                <a16:creationId xmlns:a16="http://schemas.microsoft.com/office/drawing/2014/main" id="{98DB3B78-3FFA-8557-EAB5-CCA455C8D890}"/>
              </a:ext>
            </a:extLst>
          </p:cNvPr>
          <p:cNvGrpSpPr/>
          <p:nvPr/>
        </p:nvGrpSpPr>
        <p:grpSpPr>
          <a:xfrm>
            <a:off x="609603" y="4267203"/>
            <a:ext cx="8153403" cy="838203"/>
            <a:chOff x="609603" y="4267203"/>
            <a:chExt cx="8153403" cy="838203"/>
          </a:xfrm>
        </p:grpSpPr>
        <p:sp>
          <p:nvSpPr>
            <p:cNvPr id="8" name="Rectangle 18">
              <a:extLst>
                <a:ext uri="{FF2B5EF4-FFF2-40B4-BE49-F238E27FC236}">
                  <a16:creationId xmlns:a16="http://schemas.microsoft.com/office/drawing/2014/main" id="{82543A33-A2C2-5A3B-1189-5B48C8B66676}"/>
                </a:ext>
              </a:extLst>
            </p:cNvPr>
            <p:cNvSpPr/>
            <p:nvPr/>
          </p:nvSpPr>
          <p:spPr>
            <a:xfrm>
              <a:off x="609603" y="4267203"/>
              <a:ext cx="8153403" cy="838203"/>
            </a:xfrm>
            <a:prstGeom prst="rect">
              <a:avLst/>
            </a:prstGeom>
            <a:solidFill>
              <a:srgbClr val="FFFF00"/>
            </a:solidFill>
            <a:ln w="9528" cap="flat">
              <a:solidFill>
                <a:srgbClr val="000000"/>
              </a:solidFill>
              <a:prstDash val="solid"/>
              <a:miter/>
            </a:ln>
          </p:spPr>
          <p:txBody>
            <a:bodyPr vert="horz" wrap="none" lIns="91440" tIns="45720" rIns="91440" bIns="45720" anchor="ctr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2400" b="0" i="0" u="none" strike="noStrike" kern="1200" cap="none" spc="0" baseline="0">
                <a:solidFill>
                  <a:srgbClr val="000000"/>
                </a:solidFill>
                <a:uFillTx/>
                <a:latin typeface="Times New Roman" pitchFamily="18"/>
              </a:endParaRPr>
            </a:p>
          </p:txBody>
        </p:sp>
        <p:sp>
          <p:nvSpPr>
            <p:cNvPr id="9" name="Oval 10">
              <a:extLst>
                <a:ext uri="{FF2B5EF4-FFF2-40B4-BE49-F238E27FC236}">
                  <a16:creationId xmlns:a16="http://schemas.microsoft.com/office/drawing/2014/main" id="{11B32C2E-6972-9E62-5113-886A03B30F1D}"/>
                </a:ext>
              </a:extLst>
            </p:cNvPr>
            <p:cNvSpPr/>
            <p:nvPr/>
          </p:nvSpPr>
          <p:spPr>
            <a:xfrm>
              <a:off x="4343400" y="4267203"/>
              <a:ext cx="228600" cy="838203"/>
            </a:xfrm>
            <a:custGeom>
              <a:avLst/>
              <a:gdLst>
                <a:gd name="f0" fmla="val 21600000"/>
                <a:gd name="f1" fmla="val 10800000"/>
                <a:gd name="f2" fmla="val 5400000"/>
                <a:gd name="f3" fmla="val 180"/>
                <a:gd name="f4" fmla="val w"/>
                <a:gd name="f5" fmla="val h"/>
                <a:gd name="f6" fmla="val ss"/>
                <a:gd name="f7" fmla="val 0"/>
                <a:gd name="f8" fmla="*/ 5419351 1 1725033"/>
                <a:gd name="f9" fmla="+- 0 0 -360"/>
                <a:gd name="f10" fmla="+- 0 0 -180"/>
                <a:gd name="f11" fmla="abs f4"/>
                <a:gd name="f12" fmla="abs f5"/>
                <a:gd name="f13" fmla="abs f6"/>
                <a:gd name="f14" fmla="val f7"/>
                <a:gd name="f15" fmla="+- 2700000 f2 0"/>
                <a:gd name="f16" fmla="*/ f9 f1 1"/>
                <a:gd name="f17" fmla="*/ f10 f1 1"/>
                <a:gd name="f18" fmla="?: f11 f4 1"/>
                <a:gd name="f19" fmla="?: f12 f5 1"/>
                <a:gd name="f20" fmla="?: f13 f6 1"/>
                <a:gd name="f21" fmla="*/ f15 f8 1"/>
                <a:gd name="f22" fmla="*/ f16 1 f3"/>
                <a:gd name="f23" fmla="*/ f17 1 f3"/>
                <a:gd name="f24" fmla="*/ f18 1 21600"/>
                <a:gd name="f25" fmla="*/ f19 1 21600"/>
                <a:gd name="f26" fmla="*/ 21600 f18 1"/>
                <a:gd name="f27" fmla="*/ 21600 f19 1"/>
                <a:gd name="f28" fmla="*/ f21 1 f1"/>
                <a:gd name="f29" fmla="+- f22 0 f2"/>
                <a:gd name="f30" fmla="+- f23 0 f2"/>
                <a:gd name="f31" fmla="min f25 f24"/>
                <a:gd name="f32" fmla="*/ f26 1 f20"/>
                <a:gd name="f33" fmla="*/ f27 1 f20"/>
                <a:gd name="f34" fmla="+- 0 0 f28"/>
                <a:gd name="f35" fmla="val f32"/>
                <a:gd name="f36" fmla="val f33"/>
                <a:gd name="f37" fmla="+- 0 0 f34"/>
                <a:gd name="f38" fmla="*/ f14 f31 1"/>
                <a:gd name="f39" fmla="+- f36 0 f14"/>
                <a:gd name="f40" fmla="+- f35 0 f14"/>
                <a:gd name="f41" fmla="*/ f37 f1 1"/>
                <a:gd name="f42" fmla="*/ f39 1 2"/>
                <a:gd name="f43" fmla="*/ f40 1 2"/>
                <a:gd name="f44" fmla="*/ f41 1 f8"/>
                <a:gd name="f45" fmla="+- f14 f42 0"/>
                <a:gd name="f46" fmla="+- f14 f43 0"/>
                <a:gd name="f47" fmla="+- f44 0 f2"/>
                <a:gd name="f48" fmla="*/ f43 f31 1"/>
                <a:gd name="f49" fmla="*/ f42 f31 1"/>
                <a:gd name="f50" fmla="cos 1 f47"/>
                <a:gd name="f51" fmla="sin 1 f47"/>
                <a:gd name="f52" fmla="*/ f45 f31 1"/>
                <a:gd name="f53" fmla="+- 0 0 f50"/>
                <a:gd name="f54" fmla="+- 0 0 f51"/>
                <a:gd name="f55" fmla="+- 0 0 f53"/>
                <a:gd name="f56" fmla="+- 0 0 f54"/>
                <a:gd name="f57" fmla="*/ f55 f43 1"/>
                <a:gd name="f58" fmla="*/ f56 f42 1"/>
                <a:gd name="f59" fmla="+- f46 0 f57"/>
                <a:gd name="f60" fmla="+- f46 f57 0"/>
                <a:gd name="f61" fmla="+- f45 0 f58"/>
                <a:gd name="f62" fmla="+- f45 f58 0"/>
                <a:gd name="f63" fmla="*/ f59 f31 1"/>
                <a:gd name="f64" fmla="*/ f61 f31 1"/>
                <a:gd name="f65" fmla="*/ f60 f31 1"/>
                <a:gd name="f66" fmla="*/ f62 f31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9">
                  <a:pos x="f63" y="f64"/>
                </a:cxn>
                <a:cxn ang="f30">
                  <a:pos x="f63" y="f66"/>
                </a:cxn>
                <a:cxn ang="f30">
                  <a:pos x="f65" y="f66"/>
                </a:cxn>
                <a:cxn ang="f29">
                  <a:pos x="f65" y="f64"/>
                </a:cxn>
              </a:cxnLst>
              <a:rect l="f63" t="f64" r="f65" b="f66"/>
              <a:pathLst>
                <a:path>
                  <a:moveTo>
                    <a:pt x="f38" y="f52"/>
                  </a:moveTo>
                  <a:arcTo wR="f48" hR="f49" stAng="f1" swAng="f0"/>
                  <a:close/>
                </a:path>
              </a:pathLst>
            </a:custGeom>
            <a:solidFill>
              <a:srgbClr val="FFCC66"/>
            </a:solidFill>
            <a:ln w="9528" cap="flat">
              <a:solidFill>
                <a:srgbClr val="000000"/>
              </a:solidFill>
              <a:prstDash val="solid"/>
              <a:round/>
            </a:ln>
          </p:spPr>
          <p:txBody>
            <a:bodyPr vert="horz" wrap="none" lIns="91440" tIns="45720" rIns="91440" bIns="45720" anchor="ctr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2400" b="0" i="0" u="none" strike="noStrike" kern="1200" cap="none" spc="0" baseline="0">
                <a:solidFill>
                  <a:srgbClr val="000000"/>
                </a:solidFill>
                <a:uFillTx/>
                <a:latin typeface="Times New Roman" pitchFamily="18"/>
              </a:endParaRPr>
            </a:p>
          </p:txBody>
        </p:sp>
      </p:grpSp>
      <p:sp>
        <p:nvSpPr>
          <p:cNvPr id="10" name="Oval 11">
            <a:extLst>
              <a:ext uri="{FF2B5EF4-FFF2-40B4-BE49-F238E27FC236}">
                <a16:creationId xmlns:a16="http://schemas.microsoft.com/office/drawing/2014/main" id="{81064161-EA96-AF8F-9B97-E6FE96C18251}"/>
              </a:ext>
            </a:extLst>
          </p:cNvPr>
          <p:cNvSpPr/>
          <p:nvPr/>
        </p:nvSpPr>
        <p:spPr>
          <a:xfrm>
            <a:off x="9829800" y="4419596"/>
            <a:ext cx="76196" cy="76196"/>
          </a:xfrm>
          <a:custGeom>
            <a:avLst/>
            <a:gdLst>
              <a:gd name="f0" fmla="val 21600000"/>
              <a:gd name="f1" fmla="val 10800000"/>
              <a:gd name="f2" fmla="val 5400000"/>
              <a:gd name="f3" fmla="val 18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+- 0 0 -360"/>
              <a:gd name="f10" fmla="+- 0 0 -180"/>
              <a:gd name="f11" fmla="abs f4"/>
              <a:gd name="f12" fmla="abs f5"/>
              <a:gd name="f13" fmla="abs f6"/>
              <a:gd name="f14" fmla="val f7"/>
              <a:gd name="f15" fmla="+- 2700000 f2 0"/>
              <a:gd name="f16" fmla="*/ f9 f1 1"/>
              <a:gd name="f17" fmla="*/ f10 f1 1"/>
              <a:gd name="f18" fmla="?: f11 f4 1"/>
              <a:gd name="f19" fmla="?: f12 f5 1"/>
              <a:gd name="f20" fmla="?: f13 f6 1"/>
              <a:gd name="f21" fmla="*/ f15 f8 1"/>
              <a:gd name="f22" fmla="*/ f16 1 f3"/>
              <a:gd name="f23" fmla="*/ f17 1 f3"/>
              <a:gd name="f24" fmla="*/ f18 1 21600"/>
              <a:gd name="f25" fmla="*/ f19 1 21600"/>
              <a:gd name="f26" fmla="*/ 21600 f18 1"/>
              <a:gd name="f27" fmla="*/ 21600 f19 1"/>
              <a:gd name="f28" fmla="*/ f21 1 f1"/>
              <a:gd name="f29" fmla="+- f22 0 f2"/>
              <a:gd name="f30" fmla="+- f23 0 f2"/>
              <a:gd name="f31" fmla="min f25 f24"/>
              <a:gd name="f32" fmla="*/ f26 1 f20"/>
              <a:gd name="f33" fmla="*/ f27 1 f20"/>
              <a:gd name="f34" fmla="+- 0 0 f28"/>
              <a:gd name="f35" fmla="val f32"/>
              <a:gd name="f36" fmla="val f33"/>
              <a:gd name="f37" fmla="+- 0 0 f34"/>
              <a:gd name="f38" fmla="*/ f14 f31 1"/>
              <a:gd name="f39" fmla="+- f36 0 f14"/>
              <a:gd name="f40" fmla="+- f35 0 f14"/>
              <a:gd name="f41" fmla="*/ f37 f1 1"/>
              <a:gd name="f42" fmla="*/ f39 1 2"/>
              <a:gd name="f43" fmla="*/ f40 1 2"/>
              <a:gd name="f44" fmla="*/ f41 1 f8"/>
              <a:gd name="f45" fmla="+- f14 f42 0"/>
              <a:gd name="f46" fmla="+- f14 f43 0"/>
              <a:gd name="f47" fmla="+- f44 0 f2"/>
              <a:gd name="f48" fmla="*/ f43 f31 1"/>
              <a:gd name="f49" fmla="*/ f42 f31 1"/>
              <a:gd name="f50" fmla="cos 1 f47"/>
              <a:gd name="f51" fmla="sin 1 f47"/>
              <a:gd name="f52" fmla="*/ f45 f31 1"/>
              <a:gd name="f53" fmla="+- 0 0 f50"/>
              <a:gd name="f54" fmla="+- 0 0 f51"/>
              <a:gd name="f55" fmla="+- 0 0 f53"/>
              <a:gd name="f56" fmla="+- 0 0 f54"/>
              <a:gd name="f57" fmla="*/ f55 f43 1"/>
              <a:gd name="f58" fmla="*/ f56 f42 1"/>
              <a:gd name="f59" fmla="+- f46 0 f57"/>
              <a:gd name="f60" fmla="+- f46 f57 0"/>
              <a:gd name="f61" fmla="+- f45 0 f58"/>
              <a:gd name="f62" fmla="+- f45 f58 0"/>
              <a:gd name="f63" fmla="*/ f59 f31 1"/>
              <a:gd name="f64" fmla="*/ f61 f31 1"/>
              <a:gd name="f65" fmla="*/ f60 f31 1"/>
              <a:gd name="f66" fmla="*/ f62 f31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63" y="f64"/>
              </a:cxn>
              <a:cxn ang="f30">
                <a:pos x="f63" y="f66"/>
              </a:cxn>
              <a:cxn ang="f30">
                <a:pos x="f65" y="f66"/>
              </a:cxn>
              <a:cxn ang="f29">
                <a:pos x="f65" y="f64"/>
              </a:cxn>
            </a:cxnLst>
            <a:rect l="f63" t="f64" r="f65" b="f66"/>
            <a:pathLst>
              <a:path>
                <a:moveTo>
                  <a:pt x="f38" y="f52"/>
                </a:moveTo>
                <a:arcTo wR="f48" hR="f49" stAng="f1" swAng="f0"/>
                <a:close/>
              </a:path>
            </a:pathLst>
          </a:custGeom>
          <a:solidFill>
            <a:srgbClr val="66CCFF"/>
          </a:solidFill>
          <a:ln w="9528" cap="flat">
            <a:solidFill>
              <a:srgbClr val="000000"/>
            </a:solidFill>
            <a:prstDash val="solid"/>
            <a:round/>
          </a:ln>
        </p:spPr>
        <p:txBody>
          <a:bodyPr vert="horz" wrap="none" lIns="91440" tIns="45720" rIns="91440" bIns="4572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240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</a:endParaRPr>
          </a:p>
        </p:txBody>
      </p:sp>
      <p:sp>
        <p:nvSpPr>
          <p:cNvPr id="11" name="Oval 12">
            <a:extLst>
              <a:ext uri="{FF2B5EF4-FFF2-40B4-BE49-F238E27FC236}">
                <a16:creationId xmlns:a16="http://schemas.microsoft.com/office/drawing/2014/main" id="{6E1AFDEA-01EA-7073-3DA3-3EC618A59A89}"/>
              </a:ext>
            </a:extLst>
          </p:cNvPr>
          <p:cNvSpPr/>
          <p:nvPr/>
        </p:nvSpPr>
        <p:spPr>
          <a:xfrm>
            <a:off x="9601200" y="4724403"/>
            <a:ext cx="76196" cy="76196"/>
          </a:xfrm>
          <a:custGeom>
            <a:avLst/>
            <a:gdLst>
              <a:gd name="f0" fmla="val 21600000"/>
              <a:gd name="f1" fmla="val 10800000"/>
              <a:gd name="f2" fmla="val 5400000"/>
              <a:gd name="f3" fmla="val 18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+- 0 0 -360"/>
              <a:gd name="f10" fmla="+- 0 0 -180"/>
              <a:gd name="f11" fmla="abs f4"/>
              <a:gd name="f12" fmla="abs f5"/>
              <a:gd name="f13" fmla="abs f6"/>
              <a:gd name="f14" fmla="val f7"/>
              <a:gd name="f15" fmla="+- 2700000 f2 0"/>
              <a:gd name="f16" fmla="*/ f9 f1 1"/>
              <a:gd name="f17" fmla="*/ f10 f1 1"/>
              <a:gd name="f18" fmla="?: f11 f4 1"/>
              <a:gd name="f19" fmla="?: f12 f5 1"/>
              <a:gd name="f20" fmla="?: f13 f6 1"/>
              <a:gd name="f21" fmla="*/ f15 f8 1"/>
              <a:gd name="f22" fmla="*/ f16 1 f3"/>
              <a:gd name="f23" fmla="*/ f17 1 f3"/>
              <a:gd name="f24" fmla="*/ f18 1 21600"/>
              <a:gd name="f25" fmla="*/ f19 1 21600"/>
              <a:gd name="f26" fmla="*/ 21600 f18 1"/>
              <a:gd name="f27" fmla="*/ 21600 f19 1"/>
              <a:gd name="f28" fmla="*/ f21 1 f1"/>
              <a:gd name="f29" fmla="+- f22 0 f2"/>
              <a:gd name="f30" fmla="+- f23 0 f2"/>
              <a:gd name="f31" fmla="min f25 f24"/>
              <a:gd name="f32" fmla="*/ f26 1 f20"/>
              <a:gd name="f33" fmla="*/ f27 1 f20"/>
              <a:gd name="f34" fmla="+- 0 0 f28"/>
              <a:gd name="f35" fmla="val f32"/>
              <a:gd name="f36" fmla="val f33"/>
              <a:gd name="f37" fmla="+- 0 0 f34"/>
              <a:gd name="f38" fmla="*/ f14 f31 1"/>
              <a:gd name="f39" fmla="+- f36 0 f14"/>
              <a:gd name="f40" fmla="+- f35 0 f14"/>
              <a:gd name="f41" fmla="*/ f37 f1 1"/>
              <a:gd name="f42" fmla="*/ f39 1 2"/>
              <a:gd name="f43" fmla="*/ f40 1 2"/>
              <a:gd name="f44" fmla="*/ f41 1 f8"/>
              <a:gd name="f45" fmla="+- f14 f42 0"/>
              <a:gd name="f46" fmla="+- f14 f43 0"/>
              <a:gd name="f47" fmla="+- f44 0 f2"/>
              <a:gd name="f48" fmla="*/ f43 f31 1"/>
              <a:gd name="f49" fmla="*/ f42 f31 1"/>
              <a:gd name="f50" fmla="cos 1 f47"/>
              <a:gd name="f51" fmla="sin 1 f47"/>
              <a:gd name="f52" fmla="*/ f45 f31 1"/>
              <a:gd name="f53" fmla="+- 0 0 f50"/>
              <a:gd name="f54" fmla="+- 0 0 f51"/>
              <a:gd name="f55" fmla="+- 0 0 f53"/>
              <a:gd name="f56" fmla="+- 0 0 f54"/>
              <a:gd name="f57" fmla="*/ f55 f43 1"/>
              <a:gd name="f58" fmla="*/ f56 f42 1"/>
              <a:gd name="f59" fmla="+- f46 0 f57"/>
              <a:gd name="f60" fmla="+- f46 f57 0"/>
              <a:gd name="f61" fmla="+- f45 0 f58"/>
              <a:gd name="f62" fmla="+- f45 f58 0"/>
              <a:gd name="f63" fmla="*/ f59 f31 1"/>
              <a:gd name="f64" fmla="*/ f61 f31 1"/>
              <a:gd name="f65" fmla="*/ f60 f31 1"/>
              <a:gd name="f66" fmla="*/ f62 f31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63" y="f64"/>
              </a:cxn>
              <a:cxn ang="f30">
                <a:pos x="f63" y="f66"/>
              </a:cxn>
              <a:cxn ang="f30">
                <a:pos x="f65" y="f66"/>
              </a:cxn>
              <a:cxn ang="f29">
                <a:pos x="f65" y="f64"/>
              </a:cxn>
            </a:cxnLst>
            <a:rect l="f63" t="f64" r="f65" b="f66"/>
            <a:pathLst>
              <a:path>
                <a:moveTo>
                  <a:pt x="f38" y="f52"/>
                </a:moveTo>
                <a:arcTo wR="f48" hR="f49" stAng="f1" swAng="f0"/>
                <a:close/>
              </a:path>
            </a:pathLst>
          </a:custGeom>
          <a:solidFill>
            <a:srgbClr val="66CCFF"/>
          </a:solidFill>
          <a:ln w="9528" cap="flat">
            <a:solidFill>
              <a:srgbClr val="000000"/>
            </a:solidFill>
            <a:prstDash val="solid"/>
            <a:round/>
          </a:ln>
        </p:spPr>
        <p:txBody>
          <a:bodyPr vert="horz" wrap="none" lIns="91440" tIns="45720" rIns="91440" bIns="4572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240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</a:endParaRPr>
          </a:p>
        </p:txBody>
      </p:sp>
      <p:sp>
        <p:nvSpPr>
          <p:cNvPr id="12" name="Oval 13">
            <a:extLst>
              <a:ext uri="{FF2B5EF4-FFF2-40B4-BE49-F238E27FC236}">
                <a16:creationId xmlns:a16="http://schemas.microsoft.com/office/drawing/2014/main" id="{2F23671B-AB62-6815-112E-1EE4B8F303B2}"/>
              </a:ext>
            </a:extLst>
          </p:cNvPr>
          <p:cNvSpPr/>
          <p:nvPr/>
        </p:nvSpPr>
        <p:spPr>
          <a:xfrm>
            <a:off x="9296403" y="4419596"/>
            <a:ext cx="76196" cy="76196"/>
          </a:xfrm>
          <a:custGeom>
            <a:avLst/>
            <a:gdLst>
              <a:gd name="f0" fmla="val 21600000"/>
              <a:gd name="f1" fmla="val 10800000"/>
              <a:gd name="f2" fmla="val 5400000"/>
              <a:gd name="f3" fmla="val 18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+- 0 0 -360"/>
              <a:gd name="f10" fmla="+- 0 0 -180"/>
              <a:gd name="f11" fmla="abs f4"/>
              <a:gd name="f12" fmla="abs f5"/>
              <a:gd name="f13" fmla="abs f6"/>
              <a:gd name="f14" fmla="val f7"/>
              <a:gd name="f15" fmla="+- 2700000 f2 0"/>
              <a:gd name="f16" fmla="*/ f9 f1 1"/>
              <a:gd name="f17" fmla="*/ f10 f1 1"/>
              <a:gd name="f18" fmla="?: f11 f4 1"/>
              <a:gd name="f19" fmla="?: f12 f5 1"/>
              <a:gd name="f20" fmla="?: f13 f6 1"/>
              <a:gd name="f21" fmla="*/ f15 f8 1"/>
              <a:gd name="f22" fmla="*/ f16 1 f3"/>
              <a:gd name="f23" fmla="*/ f17 1 f3"/>
              <a:gd name="f24" fmla="*/ f18 1 21600"/>
              <a:gd name="f25" fmla="*/ f19 1 21600"/>
              <a:gd name="f26" fmla="*/ 21600 f18 1"/>
              <a:gd name="f27" fmla="*/ 21600 f19 1"/>
              <a:gd name="f28" fmla="*/ f21 1 f1"/>
              <a:gd name="f29" fmla="+- f22 0 f2"/>
              <a:gd name="f30" fmla="+- f23 0 f2"/>
              <a:gd name="f31" fmla="min f25 f24"/>
              <a:gd name="f32" fmla="*/ f26 1 f20"/>
              <a:gd name="f33" fmla="*/ f27 1 f20"/>
              <a:gd name="f34" fmla="+- 0 0 f28"/>
              <a:gd name="f35" fmla="val f32"/>
              <a:gd name="f36" fmla="val f33"/>
              <a:gd name="f37" fmla="+- 0 0 f34"/>
              <a:gd name="f38" fmla="*/ f14 f31 1"/>
              <a:gd name="f39" fmla="+- f36 0 f14"/>
              <a:gd name="f40" fmla="+- f35 0 f14"/>
              <a:gd name="f41" fmla="*/ f37 f1 1"/>
              <a:gd name="f42" fmla="*/ f39 1 2"/>
              <a:gd name="f43" fmla="*/ f40 1 2"/>
              <a:gd name="f44" fmla="*/ f41 1 f8"/>
              <a:gd name="f45" fmla="+- f14 f42 0"/>
              <a:gd name="f46" fmla="+- f14 f43 0"/>
              <a:gd name="f47" fmla="+- f44 0 f2"/>
              <a:gd name="f48" fmla="*/ f43 f31 1"/>
              <a:gd name="f49" fmla="*/ f42 f31 1"/>
              <a:gd name="f50" fmla="cos 1 f47"/>
              <a:gd name="f51" fmla="sin 1 f47"/>
              <a:gd name="f52" fmla="*/ f45 f31 1"/>
              <a:gd name="f53" fmla="+- 0 0 f50"/>
              <a:gd name="f54" fmla="+- 0 0 f51"/>
              <a:gd name="f55" fmla="+- 0 0 f53"/>
              <a:gd name="f56" fmla="+- 0 0 f54"/>
              <a:gd name="f57" fmla="*/ f55 f43 1"/>
              <a:gd name="f58" fmla="*/ f56 f42 1"/>
              <a:gd name="f59" fmla="+- f46 0 f57"/>
              <a:gd name="f60" fmla="+- f46 f57 0"/>
              <a:gd name="f61" fmla="+- f45 0 f58"/>
              <a:gd name="f62" fmla="+- f45 f58 0"/>
              <a:gd name="f63" fmla="*/ f59 f31 1"/>
              <a:gd name="f64" fmla="*/ f61 f31 1"/>
              <a:gd name="f65" fmla="*/ f60 f31 1"/>
              <a:gd name="f66" fmla="*/ f62 f31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63" y="f64"/>
              </a:cxn>
              <a:cxn ang="f30">
                <a:pos x="f63" y="f66"/>
              </a:cxn>
              <a:cxn ang="f30">
                <a:pos x="f65" y="f66"/>
              </a:cxn>
              <a:cxn ang="f29">
                <a:pos x="f65" y="f64"/>
              </a:cxn>
            </a:cxnLst>
            <a:rect l="f63" t="f64" r="f65" b="f66"/>
            <a:pathLst>
              <a:path>
                <a:moveTo>
                  <a:pt x="f38" y="f52"/>
                </a:moveTo>
                <a:arcTo wR="f48" hR="f49" stAng="f1" swAng="f0"/>
                <a:close/>
              </a:path>
            </a:pathLst>
          </a:custGeom>
          <a:solidFill>
            <a:srgbClr val="66CCFF"/>
          </a:solidFill>
          <a:ln w="9528" cap="flat">
            <a:solidFill>
              <a:srgbClr val="000000"/>
            </a:solidFill>
            <a:prstDash val="solid"/>
            <a:round/>
          </a:ln>
        </p:spPr>
        <p:txBody>
          <a:bodyPr vert="horz" wrap="none" lIns="91440" tIns="45720" rIns="91440" bIns="4572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240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</a:endParaRPr>
          </a:p>
        </p:txBody>
      </p:sp>
      <p:sp>
        <p:nvSpPr>
          <p:cNvPr id="13" name="Oval 14">
            <a:extLst>
              <a:ext uri="{FF2B5EF4-FFF2-40B4-BE49-F238E27FC236}">
                <a16:creationId xmlns:a16="http://schemas.microsoft.com/office/drawing/2014/main" id="{BB5EE243-5C26-C34A-8472-E6F6BBC0F63F}"/>
              </a:ext>
            </a:extLst>
          </p:cNvPr>
          <p:cNvSpPr/>
          <p:nvPr/>
        </p:nvSpPr>
        <p:spPr>
          <a:xfrm>
            <a:off x="9448796" y="4267203"/>
            <a:ext cx="76196" cy="76196"/>
          </a:xfrm>
          <a:custGeom>
            <a:avLst/>
            <a:gdLst>
              <a:gd name="f0" fmla="val 21600000"/>
              <a:gd name="f1" fmla="val 10800000"/>
              <a:gd name="f2" fmla="val 5400000"/>
              <a:gd name="f3" fmla="val 18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+- 0 0 -360"/>
              <a:gd name="f10" fmla="+- 0 0 -180"/>
              <a:gd name="f11" fmla="abs f4"/>
              <a:gd name="f12" fmla="abs f5"/>
              <a:gd name="f13" fmla="abs f6"/>
              <a:gd name="f14" fmla="val f7"/>
              <a:gd name="f15" fmla="+- 2700000 f2 0"/>
              <a:gd name="f16" fmla="*/ f9 f1 1"/>
              <a:gd name="f17" fmla="*/ f10 f1 1"/>
              <a:gd name="f18" fmla="?: f11 f4 1"/>
              <a:gd name="f19" fmla="?: f12 f5 1"/>
              <a:gd name="f20" fmla="?: f13 f6 1"/>
              <a:gd name="f21" fmla="*/ f15 f8 1"/>
              <a:gd name="f22" fmla="*/ f16 1 f3"/>
              <a:gd name="f23" fmla="*/ f17 1 f3"/>
              <a:gd name="f24" fmla="*/ f18 1 21600"/>
              <a:gd name="f25" fmla="*/ f19 1 21600"/>
              <a:gd name="f26" fmla="*/ 21600 f18 1"/>
              <a:gd name="f27" fmla="*/ 21600 f19 1"/>
              <a:gd name="f28" fmla="*/ f21 1 f1"/>
              <a:gd name="f29" fmla="+- f22 0 f2"/>
              <a:gd name="f30" fmla="+- f23 0 f2"/>
              <a:gd name="f31" fmla="min f25 f24"/>
              <a:gd name="f32" fmla="*/ f26 1 f20"/>
              <a:gd name="f33" fmla="*/ f27 1 f20"/>
              <a:gd name="f34" fmla="+- 0 0 f28"/>
              <a:gd name="f35" fmla="val f32"/>
              <a:gd name="f36" fmla="val f33"/>
              <a:gd name="f37" fmla="+- 0 0 f34"/>
              <a:gd name="f38" fmla="*/ f14 f31 1"/>
              <a:gd name="f39" fmla="+- f36 0 f14"/>
              <a:gd name="f40" fmla="+- f35 0 f14"/>
              <a:gd name="f41" fmla="*/ f37 f1 1"/>
              <a:gd name="f42" fmla="*/ f39 1 2"/>
              <a:gd name="f43" fmla="*/ f40 1 2"/>
              <a:gd name="f44" fmla="*/ f41 1 f8"/>
              <a:gd name="f45" fmla="+- f14 f42 0"/>
              <a:gd name="f46" fmla="+- f14 f43 0"/>
              <a:gd name="f47" fmla="+- f44 0 f2"/>
              <a:gd name="f48" fmla="*/ f43 f31 1"/>
              <a:gd name="f49" fmla="*/ f42 f31 1"/>
              <a:gd name="f50" fmla="cos 1 f47"/>
              <a:gd name="f51" fmla="sin 1 f47"/>
              <a:gd name="f52" fmla="*/ f45 f31 1"/>
              <a:gd name="f53" fmla="+- 0 0 f50"/>
              <a:gd name="f54" fmla="+- 0 0 f51"/>
              <a:gd name="f55" fmla="+- 0 0 f53"/>
              <a:gd name="f56" fmla="+- 0 0 f54"/>
              <a:gd name="f57" fmla="*/ f55 f43 1"/>
              <a:gd name="f58" fmla="*/ f56 f42 1"/>
              <a:gd name="f59" fmla="+- f46 0 f57"/>
              <a:gd name="f60" fmla="+- f46 f57 0"/>
              <a:gd name="f61" fmla="+- f45 0 f58"/>
              <a:gd name="f62" fmla="+- f45 f58 0"/>
              <a:gd name="f63" fmla="*/ f59 f31 1"/>
              <a:gd name="f64" fmla="*/ f61 f31 1"/>
              <a:gd name="f65" fmla="*/ f60 f31 1"/>
              <a:gd name="f66" fmla="*/ f62 f31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63" y="f64"/>
              </a:cxn>
              <a:cxn ang="f30">
                <a:pos x="f63" y="f66"/>
              </a:cxn>
              <a:cxn ang="f30">
                <a:pos x="f65" y="f66"/>
              </a:cxn>
              <a:cxn ang="f29">
                <a:pos x="f65" y="f64"/>
              </a:cxn>
            </a:cxnLst>
            <a:rect l="f63" t="f64" r="f65" b="f66"/>
            <a:pathLst>
              <a:path>
                <a:moveTo>
                  <a:pt x="f38" y="f52"/>
                </a:moveTo>
                <a:arcTo wR="f48" hR="f49" stAng="f1" swAng="f0"/>
                <a:close/>
              </a:path>
            </a:pathLst>
          </a:custGeom>
          <a:solidFill>
            <a:srgbClr val="66CCFF"/>
          </a:solidFill>
          <a:ln w="9528" cap="flat">
            <a:solidFill>
              <a:srgbClr val="000000"/>
            </a:solidFill>
            <a:prstDash val="solid"/>
            <a:round/>
          </a:ln>
        </p:spPr>
        <p:txBody>
          <a:bodyPr vert="horz" wrap="none" lIns="91440" tIns="45720" rIns="91440" bIns="4572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240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</a:endParaRPr>
          </a:p>
        </p:txBody>
      </p:sp>
      <p:sp>
        <p:nvSpPr>
          <p:cNvPr id="14" name="Oval 15">
            <a:extLst>
              <a:ext uri="{FF2B5EF4-FFF2-40B4-BE49-F238E27FC236}">
                <a16:creationId xmlns:a16="http://schemas.microsoft.com/office/drawing/2014/main" id="{EDE8D8D8-0259-C8EB-0F88-98298191B68A}"/>
              </a:ext>
            </a:extLst>
          </p:cNvPr>
          <p:cNvSpPr/>
          <p:nvPr/>
        </p:nvSpPr>
        <p:spPr>
          <a:xfrm>
            <a:off x="9448796" y="4800600"/>
            <a:ext cx="76196" cy="76196"/>
          </a:xfrm>
          <a:custGeom>
            <a:avLst/>
            <a:gdLst>
              <a:gd name="f0" fmla="val 21600000"/>
              <a:gd name="f1" fmla="val 10800000"/>
              <a:gd name="f2" fmla="val 5400000"/>
              <a:gd name="f3" fmla="val 18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+- 0 0 -360"/>
              <a:gd name="f10" fmla="+- 0 0 -180"/>
              <a:gd name="f11" fmla="abs f4"/>
              <a:gd name="f12" fmla="abs f5"/>
              <a:gd name="f13" fmla="abs f6"/>
              <a:gd name="f14" fmla="val f7"/>
              <a:gd name="f15" fmla="+- 2700000 f2 0"/>
              <a:gd name="f16" fmla="*/ f9 f1 1"/>
              <a:gd name="f17" fmla="*/ f10 f1 1"/>
              <a:gd name="f18" fmla="?: f11 f4 1"/>
              <a:gd name="f19" fmla="?: f12 f5 1"/>
              <a:gd name="f20" fmla="?: f13 f6 1"/>
              <a:gd name="f21" fmla="*/ f15 f8 1"/>
              <a:gd name="f22" fmla="*/ f16 1 f3"/>
              <a:gd name="f23" fmla="*/ f17 1 f3"/>
              <a:gd name="f24" fmla="*/ f18 1 21600"/>
              <a:gd name="f25" fmla="*/ f19 1 21600"/>
              <a:gd name="f26" fmla="*/ 21600 f18 1"/>
              <a:gd name="f27" fmla="*/ 21600 f19 1"/>
              <a:gd name="f28" fmla="*/ f21 1 f1"/>
              <a:gd name="f29" fmla="+- f22 0 f2"/>
              <a:gd name="f30" fmla="+- f23 0 f2"/>
              <a:gd name="f31" fmla="min f25 f24"/>
              <a:gd name="f32" fmla="*/ f26 1 f20"/>
              <a:gd name="f33" fmla="*/ f27 1 f20"/>
              <a:gd name="f34" fmla="+- 0 0 f28"/>
              <a:gd name="f35" fmla="val f32"/>
              <a:gd name="f36" fmla="val f33"/>
              <a:gd name="f37" fmla="+- 0 0 f34"/>
              <a:gd name="f38" fmla="*/ f14 f31 1"/>
              <a:gd name="f39" fmla="+- f36 0 f14"/>
              <a:gd name="f40" fmla="+- f35 0 f14"/>
              <a:gd name="f41" fmla="*/ f37 f1 1"/>
              <a:gd name="f42" fmla="*/ f39 1 2"/>
              <a:gd name="f43" fmla="*/ f40 1 2"/>
              <a:gd name="f44" fmla="*/ f41 1 f8"/>
              <a:gd name="f45" fmla="+- f14 f42 0"/>
              <a:gd name="f46" fmla="+- f14 f43 0"/>
              <a:gd name="f47" fmla="+- f44 0 f2"/>
              <a:gd name="f48" fmla="*/ f43 f31 1"/>
              <a:gd name="f49" fmla="*/ f42 f31 1"/>
              <a:gd name="f50" fmla="cos 1 f47"/>
              <a:gd name="f51" fmla="sin 1 f47"/>
              <a:gd name="f52" fmla="*/ f45 f31 1"/>
              <a:gd name="f53" fmla="+- 0 0 f50"/>
              <a:gd name="f54" fmla="+- 0 0 f51"/>
              <a:gd name="f55" fmla="+- 0 0 f53"/>
              <a:gd name="f56" fmla="+- 0 0 f54"/>
              <a:gd name="f57" fmla="*/ f55 f43 1"/>
              <a:gd name="f58" fmla="*/ f56 f42 1"/>
              <a:gd name="f59" fmla="+- f46 0 f57"/>
              <a:gd name="f60" fmla="+- f46 f57 0"/>
              <a:gd name="f61" fmla="+- f45 0 f58"/>
              <a:gd name="f62" fmla="+- f45 f58 0"/>
              <a:gd name="f63" fmla="*/ f59 f31 1"/>
              <a:gd name="f64" fmla="*/ f61 f31 1"/>
              <a:gd name="f65" fmla="*/ f60 f31 1"/>
              <a:gd name="f66" fmla="*/ f62 f31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63" y="f64"/>
              </a:cxn>
              <a:cxn ang="f30">
                <a:pos x="f63" y="f66"/>
              </a:cxn>
              <a:cxn ang="f30">
                <a:pos x="f65" y="f66"/>
              </a:cxn>
              <a:cxn ang="f29">
                <a:pos x="f65" y="f64"/>
              </a:cxn>
            </a:cxnLst>
            <a:rect l="f63" t="f64" r="f65" b="f66"/>
            <a:pathLst>
              <a:path>
                <a:moveTo>
                  <a:pt x="f38" y="f52"/>
                </a:moveTo>
                <a:arcTo wR="f48" hR="f49" stAng="f1" swAng="f0"/>
                <a:close/>
              </a:path>
            </a:pathLst>
          </a:custGeom>
          <a:solidFill>
            <a:srgbClr val="66CCFF"/>
          </a:solidFill>
          <a:ln w="9528" cap="flat">
            <a:solidFill>
              <a:srgbClr val="000000"/>
            </a:solidFill>
            <a:prstDash val="solid"/>
            <a:round/>
          </a:ln>
        </p:spPr>
        <p:txBody>
          <a:bodyPr vert="horz" wrap="none" lIns="91440" tIns="45720" rIns="91440" bIns="4572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240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</a:endParaRPr>
          </a:p>
        </p:txBody>
      </p:sp>
      <p:sp>
        <p:nvSpPr>
          <p:cNvPr id="15" name="Oval 16">
            <a:extLst>
              <a:ext uri="{FF2B5EF4-FFF2-40B4-BE49-F238E27FC236}">
                <a16:creationId xmlns:a16="http://schemas.microsoft.com/office/drawing/2014/main" id="{781484E0-16BB-C89E-5AB7-F16163809D78}"/>
              </a:ext>
            </a:extLst>
          </p:cNvPr>
          <p:cNvSpPr/>
          <p:nvPr/>
        </p:nvSpPr>
        <p:spPr>
          <a:xfrm>
            <a:off x="9296403" y="4572000"/>
            <a:ext cx="76196" cy="76196"/>
          </a:xfrm>
          <a:custGeom>
            <a:avLst/>
            <a:gdLst>
              <a:gd name="f0" fmla="val 21600000"/>
              <a:gd name="f1" fmla="val 10800000"/>
              <a:gd name="f2" fmla="val 5400000"/>
              <a:gd name="f3" fmla="val 18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+- 0 0 -360"/>
              <a:gd name="f10" fmla="+- 0 0 -180"/>
              <a:gd name="f11" fmla="abs f4"/>
              <a:gd name="f12" fmla="abs f5"/>
              <a:gd name="f13" fmla="abs f6"/>
              <a:gd name="f14" fmla="val f7"/>
              <a:gd name="f15" fmla="+- 2700000 f2 0"/>
              <a:gd name="f16" fmla="*/ f9 f1 1"/>
              <a:gd name="f17" fmla="*/ f10 f1 1"/>
              <a:gd name="f18" fmla="?: f11 f4 1"/>
              <a:gd name="f19" fmla="?: f12 f5 1"/>
              <a:gd name="f20" fmla="?: f13 f6 1"/>
              <a:gd name="f21" fmla="*/ f15 f8 1"/>
              <a:gd name="f22" fmla="*/ f16 1 f3"/>
              <a:gd name="f23" fmla="*/ f17 1 f3"/>
              <a:gd name="f24" fmla="*/ f18 1 21600"/>
              <a:gd name="f25" fmla="*/ f19 1 21600"/>
              <a:gd name="f26" fmla="*/ 21600 f18 1"/>
              <a:gd name="f27" fmla="*/ 21600 f19 1"/>
              <a:gd name="f28" fmla="*/ f21 1 f1"/>
              <a:gd name="f29" fmla="+- f22 0 f2"/>
              <a:gd name="f30" fmla="+- f23 0 f2"/>
              <a:gd name="f31" fmla="min f25 f24"/>
              <a:gd name="f32" fmla="*/ f26 1 f20"/>
              <a:gd name="f33" fmla="*/ f27 1 f20"/>
              <a:gd name="f34" fmla="+- 0 0 f28"/>
              <a:gd name="f35" fmla="val f32"/>
              <a:gd name="f36" fmla="val f33"/>
              <a:gd name="f37" fmla="+- 0 0 f34"/>
              <a:gd name="f38" fmla="*/ f14 f31 1"/>
              <a:gd name="f39" fmla="+- f36 0 f14"/>
              <a:gd name="f40" fmla="+- f35 0 f14"/>
              <a:gd name="f41" fmla="*/ f37 f1 1"/>
              <a:gd name="f42" fmla="*/ f39 1 2"/>
              <a:gd name="f43" fmla="*/ f40 1 2"/>
              <a:gd name="f44" fmla="*/ f41 1 f8"/>
              <a:gd name="f45" fmla="+- f14 f42 0"/>
              <a:gd name="f46" fmla="+- f14 f43 0"/>
              <a:gd name="f47" fmla="+- f44 0 f2"/>
              <a:gd name="f48" fmla="*/ f43 f31 1"/>
              <a:gd name="f49" fmla="*/ f42 f31 1"/>
              <a:gd name="f50" fmla="cos 1 f47"/>
              <a:gd name="f51" fmla="sin 1 f47"/>
              <a:gd name="f52" fmla="*/ f45 f31 1"/>
              <a:gd name="f53" fmla="+- 0 0 f50"/>
              <a:gd name="f54" fmla="+- 0 0 f51"/>
              <a:gd name="f55" fmla="+- 0 0 f53"/>
              <a:gd name="f56" fmla="+- 0 0 f54"/>
              <a:gd name="f57" fmla="*/ f55 f43 1"/>
              <a:gd name="f58" fmla="*/ f56 f42 1"/>
              <a:gd name="f59" fmla="+- f46 0 f57"/>
              <a:gd name="f60" fmla="+- f46 f57 0"/>
              <a:gd name="f61" fmla="+- f45 0 f58"/>
              <a:gd name="f62" fmla="+- f45 f58 0"/>
              <a:gd name="f63" fmla="*/ f59 f31 1"/>
              <a:gd name="f64" fmla="*/ f61 f31 1"/>
              <a:gd name="f65" fmla="*/ f60 f31 1"/>
              <a:gd name="f66" fmla="*/ f62 f31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63" y="f64"/>
              </a:cxn>
              <a:cxn ang="f30">
                <a:pos x="f63" y="f66"/>
              </a:cxn>
              <a:cxn ang="f30">
                <a:pos x="f65" y="f66"/>
              </a:cxn>
              <a:cxn ang="f29">
                <a:pos x="f65" y="f64"/>
              </a:cxn>
            </a:cxnLst>
            <a:rect l="f63" t="f64" r="f65" b="f66"/>
            <a:pathLst>
              <a:path>
                <a:moveTo>
                  <a:pt x="f38" y="f52"/>
                </a:moveTo>
                <a:arcTo wR="f48" hR="f49" stAng="f1" swAng="f0"/>
                <a:close/>
              </a:path>
            </a:pathLst>
          </a:custGeom>
          <a:solidFill>
            <a:srgbClr val="66CCFF"/>
          </a:solidFill>
          <a:ln w="9528" cap="flat">
            <a:solidFill>
              <a:srgbClr val="000000"/>
            </a:solidFill>
            <a:prstDash val="solid"/>
            <a:round/>
          </a:ln>
        </p:spPr>
        <p:txBody>
          <a:bodyPr vert="horz" wrap="none" lIns="91440" tIns="45720" rIns="91440" bIns="4572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240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</a:endParaRPr>
          </a:p>
        </p:txBody>
      </p:sp>
      <p:sp>
        <p:nvSpPr>
          <p:cNvPr id="16" name="Oval 17">
            <a:extLst>
              <a:ext uri="{FF2B5EF4-FFF2-40B4-BE49-F238E27FC236}">
                <a16:creationId xmlns:a16="http://schemas.microsoft.com/office/drawing/2014/main" id="{DE1DA046-0FA4-00E6-CB83-2B59AFC98421}"/>
              </a:ext>
            </a:extLst>
          </p:cNvPr>
          <p:cNvSpPr/>
          <p:nvPr/>
        </p:nvSpPr>
        <p:spPr>
          <a:xfrm>
            <a:off x="9905996" y="4800600"/>
            <a:ext cx="76196" cy="76196"/>
          </a:xfrm>
          <a:custGeom>
            <a:avLst/>
            <a:gdLst>
              <a:gd name="f0" fmla="val 21600000"/>
              <a:gd name="f1" fmla="val 10800000"/>
              <a:gd name="f2" fmla="val 5400000"/>
              <a:gd name="f3" fmla="val 18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+- 0 0 -360"/>
              <a:gd name="f10" fmla="+- 0 0 -180"/>
              <a:gd name="f11" fmla="abs f4"/>
              <a:gd name="f12" fmla="abs f5"/>
              <a:gd name="f13" fmla="abs f6"/>
              <a:gd name="f14" fmla="val f7"/>
              <a:gd name="f15" fmla="+- 2700000 f2 0"/>
              <a:gd name="f16" fmla="*/ f9 f1 1"/>
              <a:gd name="f17" fmla="*/ f10 f1 1"/>
              <a:gd name="f18" fmla="?: f11 f4 1"/>
              <a:gd name="f19" fmla="?: f12 f5 1"/>
              <a:gd name="f20" fmla="?: f13 f6 1"/>
              <a:gd name="f21" fmla="*/ f15 f8 1"/>
              <a:gd name="f22" fmla="*/ f16 1 f3"/>
              <a:gd name="f23" fmla="*/ f17 1 f3"/>
              <a:gd name="f24" fmla="*/ f18 1 21600"/>
              <a:gd name="f25" fmla="*/ f19 1 21600"/>
              <a:gd name="f26" fmla="*/ 21600 f18 1"/>
              <a:gd name="f27" fmla="*/ 21600 f19 1"/>
              <a:gd name="f28" fmla="*/ f21 1 f1"/>
              <a:gd name="f29" fmla="+- f22 0 f2"/>
              <a:gd name="f30" fmla="+- f23 0 f2"/>
              <a:gd name="f31" fmla="min f25 f24"/>
              <a:gd name="f32" fmla="*/ f26 1 f20"/>
              <a:gd name="f33" fmla="*/ f27 1 f20"/>
              <a:gd name="f34" fmla="+- 0 0 f28"/>
              <a:gd name="f35" fmla="val f32"/>
              <a:gd name="f36" fmla="val f33"/>
              <a:gd name="f37" fmla="+- 0 0 f34"/>
              <a:gd name="f38" fmla="*/ f14 f31 1"/>
              <a:gd name="f39" fmla="+- f36 0 f14"/>
              <a:gd name="f40" fmla="+- f35 0 f14"/>
              <a:gd name="f41" fmla="*/ f37 f1 1"/>
              <a:gd name="f42" fmla="*/ f39 1 2"/>
              <a:gd name="f43" fmla="*/ f40 1 2"/>
              <a:gd name="f44" fmla="*/ f41 1 f8"/>
              <a:gd name="f45" fmla="+- f14 f42 0"/>
              <a:gd name="f46" fmla="+- f14 f43 0"/>
              <a:gd name="f47" fmla="+- f44 0 f2"/>
              <a:gd name="f48" fmla="*/ f43 f31 1"/>
              <a:gd name="f49" fmla="*/ f42 f31 1"/>
              <a:gd name="f50" fmla="cos 1 f47"/>
              <a:gd name="f51" fmla="sin 1 f47"/>
              <a:gd name="f52" fmla="*/ f45 f31 1"/>
              <a:gd name="f53" fmla="+- 0 0 f50"/>
              <a:gd name="f54" fmla="+- 0 0 f51"/>
              <a:gd name="f55" fmla="+- 0 0 f53"/>
              <a:gd name="f56" fmla="+- 0 0 f54"/>
              <a:gd name="f57" fmla="*/ f55 f43 1"/>
              <a:gd name="f58" fmla="*/ f56 f42 1"/>
              <a:gd name="f59" fmla="+- f46 0 f57"/>
              <a:gd name="f60" fmla="+- f46 f57 0"/>
              <a:gd name="f61" fmla="+- f45 0 f58"/>
              <a:gd name="f62" fmla="+- f45 f58 0"/>
              <a:gd name="f63" fmla="*/ f59 f31 1"/>
              <a:gd name="f64" fmla="*/ f61 f31 1"/>
              <a:gd name="f65" fmla="*/ f60 f31 1"/>
              <a:gd name="f66" fmla="*/ f62 f31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63" y="f64"/>
              </a:cxn>
              <a:cxn ang="f30">
                <a:pos x="f63" y="f66"/>
              </a:cxn>
              <a:cxn ang="f30">
                <a:pos x="f65" y="f66"/>
              </a:cxn>
              <a:cxn ang="f29">
                <a:pos x="f65" y="f64"/>
              </a:cxn>
            </a:cxnLst>
            <a:rect l="f63" t="f64" r="f65" b="f66"/>
            <a:pathLst>
              <a:path>
                <a:moveTo>
                  <a:pt x="f38" y="f52"/>
                </a:moveTo>
                <a:arcTo wR="f48" hR="f49" stAng="f1" swAng="f0"/>
                <a:close/>
              </a:path>
            </a:pathLst>
          </a:custGeom>
          <a:solidFill>
            <a:srgbClr val="66CCFF"/>
          </a:solidFill>
          <a:ln w="9528" cap="flat">
            <a:solidFill>
              <a:srgbClr val="000000"/>
            </a:solidFill>
            <a:prstDash val="solid"/>
            <a:round/>
          </a:ln>
        </p:spPr>
        <p:txBody>
          <a:bodyPr vert="horz" wrap="none" lIns="91440" tIns="45720" rIns="91440" bIns="4572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240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</a:endParaRPr>
          </a:p>
        </p:txBody>
      </p:sp>
      <p:sp>
        <p:nvSpPr>
          <p:cNvPr id="17" name="Oval 19">
            <a:extLst>
              <a:ext uri="{FF2B5EF4-FFF2-40B4-BE49-F238E27FC236}">
                <a16:creationId xmlns:a16="http://schemas.microsoft.com/office/drawing/2014/main" id="{56403853-F198-4431-1305-32A01A12AF4B}"/>
              </a:ext>
            </a:extLst>
          </p:cNvPr>
          <p:cNvSpPr/>
          <p:nvPr/>
        </p:nvSpPr>
        <p:spPr>
          <a:xfrm>
            <a:off x="9525003" y="4724403"/>
            <a:ext cx="76196" cy="76196"/>
          </a:xfrm>
          <a:custGeom>
            <a:avLst/>
            <a:gdLst>
              <a:gd name="f0" fmla="val 21600000"/>
              <a:gd name="f1" fmla="val 10800000"/>
              <a:gd name="f2" fmla="val 5400000"/>
              <a:gd name="f3" fmla="val 18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+- 0 0 -360"/>
              <a:gd name="f10" fmla="+- 0 0 -180"/>
              <a:gd name="f11" fmla="abs f4"/>
              <a:gd name="f12" fmla="abs f5"/>
              <a:gd name="f13" fmla="abs f6"/>
              <a:gd name="f14" fmla="val f7"/>
              <a:gd name="f15" fmla="+- 2700000 f2 0"/>
              <a:gd name="f16" fmla="*/ f9 f1 1"/>
              <a:gd name="f17" fmla="*/ f10 f1 1"/>
              <a:gd name="f18" fmla="?: f11 f4 1"/>
              <a:gd name="f19" fmla="?: f12 f5 1"/>
              <a:gd name="f20" fmla="?: f13 f6 1"/>
              <a:gd name="f21" fmla="*/ f15 f8 1"/>
              <a:gd name="f22" fmla="*/ f16 1 f3"/>
              <a:gd name="f23" fmla="*/ f17 1 f3"/>
              <a:gd name="f24" fmla="*/ f18 1 21600"/>
              <a:gd name="f25" fmla="*/ f19 1 21600"/>
              <a:gd name="f26" fmla="*/ 21600 f18 1"/>
              <a:gd name="f27" fmla="*/ 21600 f19 1"/>
              <a:gd name="f28" fmla="*/ f21 1 f1"/>
              <a:gd name="f29" fmla="+- f22 0 f2"/>
              <a:gd name="f30" fmla="+- f23 0 f2"/>
              <a:gd name="f31" fmla="min f25 f24"/>
              <a:gd name="f32" fmla="*/ f26 1 f20"/>
              <a:gd name="f33" fmla="*/ f27 1 f20"/>
              <a:gd name="f34" fmla="+- 0 0 f28"/>
              <a:gd name="f35" fmla="val f32"/>
              <a:gd name="f36" fmla="val f33"/>
              <a:gd name="f37" fmla="+- 0 0 f34"/>
              <a:gd name="f38" fmla="*/ f14 f31 1"/>
              <a:gd name="f39" fmla="+- f36 0 f14"/>
              <a:gd name="f40" fmla="+- f35 0 f14"/>
              <a:gd name="f41" fmla="*/ f37 f1 1"/>
              <a:gd name="f42" fmla="*/ f39 1 2"/>
              <a:gd name="f43" fmla="*/ f40 1 2"/>
              <a:gd name="f44" fmla="*/ f41 1 f8"/>
              <a:gd name="f45" fmla="+- f14 f42 0"/>
              <a:gd name="f46" fmla="+- f14 f43 0"/>
              <a:gd name="f47" fmla="+- f44 0 f2"/>
              <a:gd name="f48" fmla="*/ f43 f31 1"/>
              <a:gd name="f49" fmla="*/ f42 f31 1"/>
              <a:gd name="f50" fmla="cos 1 f47"/>
              <a:gd name="f51" fmla="sin 1 f47"/>
              <a:gd name="f52" fmla="*/ f45 f31 1"/>
              <a:gd name="f53" fmla="+- 0 0 f50"/>
              <a:gd name="f54" fmla="+- 0 0 f51"/>
              <a:gd name="f55" fmla="+- 0 0 f53"/>
              <a:gd name="f56" fmla="+- 0 0 f54"/>
              <a:gd name="f57" fmla="*/ f55 f43 1"/>
              <a:gd name="f58" fmla="*/ f56 f42 1"/>
              <a:gd name="f59" fmla="+- f46 0 f57"/>
              <a:gd name="f60" fmla="+- f46 f57 0"/>
              <a:gd name="f61" fmla="+- f45 0 f58"/>
              <a:gd name="f62" fmla="+- f45 f58 0"/>
              <a:gd name="f63" fmla="*/ f59 f31 1"/>
              <a:gd name="f64" fmla="*/ f61 f31 1"/>
              <a:gd name="f65" fmla="*/ f60 f31 1"/>
              <a:gd name="f66" fmla="*/ f62 f31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63" y="f64"/>
              </a:cxn>
              <a:cxn ang="f30">
                <a:pos x="f63" y="f66"/>
              </a:cxn>
              <a:cxn ang="f30">
                <a:pos x="f65" y="f66"/>
              </a:cxn>
              <a:cxn ang="f29">
                <a:pos x="f65" y="f64"/>
              </a:cxn>
            </a:cxnLst>
            <a:rect l="f63" t="f64" r="f65" b="f66"/>
            <a:pathLst>
              <a:path>
                <a:moveTo>
                  <a:pt x="f38" y="f52"/>
                </a:moveTo>
                <a:arcTo wR="f48" hR="f49" stAng="f1" swAng="f0"/>
                <a:close/>
              </a:path>
            </a:pathLst>
          </a:custGeom>
          <a:solidFill>
            <a:srgbClr val="66CCFF"/>
          </a:solidFill>
          <a:ln w="9528" cap="flat">
            <a:solidFill>
              <a:srgbClr val="000000"/>
            </a:solidFill>
            <a:prstDash val="solid"/>
            <a:round/>
          </a:ln>
        </p:spPr>
        <p:txBody>
          <a:bodyPr vert="horz" wrap="none" lIns="91440" tIns="45720" rIns="91440" bIns="4572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240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</a:endParaRPr>
          </a:p>
        </p:txBody>
      </p:sp>
      <p:sp>
        <p:nvSpPr>
          <p:cNvPr id="18" name="Oval 20">
            <a:extLst>
              <a:ext uri="{FF2B5EF4-FFF2-40B4-BE49-F238E27FC236}">
                <a16:creationId xmlns:a16="http://schemas.microsoft.com/office/drawing/2014/main" id="{BA97C733-A3B1-C630-405C-8687E4F66FDB}"/>
              </a:ext>
            </a:extLst>
          </p:cNvPr>
          <p:cNvSpPr/>
          <p:nvPr/>
        </p:nvSpPr>
        <p:spPr>
          <a:xfrm>
            <a:off x="9753603" y="4876796"/>
            <a:ext cx="76196" cy="76196"/>
          </a:xfrm>
          <a:custGeom>
            <a:avLst/>
            <a:gdLst>
              <a:gd name="f0" fmla="val 21600000"/>
              <a:gd name="f1" fmla="val 10800000"/>
              <a:gd name="f2" fmla="val 5400000"/>
              <a:gd name="f3" fmla="val 18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+- 0 0 -360"/>
              <a:gd name="f10" fmla="+- 0 0 -180"/>
              <a:gd name="f11" fmla="abs f4"/>
              <a:gd name="f12" fmla="abs f5"/>
              <a:gd name="f13" fmla="abs f6"/>
              <a:gd name="f14" fmla="val f7"/>
              <a:gd name="f15" fmla="+- 2700000 f2 0"/>
              <a:gd name="f16" fmla="*/ f9 f1 1"/>
              <a:gd name="f17" fmla="*/ f10 f1 1"/>
              <a:gd name="f18" fmla="?: f11 f4 1"/>
              <a:gd name="f19" fmla="?: f12 f5 1"/>
              <a:gd name="f20" fmla="?: f13 f6 1"/>
              <a:gd name="f21" fmla="*/ f15 f8 1"/>
              <a:gd name="f22" fmla="*/ f16 1 f3"/>
              <a:gd name="f23" fmla="*/ f17 1 f3"/>
              <a:gd name="f24" fmla="*/ f18 1 21600"/>
              <a:gd name="f25" fmla="*/ f19 1 21600"/>
              <a:gd name="f26" fmla="*/ 21600 f18 1"/>
              <a:gd name="f27" fmla="*/ 21600 f19 1"/>
              <a:gd name="f28" fmla="*/ f21 1 f1"/>
              <a:gd name="f29" fmla="+- f22 0 f2"/>
              <a:gd name="f30" fmla="+- f23 0 f2"/>
              <a:gd name="f31" fmla="min f25 f24"/>
              <a:gd name="f32" fmla="*/ f26 1 f20"/>
              <a:gd name="f33" fmla="*/ f27 1 f20"/>
              <a:gd name="f34" fmla="+- 0 0 f28"/>
              <a:gd name="f35" fmla="val f32"/>
              <a:gd name="f36" fmla="val f33"/>
              <a:gd name="f37" fmla="+- 0 0 f34"/>
              <a:gd name="f38" fmla="*/ f14 f31 1"/>
              <a:gd name="f39" fmla="+- f36 0 f14"/>
              <a:gd name="f40" fmla="+- f35 0 f14"/>
              <a:gd name="f41" fmla="*/ f37 f1 1"/>
              <a:gd name="f42" fmla="*/ f39 1 2"/>
              <a:gd name="f43" fmla="*/ f40 1 2"/>
              <a:gd name="f44" fmla="*/ f41 1 f8"/>
              <a:gd name="f45" fmla="+- f14 f42 0"/>
              <a:gd name="f46" fmla="+- f14 f43 0"/>
              <a:gd name="f47" fmla="+- f44 0 f2"/>
              <a:gd name="f48" fmla="*/ f43 f31 1"/>
              <a:gd name="f49" fmla="*/ f42 f31 1"/>
              <a:gd name="f50" fmla="cos 1 f47"/>
              <a:gd name="f51" fmla="sin 1 f47"/>
              <a:gd name="f52" fmla="*/ f45 f31 1"/>
              <a:gd name="f53" fmla="+- 0 0 f50"/>
              <a:gd name="f54" fmla="+- 0 0 f51"/>
              <a:gd name="f55" fmla="+- 0 0 f53"/>
              <a:gd name="f56" fmla="+- 0 0 f54"/>
              <a:gd name="f57" fmla="*/ f55 f43 1"/>
              <a:gd name="f58" fmla="*/ f56 f42 1"/>
              <a:gd name="f59" fmla="+- f46 0 f57"/>
              <a:gd name="f60" fmla="+- f46 f57 0"/>
              <a:gd name="f61" fmla="+- f45 0 f58"/>
              <a:gd name="f62" fmla="+- f45 f58 0"/>
              <a:gd name="f63" fmla="*/ f59 f31 1"/>
              <a:gd name="f64" fmla="*/ f61 f31 1"/>
              <a:gd name="f65" fmla="*/ f60 f31 1"/>
              <a:gd name="f66" fmla="*/ f62 f31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63" y="f64"/>
              </a:cxn>
              <a:cxn ang="f30">
                <a:pos x="f63" y="f66"/>
              </a:cxn>
              <a:cxn ang="f30">
                <a:pos x="f65" y="f66"/>
              </a:cxn>
              <a:cxn ang="f29">
                <a:pos x="f65" y="f64"/>
              </a:cxn>
            </a:cxnLst>
            <a:rect l="f63" t="f64" r="f65" b="f66"/>
            <a:pathLst>
              <a:path>
                <a:moveTo>
                  <a:pt x="f38" y="f52"/>
                </a:moveTo>
                <a:arcTo wR="f48" hR="f49" stAng="f1" swAng="f0"/>
                <a:close/>
              </a:path>
            </a:pathLst>
          </a:custGeom>
          <a:solidFill>
            <a:srgbClr val="66CCFF"/>
          </a:solidFill>
          <a:ln w="9528" cap="flat">
            <a:solidFill>
              <a:srgbClr val="000000"/>
            </a:solidFill>
            <a:prstDash val="solid"/>
            <a:round/>
          </a:ln>
        </p:spPr>
        <p:txBody>
          <a:bodyPr vert="horz" wrap="none" lIns="91440" tIns="45720" rIns="91440" bIns="4572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240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</a:endParaRPr>
          </a:p>
        </p:txBody>
      </p:sp>
      <p:sp>
        <p:nvSpPr>
          <p:cNvPr id="19" name="Oval 22">
            <a:extLst>
              <a:ext uri="{FF2B5EF4-FFF2-40B4-BE49-F238E27FC236}">
                <a16:creationId xmlns:a16="http://schemas.microsoft.com/office/drawing/2014/main" id="{A5A4D196-C8B5-925B-72F1-862C7D31F81B}"/>
              </a:ext>
            </a:extLst>
          </p:cNvPr>
          <p:cNvSpPr/>
          <p:nvPr/>
        </p:nvSpPr>
        <p:spPr>
          <a:xfrm>
            <a:off x="9753603" y="4572000"/>
            <a:ext cx="76196" cy="76196"/>
          </a:xfrm>
          <a:custGeom>
            <a:avLst/>
            <a:gdLst>
              <a:gd name="f0" fmla="val 21600000"/>
              <a:gd name="f1" fmla="val 10800000"/>
              <a:gd name="f2" fmla="val 5400000"/>
              <a:gd name="f3" fmla="val 18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+- 0 0 -360"/>
              <a:gd name="f10" fmla="+- 0 0 -180"/>
              <a:gd name="f11" fmla="abs f4"/>
              <a:gd name="f12" fmla="abs f5"/>
              <a:gd name="f13" fmla="abs f6"/>
              <a:gd name="f14" fmla="val f7"/>
              <a:gd name="f15" fmla="+- 2700000 f2 0"/>
              <a:gd name="f16" fmla="*/ f9 f1 1"/>
              <a:gd name="f17" fmla="*/ f10 f1 1"/>
              <a:gd name="f18" fmla="?: f11 f4 1"/>
              <a:gd name="f19" fmla="?: f12 f5 1"/>
              <a:gd name="f20" fmla="?: f13 f6 1"/>
              <a:gd name="f21" fmla="*/ f15 f8 1"/>
              <a:gd name="f22" fmla="*/ f16 1 f3"/>
              <a:gd name="f23" fmla="*/ f17 1 f3"/>
              <a:gd name="f24" fmla="*/ f18 1 21600"/>
              <a:gd name="f25" fmla="*/ f19 1 21600"/>
              <a:gd name="f26" fmla="*/ 21600 f18 1"/>
              <a:gd name="f27" fmla="*/ 21600 f19 1"/>
              <a:gd name="f28" fmla="*/ f21 1 f1"/>
              <a:gd name="f29" fmla="+- f22 0 f2"/>
              <a:gd name="f30" fmla="+- f23 0 f2"/>
              <a:gd name="f31" fmla="min f25 f24"/>
              <a:gd name="f32" fmla="*/ f26 1 f20"/>
              <a:gd name="f33" fmla="*/ f27 1 f20"/>
              <a:gd name="f34" fmla="+- 0 0 f28"/>
              <a:gd name="f35" fmla="val f32"/>
              <a:gd name="f36" fmla="val f33"/>
              <a:gd name="f37" fmla="+- 0 0 f34"/>
              <a:gd name="f38" fmla="*/ f14 f31 1"/>
              <a:gd name="f39" fmla="+- f36 0 f14"/>
              <a:gd name="f40" fmla="+- f35 0 f14"/>
              <a:gd name="f41" fmla="*/ f37 f1 1"/>
              <a:gd name="f42" fmla="*/ f39 1 2"/>
              <a:gd name="f43" fmla="*/ f40 1 2"/>
              <a:gd name="f44" fmla="*/ f41 1 f8"/>
              <a:gd name="f45" fmla="+- f14 f42 0"/>
              <a:gd name="f46" fmla="+- f14 f43 0"/>
              <a:gd name="f47" fmla="+- f44 0 f2"/>
              <a:gd name="f48" fmla="*/ f43 f31 1"/>
              <a:gd name="f49" fmla="*/ f42 f31 1"/>
              <a:gd name="f50" fmla="cos 1 f47"/>
              <a:gd name="f51" fmla="sin 1 f47"/>
              <a:gd name="f52" fmla="*/ f45 f31 1"/>
              <a:gd name="f53" fmla="+- 0 0 f50"/>
              <a:gd name="f54" fmla="+- 0 0 f51"/>
              <a:gd name="f55" fmla="+- 0 0 f53"/>
              <a:gd name="f56" fmla="+- 0 0 f54"/>
              <a:gd name="f57" fmla="*/ f55 f43 1"/>
              <a:gd name="f58" fmla="*/ f56 f42 1"/>
              <a:gd name="f59" fmla="+- f46 0 f57"/>
              <a:gd name="f60" fmla="+- f46 f57 0"/>
              <a:gd name="f61" fmla="+- f45 0 f58"/>
              <a:gd name="f62" fmla="+- f45 f58 0"/>
              <a:gd name="f63" fmla="*/ f59 f31 1"/>
              <a:gd name="f64" fmla="*/ f61 f31 1"/>
              <a:gd name="f65" fmla="*/ f60 f31 1"/>
              <a:gd name="f66" fmla="*/ f62 f31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63" y="f64"/>
              </a:cxn>
              <a:cxn ang="f30">
                <a:pos x="f63" y="f66"/>
              </a:cxn>
              <a:cxn ang="f30">
                <a:pos x="f65" y="f66"/>
              </a:cxn>
              <a:cxn ang="f29">
                <a:pos x="f65" y="f64"/>
              </a:cxn>
            </a:cxnLst>
            <a:rect l="f63" t="f64" r="f65" b="f66"/>
            <a:pathLst>
              <a:path>
                <a:moveTo>
                  <a:pt x="f38" y="f52"/>
                </a:moveTo>
                <a:arcTo wR="f48" hR="f49" stAng="f1" swAng="f0"/>
                <a:close/>
              </a:path>
            </a:pathLst>
          </a:custGeom>
          <a:solidFill>
            <a:srgbClr val="66CCFF"/>
          </a:solidFill>
          <a:ln w="9528" cap="flat">
            <a:solidFill>
              <a:srgbClr val="000000"/>
            </a:solidFill>
            <a:prstDash val="solid"/>
            <a:round/>
          </a:ln>
        </p:spPr>
        <p:txBody>
          <a:bodyPr vert="horz" wrap="none" lIns="91440" tIns="45720" rIns="91440" bIns="4572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240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</a:endParaRPr>
          </a:p>
        </p:txBody>
      </p:sp>
      <p:sp>
        <p:nvSpPr>
          <p:cNvPr id="20" name="Oval 23">
            <a:extLst>
              <a:ext uri="{FF2B5EF4-FFF2-40B4-BE49-F238E27FC236}">
                <a16:creationId xmlns:a16="http://schemas.microsoft.com/office/drawing/2014/main" id="{6DEFC1A2-C8A5-7FA0-C8B8-901510A9CB98}"/>
              </a:ext>
            </a:extLst>
          </p:cNvPr>
          <p:cNvSpPr/>
          <p:nvPr/>
        </p:nvSpPr>
        <p:spPr>
          <a:xfrm>
            <a:off x="9905996" y="4648196"/>
            <a:ext cx="76196" cy="76196"/>
          </a:xfrm>
          <a:custGeom>
            <a:avLst/>
            <a:gdLst>
              <a:gd name="f0" fmla="val 21600000"/>
              <a:gd name="f1" fmla="val 10800000"/>
              <a:gd name="f2" fmla="val 5400000"/>
              <a:gd name="f3" fmla="val 18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+- 0 0 -360"/>
              <a:gd name="f10" fmla="+- 0 0 -180"/>
              <a:gd name="f11" fmla="abs f4"/>
              <a:gd name="f12" fmla="abs f5"/>
              <a:gd name="f13" fmla="abs f6"/>
              <a:gd name="f14" fmla="val f7"/>
              <a:gd name="f15" fmla="+- 2700000 f2 0"/>
              <a:gd name="f16" fmla="*/ f9 f1 1"/>
              <a:gd name="f17" fmla="*/ f10 f1 1"/>
              <a:gd name="f18" fmla="?: f11 f4 1"/>
              <a:gd name="f19" fmla="?: f12 f5 1"/>
              <a:gd name="f20" fmla="?: f13 f6 1"/>
              <a:gd name="f21" fmla="*/ f15 f8 1"/>
              <a:gd name="f22" fmla="*/ f16 1 f3"/>
              <a:gd name="f23" fmla="*/ f17 1 f3"/>
              <a:gd name="f24" fmla="*/ f18 1 21600"/>
              <a:gd name="f25" fmla="*/ f19 1 21600"/>
              <a:gd name="f26" fmla="*/ 21600 f18 1"/>
              <a:gd name="f27" fmla="*/ 21600 f19 1"/>
              <a:gd name="f28" fmla="*/ f21 1 f1"/>
              <a:gd name="f29" fmla="+- f22 0 f2"/>
              <a:gd name="f30" fmla="+- f23 0 f2"/>
              <a:gd name="f31" fmla="min f25 f24"/>
              <a:gd name="f32" fmla="*/ f26 1 f20"/>
              <a:gd name="f33" fmla="*/ f27 1 f20"/>
              <a:gd name="f34" fmla="+- 0 0 f28"/>
              <a:gd name="f35" fmla="val f32"/>
              <a:gd name="f36" fmla="val f33"/>
              <a:gd name="f37" fmla="+- 0 0 f34"/>
              <a:gd name="f38" fmla="*/ f14 f31 1"/>
              <a:gd name="f39" fmla="+- f36 0 f14"/>
              <a:gd name="f40" fmla="+- f35 0 f14"/>
              <a:gd name="f41" fmla="*/ f37 f1 1"/>
              <a:gd name="f42" fmla="*/ f39 1 2"/>
              <a:gd name="f43" fmla="*/ f40 1 2"/>
              <a:gd name="f44" fmla="*/ f41 1 f8"/>
              <a:gd name="f45" fmla="+- f14 f42 0"/>
              <a:gd name="f46" fmla="+- f14 f43 0"/>
              <a:gd name="f47" fmla="+- f44 0 f2"/>
              <a:gd name="f48" fmla="*/ f43 f31 1"/>
              <a:gd name="f49" fmla="*/ f42 f31 1"/>
              <a:gd name="f50" fmla="cos 1 f47"/>
              <a:gd name="f51" fmla="sin 1 f47"/>
              <a:gd name="f52" fmla="*/ f45 f31 1"/>
              <a:gd name="f53" fmla="+- 0 0 f50"/>
              <a:gd name="f54" fmla="+- 0 0 f51"/>
              <a:gd name="f55" fmla="+- 0 0 f53"/>
              <a:gd name="f56" fmla="+- 0 0 f54"/>
              <a:gd name="f57" fmla="*/ f55 f43 1"/>
              <a:gd name="f58" fmla="*/ f56 f42 1"/>
              <a:gd name="f59" fmla="+- f46 0 f57"/>
              <a:gd name="f60" fmla="+- f46 f57 0"/>
              <a:gd name="f61" fmla="+- f45 0 f58"/>
              <a:gd name="f62" fmla="+- f45 f58 0"/>
              <a:gd name="f63" fmla="*/ f59 f31 1"/>
              <a:gd name="f64" fmla="*/ f61 f31 1"/>
              <a:gd name="f65" fmla="*/ f60 f31 1"/>
              <a:gd name="f66" fmla="*/ f62 f31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63" y="f64"/>
              </a:cxn>
              <a:cxn ang="f30">
                <a:pos x="f63" y="f66"/>
              </a:cxn>
              <a:cxn ang="f30">
                <a:pos x="f65" y="f66"/>
              </a:cxn>
              <a:cxn ang="f29">
                <a:pos x="f65" y="f64"/>
              </a:cxn>
            </a:cxnLst>
            <a:rect l="f63" t="f64" r="f65" b="f66"/>
            <a:pathLst>
              <a:path>
                <a:moveTo>
                  <a:pt x="f38" y="f52"/>
                </a:moveTo>
                <a:arcTo wR="f48" hR="f49" stAng="f1" swAng="f0"/>
                <a:close/>
              </a:path>
            </a:pathLst>
          </a:custGeom>
          <a:solidFill>
            <a:srgbClr val="66CCFF"/>
          </a:solidFill>
          <a:ln w="9528" cap="flat">
            <a:solidFill>
              <a:srgbClr val="000000"/>
            </a:solidFill>
            <a:prstDash val="solid"/>
            <a:round/>
          </a:ln>
        </p:spPr>
        <p:txBody>
          <a:bodyPr vert="horz" wrap="none" lIns="91440" tIns="45720" rIns="91440" bIns="4572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240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</a:endParaRPr>
          </a:p>
        </p:txBody>
      </p:sp>
      <p:grpSp>
        <p:nvGrpSpPr>
          <p:cNvPr id="21" name="Group 27">
            <a:extLst>
              <a:ext uri="{FF2B5EF4-FFF2-40B4-BE49-F238E27FC236}">
                <a16:creationId xmlns:a16="http://schemas.microsoft.com/office/drawing/2014/main" id="{0986CCFA-E483-FA43-4A46-4381A157D4E0}"/>
              </a:ext>
            </a:extLst>
          </p:cNvPr>
          <p:cNvGrpSpPr/>
          <p:nvPr/>
        </p:nvGrpSpPr>
        <p:grpSpPr>
          <a:xfrm>
            <a:off x="9372600" y="4724403"/>
            <a:ext cx="228599" cy="152393"/>
            <a:chOff x="9372600" y="4724403"/>
            <a:chExt cx="228599" cy="152393"/>
          </a:xfrm>
        </p:grpSpPr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2DDA841A-03E3-04D5-8289-68C3C13D2881}"/>
                </a:ext>
              </a:extLst>
            </p:cNvPr>
            <p:cNvSpPr/>
            <p:nvPr/>
          </p:nvSpPr>
          <p:spPr>
            <a:xfrm>
              <a:off x="9525003" y="4724403"/>
              <a:ext cx="76196" cy="76196"/>
            </a:xfrm>
            <a:custGeom>
              <a:avLst/>
              <a:gdLst>
                <a:gd name="f0" fmla="val 21600000"/>
                <a:gd name="f1" fmla="val 10800000"/>
                <a:gd name="f2" fmla="val 5400000"/>
                <a:gd name="f3" fmla="val 180"/>
                <a:gd name="f4" fmla="val w"/>
                <a:gd name="f5" fmla="val h"/>
                <a:gd name="f6" fmla="val ss"/>
                <a:gd name="f7" fmla="val 0"/>
                <a:gd name="f8" fmla="*/ 5419351 1 1725033"/>
                <a:gd name="f9" fmla="+- 0 0 -360"/>
                <a:gd name="f10" fmla="+- 0 0 -180"/>
                <a:gd name="f11" fmla="abs f4"/>
                <a:gd name="f12" fmla="abs f5"/>
                <a:gd name="f13" fmla="abs f6"/>
                <a:gd name="f14" fmla="val f7"/>
                <a:gd name="f15" fmla="+- 2700000 f2 0"/>
                <a:gd name="f16" fmla="*/ f9 f1 1"/>
                <a:gd name="f17" fmla="*/ f10 f1 1"/>
                <a:gd name="f18" fmla="?: f11 f4 1"/>
                <a:gd name="f19" fmla="?: f12 f5 1"/>
                <a:gd name="f20" fmla="?: f13 f6 1"/>
                <a:gd name="f21" fmla="*/ f15 f8 1"/>
                <a:gd name="f22" fmla="*/ f16 1 f3"/>
                <a:gd name="f23" fmla="*/ f17 1 f3"/>
                <a:gd name="f24" fmla="*/ f18 1 21600"/>
                <a:gd name="f25" fmla="*/ f19 1 21600"/>
                <a:gd name="f26" fmla="*/ 21600 f18 1"/>
                <a:gd name="f27" fmla="*/ 21600 f19 1"/>
                <a:gd name="f28" fmla="*/ f21 1 f1"/>
                <a:gd name="f29" fmla="+- f22 0 f2"/>
                <a:gd name="f30" fmla="+- f23 0 f2"/>
                <a:gd name="f31" fmla="min f25 f24"/>
                <a:gd name="f32" fmla="*/ f26 1 f20"/>
                <a:gd name="f33" fmla="*/ f27 1 f20"/>
                <a:gd name="f34" fmla="+- 0 0 f28"/>
                <a:gd name="f35" fmla="val f32"/>
                <a:gd name="f36" fmla="val f33"/>
                <a:gd name="f37" fmla="+- 0 0 f34"/>
                <a:gd name="f38" fmla="*/ f14 f31 1"/>
                <a:gd name="f39" fmla="+- f36 0 f14"/>
                <a:gd name="f40" fmla="+- f35 0 f14"/>
                <a:gd name="f41" fmla="*/ f37 f1 1"/>
                <a:gd name="f42" fmla="*/ f39 1 2"/>
                <a:gd name="f43" fmla="*/ f40 1 2"/>
                <a:gd name="f44" fmla="*/ f41 1 f8"/>
                <a:gd name="f45" fmla="+- f14 f42 0"/>
                <a:gd name="f46" fmla="+- f14 f43 0"/>
                <a:gd name="f47" fmla="+- f44 0 f2"/>
                <a:gd name="f48" fmla="*/ f43 f31 1"/>
                <a:gd name="f49" fmla="*/ f42 f31 1"/>
                <a:gd name="f50" fmla="cos 1 f47"/>
                <a:gd name="f51" fmla="sin 1 f47"/>
                <a:gd name="f52" fmla="*/ f45 f31 1"/>
                <a:gd name="f53" fmla="+- 0 0 f50"/>
                <a:gd name="f54" fmla="+- 0 0 f51"/>
                <a:gd name="f55" fmla="+- 0 0 f53"/>
                <a:gd name="f56" fmla="+- 0 0 f54"/>
                <a:gd name="f57" fmla="*/ f55 f43 1"/>
                <a:gd name="f58" fmla="*/ f56 f42 1"/>
                <a:gd name="f59" fmla="+- f46 0 f57"/>
                <a:gd name="f60" fmla="+- f46 f57 0"/>
                <a:gd name="f61" fmla="+- f45 0 f58"/>
                <a:gd name="f62" fmla="+- f45 f58 0"/>
                <a:gd name="f63" fmla="*/ f59 f31 1"/>
                <a:gd name="f64" fmla="*/ f61 f31 1"/>
                <a:gd name="f65" fmla="*/ f60 f31 1"/>
                <a:gd name="f66" fmla="*/ f62 f31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9">
                  <a:pos x="f63" y="f64"/>
                </a:cxn>
                <a:cxn ang="f30">
                  <a:pos x="f63" y="f66"/>
                </a:cxn>
                <a:cxn ang="f30">
                  <a:pos x="f65" y="f66"/>
                </a:cxn>
                <a:cxn ang="f29">
                  <a:pos x="f65" y="f64"/>
                </a:cxn>
              </a:cxnLst>
              <a:rect l="f63" t="f64" r="f65" b="f66"/>
              <a:pathLst>
                <a:path>
                  <a:moveTo>
                    <a:pt x="f38" y="f52"/>
                  </a:moveTo>
                  <a:arcTo wR="f48" hR="f49" stAng="f1" swAng="f0"/>
                  <a:close/>
                </a:path>
              </a:pathLst>
            </a:custGeom>
            <a:solidFill>
              <a:srgbClr val="66CCFF"/>
            </a:solidFill>
            <a:ln w="9528" cap="flat">
              <a:solidFill>
                <a:srgbClr val="000000"/>
              </a:solidFill>
              <a:prstDash val="solid"/>
              <a:round/>
            </a:ln>
          </p:spPr>
          <p:txBody>
            <a:bodyPr vert="horz" wrap="none" lIns="91440" tIns="45720" rIns="91440" bIns="45720" anchor="ctr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2400" b="0" i="0" u="none" strike="noStrike" kern="1200" cap="none" spc="0" baseline="0">
                <a:solidFill>
                  <a:srgbClr val="000000"/>
                </a:solidFill>
                <a:uFillTx/>
                <a:latin typeface="Times New Roman" pitchFamily="18"/>
              </a:endParaRPr>
            </a:p>
          </p:txBody>
        </p:sp>
        <p:sp>
          <p:nvSpPr>
            <p:cNvPr id="23" name="Oval 24">
              <a:extLst>
                <a:ext uri="{FF2B5EF4-FFF2-40B4-BE49-F238E27FC236}">
                  <a16:creationId xmlns:a16="http://schemas.microsoft.com/office/drawing/2014/main" id="{9CB4AB67-AA42-16FA-E219-CF3760F05D8D}"/>
                </a:ext>
              </a:extLst>
            </p:cNvPr>
            <p:cNvSpPr/>
            <p:nvPr/>
          </p:nvSpPr>
          <p:spPr>
            <a:xfrm>
              <a:off x="9372600" y="4800600"/>
              <a:ext cx="76196" cy="76196"/>
            </a:xfrm>
            <a:custGeom>
              <a:avLst/>
              <a:gdLst>
                <a:gd name="f0" fmla="val 21600000"/>
                <a:gd name="f1" fmla="val 10800000"/>
                <a:gd name="f2" fmla="val 5400000"/>
                <a:gd name="f3" fmla="val 180"/>
                <a:gd name="f4" fmla="val w"/>
                <a:gd name="f5" fmla="val h"/>
                <a:gd name="f6" fmla="val ss"/>
                <a:gd name="f7" fmla="val 0"/>
                <a:gd name="f8" fmla="*/ 5419351 1 1725033"/>
                <a:gd name="f9" fmla="+- 0 0 -360"/>
                <a:gd name="f10" fmla="+- 0 0 -180"/>
                <a:gd name="f11" fmla="abs f4"/>
                <a:gd name="f12" fmla="abs f5"/>
                <a:gd name="f13" fmla="abs f6"/>
                <a:gd name="f14" fmla="val f7"/>
                <a:gd name="f15" fmla="+- 2700000 f2 0"/>
                <a:gd name="f16" fmla="*/ f9 f1 1"/>
                <a:gd name="f17" fmla="*/ f10 f1 1"/>
                <a:gd name="f18" fmla="?: f11 f4 1"/>
                <a:gd name="f19" fmla="?: f12 f5 1"/>
                <a:gd name="f20" fmla="?: f13 f6 1"/>
                <a:gd name="f21" fmla="*/ f15 f8 1"/>
                <a:gd name="f22" fmla="*/ f16 1 f3"/>
                <a:gd name="f23" fmla="*/ f17 1 f3"/>
                <a:gd name="f24" fmla="*/ f18 1 21600"/>
                <a:gd name="f25" fmla="*/ f19 1 21600"/>
                <a:gd name="f26" fmla="*/ 21600 f18 1"/>
                <a:gd name="f27" fmla="*/ 21600 f19 1"/>
                <a:gd name="f28" fmla="*/ f21 1 f1"/>
                <a:gd name="f29" fmla="+- f22 0 f2"/>
                <a:gd name="f30" fmla="+- f23 0 f2"/>
                <a:gd name="f31" fmla="min f25 f24"/>
                <a:gd name="f32" fmla="*/ f26 1 f20"/>
                <a:gd name="f33" fmla="*/ f27 1 f20"/>
                <a:gd name="f34" fmla="+- 0 0 f28"/>
                <a:gd name="f35" fmla="val f32"/>
                <a:gd name="f36" fmla="val f33"/>
                <a:gd name="f37" fmla="+- 0 0 f34"/>
                <a:gd name="f38" fmla="*/ f14 f31 1"/>
                <a:gd name="f39" fmla="+- f36 0 f14"/>
                <a:gd name="f40" fmla="+- f35 0 f14"/>
                <a:gd name="f41" fmla="*/ f37 f1 1"/>
                <a:gd name="f42" fmla="*/ f39 1 2"/>
                <a:gd name="f43" fmla="*/ f40 1 2"/>
                <a:gd name="f44" fmla="*/ f41 1 f8"/>
                <a:gd name="f45" fmla="+- f14 f42 0"/>
                <a:gd name="f46" fmla="+- f14 f43 0"/>
                <a:gd name="f47" fmla="+- f44 0 f2"/>
                <a:gd name="f48" fmla="*/ f43 f31 1"/>
                <a:gd name="f49" fmla="*/ f42 f31 1"/>
                <a:gd name="f50" fmla="cos 1 f47"/>
                <a:gd name="f51" fmla="sin 1 f47"/>
                <a:gd name="f52" fmla="*/ f45 f31 1"/>
                <a:gd name="f53" fmla="+- 0 0 f50"/>
                <a:gd name="f54" fmla="+- 0 0 f51"/>
                <a:gd name="f55" fmla="+- 0 0 f53"/>
                <a:gd name="f56" fmla="+- 0 0 f54"/>
                <a:gd name="f57" fmla="*/ f55 f43 1"/>
                <a:gd name="f58" fmla="*/ f56 f42 1"/>
                <a:gd name="f59" fmla="+- f46 0 f57"/>
                <a:gd name="f60" fmla="+- f46 f57 0"/>
                <a:gd name="f61" fmla="+- f45 0 f58"/>
                <a:gd name="f62" fmla="+- f45 f58 0"/>
                <a:gd name="f63" fmla="*/ f59 f31 1"/>
                <a:gd name="f64" fmla="*/ f61 f31 1"/>
                <a:gd name="f65" fmla="*/ f60 f31 1"/>
                <a:gd name="f66" fmla="*/ f62 f31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9">
                  <a:pos x="f63" y="f64"/>
                </a:cxn>
                <a:cxn ang="f30">
                  <a:pos x="f63" y="f66"/>
                </a:cxn>
                <a:cxn ang="f30">
                  <a:pos x="f65" y="f66"/>
                </a:cxn>
                <a:cxn ang="f29">
                  <a:pos x="f65" y="f64"/>
                </a:cxn>
              </a:cxnLst>
              <a:rect l="f63" t="f64" r="f65" b="f66"/>
              <a:pathLst>
                <a:path>
                  <a:moveTo>
                    <a:pt x="f38" y="f52"/>
                  </a:moveTo>
                  <a:arcTo wR="f48" hR="f49" stAng="f1" swAng="f0"/>
                  <a:close/>
                </a:path>
              </a:pathLst>
            </a:custGeom>
            <a:solidFill>
              <a:srgbClr val="66CCFF"/>
            </a:solidFill>
            <a:ln w="9528" cap="flat">
              <a:solidFill>
                <a:srgbClr val="000000"/>
              </a:solidFill>
              <a:prstDash val="solid"/>
              <a:round/>
            </a:ln>
          </p:spPr>
          <p:txBody>
            <a:bodyPr vert="horz" wrap="none" lIns="91440" tIns="45720" rIns="91440" bIns="45720" anchor="ctr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2400" b="0" i="0" u="none" strike="noStrike" kern="1200" cap="none" spc="0" baseline="0">
                <a:solidFill>
                  <a:srgbClr val="000000"/>
                </a:solidFill>
                <a:uFillTx/>
                <a:latin typeface="Times New Roman" pitchFamily="18"/>
              </a:endParaRPr>
            </a:p>
          </p:txBody>
        </p:sp>
      </p:grpSp>
      <p:sp>
        <p:nvSpPr>
          <p:cNvPr id="24" name="Oval 25">
            <a:extLst>
              <a:ext uri="{FF2B5EF4-FFF2-40B4-BE49-F238E27FC236}">
                <a16:creationId xmlns:a16="http://schemas.microsoft.com/office/drawing/2014/main" id="{834B0F65-7FD1-D0C5-0043-3380CB322CC1}"/>
              </a:ext>
            </a:extLst>
          </p:cNvPr>
          <p:cNvSpPr/>
          <p:nvPr/>
        </p:nvSpPr>
        <p:spPr>
          <a:xfrm>
            <a:off x="9753603" y="4343400"/>
            <a:ext cx="76196" cy="76196"/>
          </a:xfrm>
          <a:custGeom>
            <a:avLst/>
            <a:gdLst>
              <a:gd name="f0" fmla="val 21600000"/>
              <a:gd name="f1" fmla="val 10800000"/>
              <a:gd name="f2" fmla="val 5400000"/>
              <a:gd name="f3" fmla="val 18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+- 0 0 -360"/>
              <a:gd name="f10" fmla="+- 0 0 -180"/>
              <a:gd name="f11" fmla="abs f4"/>
              <a:gd name="f12" fmla="abs f5"/>
              <a:gd name="f13" fmla="abs f6"/>
              <a:gd name="f14" fmla="val f7"/>
              <a:gd name="f15" fmla="+- 2700000 f2 0"/>
              <a:gd name="f16" fmla="*/ f9 f1 1"/>
              <a:gd name="f17" fmla="*/ f10 f1 1"/>
              <a:gd name="f18" fmla="?: f11 f4 1"/>
              <a:gd name="f19" fmla="?: f12 f5 1"/>
              <a:gd name="f20" fmla="?: f13 f6 1"/>
              <a:gd name="f21" fmla="*/ f15 f8 1"/>
              <a:gd name="f22" fmla="*/ f16 1 f3"/>
              <a:gd name="f23" fmla="*/ f17 1 f3"/>
              <a:gd name="f24" fmla="*/ f18 1 21600"/>
              <a:gd name="f25" fmla="*/ f19 1 21600"/>
              <a:gd name="f26" fmla="*/ 21600 f18 1"/>
              <a:gd name="f27" fmla="*/ 21600 f19 1"/>
              <a:gd name="f28" fmla="*/ f21 1 f1"/>
              <a:gd name="f29" fmla="+- f22 0 f2"/>
              <a:gd name="f30" fmla="+- f23 0 f2"/>
              <a:gd name="f31" fmla="min f25 f24"/>
              <a:gd name="f32" fmla="*/ f26 1 f20"/>
              <a:gd name="f33" fmla="*/ f27 1 f20"/>
              <a:gd name="f34" fmla="+- 0 0 f28"/>
              <a:gd name="f35" fmla="val f32"/>
              <a:gd name="f36" fmla="val f33"/>
              <a:gd name="f37" fmla="+- 0 0 f34"/>
              <a:gd name="f38" fmla="*/ f14 f31 1"/>
              <a:gd name="f39" fmla="+- f36 0 f14"/>
              <a:gd name="f40" fmla="+- f35 0 f14"/>
              <a:gd name="f41" fmla="*/ f37 f1 1"/>
              <a:gd name="f42" fmla="*/ f39 1 2"/>
              <a:gd name="f43" fmla="*/ f40 1 2"/>
              <a:gd name="f44" fmla="*/ f41 1 f8"/>
              <a:gd name="f45" fmla="+- f14 f42 0"/>
              <a:gd name="f46" fmla="+- f14 f43 0"/>
              <a:gd name="f47" fmla="+- f44 0 f2"/>
              <a:gd name="f48" fmla="*/ f43 f31 1"/>
              <a:gd name="f49" fmla="*/ f42 f31 1"/>
              <a:gd name="f50" fmla="cos 1 f47"/>
              <a:gd name="f51" fmla="sin 1 f47"/>
              <a:gd name="f52" fmla="*/ f45 f31 1"/>
              <a:gd name="f53" fmla="+- 0 0 f50"/>
              <a:gd name="f54" fmla="+- 0 0 f51"/>
              <a:gd name="f55" fmla="+- 0 0 f53"/>
              <a:gd name="f56" fmla="+- 0 0 f54"/>
              <a:gd name="f57" fmla="*/ f55 f43 1"/>
              <a:gd name="f58" fmla="*/ f56 f42 1"/>
              <a:gd name="f59" fmla="+- f46 0 f57"/>
              <a:gd name="f60" fmla="+- f46 f57 0"/>
              <a:gd name="f61" fmla="+- f45 0 f58"/>
              <a:gd name="f62" fmla="+- f45 f58 0"/>
              <a:gd name="f63" fmla="*/ f59 f31 1"/>
              <a:gd name="f64" fmla="*/ f61 f31 1"/>
              <a:gd name="f65" fmla="*/ f60 f31 1"/>
              <a:gd name="f66" fmla="*/ f62 f31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63" y="f64"/>
              </a:cxn>
              <a:cxn ang="f30">
                <a:pos x="f63" y="f66"/>
              </a:cxn>
              <a:cxn ang="f30">
                <a:pos x="f65" y="f66"/>
              </a:cxn>
              <a:cxn ang="f29">
                <a:pos x="f65" y="f64"/>
              </a:cxn>
            </a:cxnLst>
            <a:rect l="f63" t="f64" r="f65" b="f66"/>
            <a:pathLst>
              <a:path>
                <a:moveTo>
                  <a:pt x="f38" y="f52"/>
                </a:moveTo>
                <a:arcTo wR="f48" hR="f49" stAng="f1" swAng="f0"/>
                <a:close/>
              </a:path>
            </a:pathLst>
          </a:custGeom>
          <a:solidFill>
            <a:srgbClr val="66CCFF"/>
          </a:solidFill>
          <a:ln w="9528" cap="flat">
            <a:solidFill>
              <a:srgbClr val="000000"/>
            </a:solidFill>
            <a:prstDash val="solid"/>
            <a:round/>
          </a:ln>
        </p:spPr>
        <p:txBody>
          <a:bodyPr vert="horz" wrap="none" lIns="91440" tIns="45720" rIns="91440" bIns="4572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240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</a:endParaRPr>
          </a:p>
        </p:txBody>
      </p:sp>
      <p:sp>
        <p:nvSpPr>
          <p:cNvPr id="25" name="WordArt 28">
            <a:extLst>
              <a:ext uri="{FF2B5EF4-FFF2-40B4-BE49-F238E27FC236}">
                <a16:creationId xmlns:a16="http://schemas.microsoft.com/office/drawing/2014/main" id="{BF77BCA6-5A46-F356-2C63-26491C97912A}"/>
              </a:ext>
            </a:extLst>
          </p:cNvPr>
          <p:cNvSpPr/>
          <p:nvPr/>
        </p:nvSpPr>
        <p:spPr>
          <a:xfrm>
            <a:off x="609603" y="4953003"/>
            <a:ext cx="1343025" cy="630241"/>
          </a:xfrm>
          <a:prstGeom prst="rect">
            <a:avLst/>
          </a:prstGeom>
        </p:spPr>
        <p:txBody>
          <a:bodyPr vert="horz" wrap="none" lIns="91440" tIns="45720" rIns="91440" bIns="45720" fromWordArt="1" anchor="t" anchorCtr="1" compatLnSpc="1">
            <a:prstTxWarp prst="textPlain">
              <a:avLst/>
            </a:prstTxWarp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800" b="0" i="0" u="none" strike="noStrike" kern="1200" cap="none" spc="0" baseline="0">
                <a:ln w="9528" cap="flat">
                  <a:solidFill>
                    <a:srgbClr val="CC99FF"/>
                  </a:solidFill>
                  <a:prstDash val="solid"/>
                  <a:round/>
                </a:ln>
                <a:gradFill>
                  <a:gsLst>
                    <a:gs pos="0">
                      <a:srgbClr val="6600CC"/>
                    </a:gs>
                    <a:gs pos="100000">
                      <a:srgbClr val="CC00CC"/>
                    </a:gs>
                  </a:gsLst>
                  <a:lin ang="5400000"/>
                </a:gradFill>
                <a:effectLst>
                  <a:outerShdw dist="53886" dir="2700000" algn="tl">
                    <a:srgbClr val="9999FF">
                      <a:alpha val="79999"/>
                    </a:srgbClr>
                  </a:outerShdw>
                </a:effectLst>
                <a:uFillTx/>
                <a:latin typeface="Impact" pitchFamily="34"/>
              </a:rPr>
              <a:t>Question:</a:t>
            </a:r>
          </a:p>
        </p:txBody>
      </p:sp>
      <p:sp>
        <p:nvSpPr>
          <p:cNvPr id="26" name="Text Box 29">
            <a:extLst>
              <a:ext uri="{FF2B5EF4-FFF2-40B4-BE49-F238E27FC236}">
                <a16:creationId xmlns:a16="http://schemas.microsoft.com/office/drawing/2014/main" id="{9F75DA9A-7EFD-1CF8-E320-6BC3B6C06E97}"/>
              </a:ext>
            </a:extLst>
          </p:cNvPr>
          <p:cNvSpPr txBox="1"/>
          <p:nvPr/>
        </p:nvSpPr>
        <p:spPr>
          <a:xfrm>
            <a:off x="7010403" y="5486400"/>
            <a:ext cx="990596" cy="45720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400" b="0" i="0" u="none" strike="noStrike" kern="1200" cap="none" spc="0" baseline="0">
                <a:solidFill>
                  <a:srgbClr val="FF0000"/>
                </a:solidFill>
                <a:uFillTx/>
                <a:latin typeface="Times New Roman" pitchFamily="18"/>
              </a:rPr>
              <a:t>0.4 A</a:t>
            </a:r>
          </a:p>
        </p:txBody>
      </p:sp>
      <p:sp>
        <p:nvSpPr>
          <p:cNvPr id="27" name="Text Box 30">
            <a:extLst>
              <a:ext uri="{FF2B5EF4-FFF2-40B4-BE49-F238E27FC236}">
                <a16:creationId xmlns:a16="http://schemas.microsoft.com/office/drawing/2014/main" id="{81BEC919-5BBA-0D21-0BED-1723F6DA14F1}"/>
              </a:ext>
            </a:extLst>
          </p:cNvPr>
          <p:cNvSpPr txBox="1"/>
          <p:nvPr/>
        </p:nvSpPr>
        <p:spPr>
          <a:xfrm>
            <a:off x="990596" y="5486400"/>
            <a:ext cx="6096003" cy="45720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400" b="0" i="0" u="none" strike="noStrike" kern="1200" cap="none" spc="0" baseline="0">
                <a:solidFill>
                  <a:srgbClr val="000000"/>
                </a:solidFill>
                <a:uFillTx/>
                <a:latin typeface="Times New Roman" pitchFamily="18"/>
              </a:rPr>
              <a:t>What is the current if 2 C passes a point in 5 s?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Effect">
                      <p:stCondLst>
                        <p:cond delay="indefinite"/>
                      </p:stCondLst>
                      <p:childTnLst>
                        <p:par>
                          <p:cTn id="4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Effect">
                      <p:stCondLst>
                        <p:cond delay="indefinite"/>
                      </p:stCondLst>
                      <p:childTnLst>
                        <p:par>
                          <p:cTn id="10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3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>
                                      <p:cBhvr>
                                        <p:cTn id="15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>
                                      <p:cBhvr>
                                        <p:cTn id="16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 by="(#ppt_h/3+#ppt_w*0.1)" calcmode="lin">
                                      <p:cBhvr>
                                        <p:cTn id="17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Effect">
                            <p:stCondLst>
                              <p:cond delay="1000"/>
                            </p:stCondLst>
                            <p:childTnLst>
                              <p:par>
                                <p:cTn id="19" presetID="2" presetClass="entr" presetSubtype="8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Effect">
                            <p:stCondLst>
                              <p:cond delay="1500"/>
                            </p:stCondLst>
                            <p:childTnLst>
                              <p:par>
                                <p:cTn id="24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Effect">
                            <p:stCondLst>
                              <p:cond delay="2000"/>
                            </p:stCondLst>
                            <p:childTnLst>
                              <p:par>
                                <p:cTn id="29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 nodeType="afterEffect">
                            <p:stCondLst>
                              <p:cond delay="2500"/>
                            </p:stCondLst>
                            <p:childTnLst>
                              <p:par>
                                <p:cTn id="38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2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-90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 nodeType="afterEffect">
                            <p:stCondLst>
                              <p:cond delay="3500"/>
                            </p:stCondLst>
                            <p:childTnLst>
                              <p:par>
                                <p:cTn id="57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 nodeType="afterEffect">
                            <p:stCondLst>
                              <p:cond delay="4000"/>
                            </p:stCondLst>
                            <p:childTnLst>
                              <p:par>
                                <p:cTn id="62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 nodeType="afterEffect">
                            <p:stCondLst>
                              <p:cond delay="4500"/>
                            </p:stCondLst>
                            <p:childTnLst>
                              <p:par>
                                <p:cTn id="67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 nodeType="afterEffect">
                            <p:stCondLst>
                              <p:cond delay="5000"/>
                            </p:stCondLst>
                            <p:childTnLst>
                              <p:par>
                                <p:cTn id="72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 nodeType="afterEffect">
                            <p:stCondLst>
                              <p:cond delay="5500"/>
                            </p:stCondLst>
                            <p:childTnLst>
                              <p:par>
                                <p:cTn id="81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 nodeType="afterEffect">
                            <p:stCondLst>
                              <p:cond delay="6000"/>
                            </p:stCondLst>
                            <p:childTnLst>
                              <p:par>
                                <p:cTn id="86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 nodeType="clickEffect">
                      <p:stCondLst>
                        <p:cond delay="indefinite"/>
                      </p:stCondLst>
                      <p:childTnLst>
                        <p:par>
                          <p:cTn id="91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92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>
                                      <p:cBhvr>
                                        <p:cTn id="94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>
                                      <p:cBhvr>
                                        <p:cTn id="95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 by="(#ppt_h/3+#ppt_w*0.1)" calcmode="lin">
                                      <p:cBhvr>
                                        <p:cTn id="96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0" grpId="0" animBg="1"/>
      <p:bldP spid="10" grpId="1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4" grpId="0" animBg="1"/>
      <p:bldP spid="26" grpId="0"/>
      <p:bldP spid="2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6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83821B28-4117-129D-48BC-FBF429E1D717}"/>
              </a:ext>
            </a:extLst>
          </p:cNvPr>
          <p:cNvSpPr/>
          <p:nvPr/>
        </p:nvSpPr>
        <p:spPr>
          <a:xfrm>
            <a:off x="3352803" y="457200"/>
            <a:ext cx="1981203" cy="685800"/>
          </a:xfrm>
          <a:prstGeom prst="rect">
            <a:avLst/>
          </a:prstGeom>
          <a:solidFill>
            <a:srgbClr val="969696"/>
          </a:solidFill>
          <a:ln w="9528" cap="flat">
            <a:solidFill>
              <a:srgbClr val="000000"/>
            </a:solidFill>
            <a:prstDash val="solid"/>
            <a:miter/>
          </a:ln>
        </p:spPr>
        <p:txBody>
          <a:bodyPr vert="horz" wrap="non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3600" b="0" i="0" u="none" strike="noStrike" kern="1200" cap="none" spc="0" baseline="0">
                <a:solidFill>
                  <a:srgbClr val="0000FF"/>
                </a:solidFill>
                <a:uFillTx/>
                <a:latin typeface="Times New Roman" pitchFamily="18"/>
              </a:rPr>
              <a:t>Summary</a:t>
            </a: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E9727BD0-5583-98AB-23FF-87EA96CBE5A0}"/>
              </a:ext>
            </a:extLst>
          </p:cNvPr>
          <p:cNvSpPr/>
          <p:nvPr/>
        </p:nvSpPr>
        <p:spPr>
          <a:xfrm>
            <a:off x="1219196" y="1371600"/>
            <a:ext cx="6019796" cy="685800"/>
          </a:xfrm>
          <a:prstGeom prst="rect">
            <a:avLst/>
          </a:prstGeom>
          <a:solidFill>
            <a:srgbClr val="969696"/>
          </a:solidFill>
          <a:ln w="9528" cap="flat">
            <a:solidFill>
              <a:srgbClr val="000000"/>
            </a:solidFill>
            <a:prstDash val="solid"/>
            <a:miter/>
          </a:ln>
        </p:spPr>
        <p:txBody>
          <a:bodyPr vert="horz" wrap="none" lIns="91440" tIns="45720" rIns="91440" bIns="4572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240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</a:endParaRPr>
          </a:p>
        </p:txBody>
      </p:sp>
      <p:sp>
        <p:nvSpPr>
          <p:cNvPr id="4" name="Text Box 4">
            <a:extLst>
              <a:ext uri="{FF2B5EF4-FFF2-40B4-BE49-F238E27FC236}">
                <a16:creationId xmlns:a16="http://schemas.microsoft.com/office/drawing/2014/main" id="{7F15BCBF-6FE8-3F6C-0578-ECE7F42ABEFD}"/>
              </a:ext>
            </a:extLst>
          </p:cNvPr>
          <p:cNvSpPr txBox="1"/>
          <p:nvPr/>
        </p:nvSpPr>
        <p:spPr>
          <a:xfrm>
            <a:off x="1371600" y="1447796"/>
            <a:ext cx="5791196" cy="519114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17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800" b="0" i="0" u="none" strike="noStrike" kern="1200" cap="none" spc="0" baseline="0">
                <a:solidFill>
                  <a:srgbClr val="000000"/>
                </a:solidFill>
                <a:uFillTx/>
                <a:latin typeface="Times New Roman" pitchFamily="18"/>
              </a:rPr>
              <a:t>Resistance is the opposition to current.  </a:t>
            </a:r>
          </a:p>
        </p:txBody>
      </p:sp>
      <p:sp>
        <p:nvSpPr>
          <p:cNvPr id="5" name="Text Box 6">
            <a:extLst>
              <a:ext uri="{FF2B5EF4-FFF2-40B4-BE49-F238E27FC236}">
                <a16:creationId xmlns:a16="http://schemas.microsoft.com/office/drawing/2014/main" id="{569E7B1A-F1BE-DF0E-9DC4-373F4EE23256}"/>
              </a:ext>
            </a:extLst>
          </p:cNvPr>
          <p:cNvSpPr txBox="1"/>
          <p:nvPr/>
        </p:nvSpPr>
        <p:spPr>
          <a:xfrm>
            <a:off x="1219196" y="2209803"/>
            <a:ext cx="6934196" cy="701673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000" b="0" i="0" u="none" strike="noStrike" kern="1200" cap="none" spc="0" baseline="0">
                <a:solidFill>
                  <a:srgbClr val="000000"/>
                </a:solidFill>
                <a:uFillTx/>
                <a:latin typeface="Times New Roman" pitchFamily="18"/>
              </a:rPr>
              <a:t>One ohm (1 </a:t>
            </a:r>
            <a:r>
              <a:rPr lang="en-US" sz="2000" b="0" i="0" u="none" strike="noStrike" kern="1200" cap="none" spc="0" baseline="0">
                <a:solidFill>
                  <a:srgbClr val="000000"/>
                </a:solidFill>
                <a:uFillTx/>
                <a:latin typeface="Symbol" pitchFamily="18"/>
              </a:rPr>
              <a:t>W</a:t>
            </a:r>
            <a:r>
              <a:rPr lang="en-US" sz="2000" b="0" i="0" u="none" strike="noStrike" kern="1200" cap="none" spc="0" baseline="0">
                <a:solidFill>
                  <a:srgbClr val="000000"/>
                </a:solidFill>
                <a:uFillTx/>
                <a:latin typeface="Times New Roman" pitchFamily="18"/>
              </a:rPr>
              <a:t>) is the resistance if one ampere (1 A) is in a material when one volt (1 V) is applied. </a:t>
            </a:r>
          </a:p>
        </p:txBody>
      </p:sp>
      <p:grpSp>
        <p:nvGrpSpPr>
          <p:cNvPr id="6" name="Group 30">
            <a:extLst>
              <a:ext uri="{FF2B5EF4-FFF2-40B4-BE49-F238E27FC236}">
                <a16:creationId xmlns:a16="http://schemas.microsoft.com/office/drawing/2014/main" id="{D47BE23E-A042-B1FB-1D62-29B991B030E5}"/>
              </a:ext>
            </a:extLst>
          </p:cNvPr>
          <p:cNvGrpSpPr/>
          <p:nvPr/>
        </p:nvGrpSpPr>
        <p:grpSpPr>
          <a:xfrm>
            <a:off x="1219196" y="2955926"/>
            <a:ext cx="6934196" cy="1139816"/>
            <a:chOff x="1219196" y="2955926"/>
            <a:chExt cx="6934196" cy="1139816"/>
          </a:xfrm>
        </p:grpSpPr>
        <p:sp>
          <p:nvSpPr>
            <p:cNvPr id="7" name="Text Box 28">
              <a:extLst>
                <a:ext uri="{FF2B5EF4-FFF2-40B4-BE49-F238E27FC236}">
                  <a16:creationId xmlns:a16="http://schemas.microsoft.com/office/drawing/2014/main" id="{B7DB313E-4DA8-E4C7-8116-445C2EFADBC0}"/>
                </a:ext>
              </a:extLst>
            </p:cNvPr>
            <p:cNvSpPr txBox="1"/>
            <p:nvPr/>
          </p:nvSpPr>
          <p:spPr>
            <a:xfrm>
              <a:off x="1219196" y="2955926"/>
              <a:ext cx="6934196" cy="396877"/>
            </a:xfrm>
            <a:prstGeom prst="rect">
              <a:avLst/>
            </a:prstGeom>
            <a:noFill/>
            <a:ln cap="flat">
              <a:noFill/>
            </a:ln>
          </p:spPr>
          <p:txBody>
            <a:bodyPr vert="horz" wrap="square" lIns="91440" tIns="45720" rIns="91440" bIns="45720" anchor="t" anchorCtr="0" compatLnSpc="1">
              <a:sp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US" sz="2000" b="0" i="0" u="none" strike="noStrike" kern="1200" cap="none" spc="0" baseline="0">
                  <a:solidFill>
                    <a:srgbClr val="000000"/>
                  </a:solidFill>
                  <a:uFillTx/>
                  <a:latin typeface="Times New Roman" pitchFamily="18"/>
                </a:rPr>
                <a:t>Conductance is the reciprocal of resistance. </a:t>
              </a:r>
            </a:p>
          </p:txBody>
        </p:sp>
        <p:graphicFrame>
          <p:nvGraphicFramePr>
            <p:cNvPr id="8" name="Object 29">
              <a:extLst>
                <a:ext uri="{FF2B5EF4-FFF2-40B4-BE49-F238E27FC236}">
                  <a16:creationId xmlns:a16="http://schemas.microsoft.com/office/drawing/2014/main" id="{E6697FA6-4734-1C4F-259B-FAEF425A992C}"/>
                </a:ext>
              </a:extLst>
            </p:cNvPr>
            <p:cNvGraphicFramePr/>
            <p:nvPr/>
          </p:nvGraphicFramePr>
          <p:xfrm>
            <a:off x="3486149" y="3505196"/>
            <a:ext cx="647696" cy="59054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2" imgW="10363200" imgH="9448800" progId="">
                    <p:embed/>
                  </p:oleObj>
                </mc:Choice>
                <mc:Fallback>
                  <p:oleObj r:id="rId2" imgW="10363200" imgH="9448800" progId="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3"/>
                        <a:stretch>
                          <a:fillRect/>
                        </a:stretch>
                      </p:blipFill>
                      <p:spPr>
                        <a:xfrm>
                          <a:off x="3486149" y="3505196"/>
                          <a:ext cx="647696" cy="590546"/>
                        </a:xfrm>
                        <a:prstGeom prst="rect">
                          <a:avLst/>
                        </a:prstGeom>
                        <a:noFill/>
                        <a:ln cap="flat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9" name="Text Box 31">
            <a:extLst>
              <a:ext uri="{FF2B5EF4-FFF2-40B4-BE49-F238E27FC236}">
                <a16:creationId xmlns:a16="http://schemas.microsoft.com/office/drawing/2014/main" id="{D3F7010A-4B0F-733A-4613-1632493D23CD}"/>
              </a:ext>
            </a:extLst>
          </p:cNvPr>
          <p:cNvSpPr txBox="1"/>
          <p:nvPr/>
        </p:nvSpPr>
        <p:spPr>
          <a:xfrm>
            <a:off x="1219196" y="4114800"/>
            <a:ext cx="6934196" cy="701673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000" b="0" i="0" u="none" strike="noStrike" kern="1200" cap="none" spc="0" baseline="0">
                <a:solidFill>
                  <a:srgbClr val="000000"/>
                </a:solidFill>
                <a:uFillTx/>
                <a:latin typeface="Times New Roman" pitchFamily="18"/>
              </a:rPr>
              <a:t>Components designed to have a specific amount of resistance are called </a:t>
            </a:r>
            <a:r>
              <a:rPr lang="en-US" sz="2000" b="0" i="1" u="none" strike="noStrike" kern="1200" cap="none" spc="0" baseline="0">
                <a:solidFill>
                  <a:srgbClr val="000000"/>
                </a:solidFill>
                <a:uFillTx/>
                <a:latin typeface="Times New Roman" pitchFamily="18"/>
              </a:rPr>
              <a:t>resistors</a:t>
            </a:r>
            <a:r>
              <a:rPr lang="en-US" sz="2000" b="0" i="0" u="none" strike="noStrike" kern="1200" cap="none" spc="0" baseline="0">
                <a:solidFill>
                  <a:srgbClr val="000000"/>
                </a:solidFill>
                <a:uFillTx/>
                <a:latin typeface="Times New Roman" pitchFamily="18"/>
              </a:rPr>
              <a:t>. </a:t>
            </a:r>
          </a:p>
        </p:txBody>
      </p:sp>
      <p:graphicFrame>
        <p:nvGraphicFramePr>
          <p:cNvPr id="10" name="Object 32">
            <a:extLst>
              <a:ext uri="{FF2B5EF4-FFF2-40B4-BE49-F238E27FC236}">
                <a16:creationId xmlns:a16="http://schemas.microsoft.com/office/drawing/2014/main" id="{F62D8147-A51A-80E0-7699-642AE41C45C9}"/>
              </a:ext>
            </a:extLst>
          </p:cNvPr>
          <p:cNvGraphicFramePr/>
          <p:nvPr/>
        </p:nvGraphicFramePr>
        <p:xfrm>
          <a:off x="2819396" y="4591046"/>
          <a:ext cx="3200400" cy="142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2819400" imgH="1266825" progId="">
                  <p:embed/>
                </p:oleObj>
              </mc:Choice>
              <mc:Fallback>
                <p:oleObj r:id="rId4" imgW="2819400" imgH="1266825" progId="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819396" y="4591046"/>
                        <a:ext cx="3200400" cy="1428750"/>
                      </a:xfrm>
                      <a:prstGeom prst="rect">
                        <a:avLst/>
                      </a:prstGeom>
                      <a:noFill/>
                      <a:ln cap="flat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Effect">
                      <p:stCondLst>
                        <p:cond delay="indefinite"/>
                      </p:stCondLst>
                      <p:childTnLst>
                        <p:par>
                          <p:cTn id="4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Effect">
                      <p:stCondLst>
                        <p:cond delay="indefinite"/>
                      </p:stCondLst>
                      <p:childTnLst>
                        <p:par>
                          <p:cTn id="10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Effect">
                      <p:stCondLst>
                        <p:cond delay="indefinite"/>
                      </p:stCondLst>
                      <p:childTnLst>
                        <p:par>
                          <p:cTn id="16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Effect">
                            <p:stCondLst>
                              <p:cond delay="500"/>
                            </p:stCondLst>
                            <p:childTnLst>
                              <p:par>
                                <p:cTn id="2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9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6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78500CD-7FD6-BFF1-D7A4-8A1EAA5092A8}"/>
              </a:ext>
            </a:extLst>
          </p:cNvPr>
          <p:cNvSpPr txBox="1"/>
          <p:nvPr/>
        </p:nvSpPr>
        <p:spPr>
          <a:xfrm>
            <a:off x="625641" y="449178"/>
            <a:ext cx="596766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highlight>
                  <a:srgbClr val="FFFF00"/>
                </a:highlight>
              </a:rPr>
              <a:t>Resistor Color Coding</a:t>
            </a:r>
            <a:endParaRPr lang="en-GB" sz="3600" b="1" dirty="0">
              <a:highlight>
                <a:srgbClr val="FFFF00"/>
              </a:highlight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721C8DF-E74D-B22A-A788-3C91271BEF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5641" y="1095509"/>
            <a:ext cx="4207931" cy="557137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A98533C-DED8-51CA-C98C-02A6F8F8EB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1277" y="3881196"/>
            <a:ext cx="4207931" cy="203229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C0F3B9B-61A1-D671-7C55-81DF9B6B7A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37" y="417096"/>
            <a:ext cx="9001125" cy="56169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8687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3FB5EEA-B920-7BE1-D010-70203FC78F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175" y="3940009"/>
            <a:ext cx="8886825" cy="207865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6060A43-6522-FB29-6D4C-AC97C166E0C9}"/>
              </a:ext>
            </a:extLst>
          </p:cNvPr>
          <p:cNvSpPr txBox="1"/>
          <p:nvPr/>
        </p:nvSpPr>
        <p:spPr>
          <a:xfrm>
            <a:off x="257175" y="736979"/>
            <a:ext cx="8654813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alphanumeric label typically consists of only three digits or two or three digits and one of the </a:t>
            </a:r>
            <a:r>
              <a:rPr lang="en-US" sz="2000" b="1" dirty="0">
                <a:highlight>
                  <a:srgbClr val="FFFF00"/>
                </a:highlight>
              </a:rPr>
              <a:t>letters R, K, or M. </a:t>
            </a:r>
          </a:p>
          <a:p>
            <a:r>
              <a:rPr lang="en-US" sz="2000" b="1" dirty="0"/>
              <a:t>The letter is used to indicate the multiplier, and the position of the letter indicates the decimal point placement. The </a:t>
            </a:r>
            <a:r>
              <a:rPr lang="en-US" sz="2000" b="1" dirty="0">
                <a:highlight>
                  <a:srgbClr val="00FFFF"/>
                </a:highlight>
              </a:rPr>
              <a:t>letter R indicates a multiplier of 1 </a:t>
            </a:r>
            <a:r>
              <a:rPr lang="en-US" sz="2000" b="1" dirty="0"/>
              <a:t>(no zeros after the digits), the </a:t>
            </a:r>
            <a:r>
              <a:rPr lang="en-US" sz="2000" b="1" dirty="0">
                <a:highlight>
                  <a:srgbClr val="00FF00"/>
                </a:highlight>
              </a:rPr>
              <a:t>K indicates a multiplier of 1000 </a:t>
            </a:r>
            <a:r>
              <a:rPr lang="en-US" sz="2000" b="1" dirty="0"/>
              <a:t>(three zeros after the digits), and </a:t>
            </a:r>
            <a:r>
              <a:rPr lang="en-US" sz="2000" b="1" dirty="0">
                <a:highlight>
                  <a:srgbClr val="FF00FF"/>
                </a:highlight>
              </a:rPr>
              <a:t>the M indicates a multiplier of 1,000,000 </a:t>
            </a:r>
            <a:r>
              <a:rPr lang="en-US" sz="2000" b="1" dirty="0"/>
              <a:t>(six zeros after the digits</a:t>
            </a:r>
            <a:r>
              <a:rPr lang="en-US" b="1" dirty="0"/>
              <a:t>).</a:t>
            </a:r>
            <a:endParaRPr lang="en-GB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353EEB4-81B2-6512-29B2-810DE5BE5812}"/>
              </a:ext>
            </a:extLst>
          </p:cNvPr>
          <p:cNvSpPr txBox="1"/>
          <p:nvPr/>
        </p:nvSpPr>
        <p:spPr>
          <a:xfrm>
            <a:off x="423081" y="136477"/>
            <a:ext cx="308732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highlight>
                  <a:srgbClr val="00FFFF"/>
                </a:highlight>
              </a:rPr>
              <a:t>Resistor Label Code:</a:t>
            </a:r>
            <a:endParaRPr lang="en-GB" sz="2400" b="1" dirty="0">
              <a:highlight>
                <a:srgbClr val="00FFFF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8714949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ADA3A7D-CDC8-82C5-58B7-1A20B441DF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472" y="2197291"/>
            <a:ext cx="8551152" cy="241565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D123437-A246-25A6-1D0A-099730983A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3453" y="211042"/>
            <a:ext cx="6276975" cy="1495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550139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6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500D59DD-B53A-9832-ECD6-26EA6EC1530C}"/>
              </a:ext>
            </a:extLst>
          </p:cNvPr>
          <p:cNvSpPr/>
          <p:nvPr/>
        </p:nvSpPr>
        <p:spPr>
          <a:xfrm>
            <a:off x="3352803" y="457200"/>
            <a:ext cx="1981203" cy="685800"/>
          </a:xfrm>
          <a:prstGeom prst="rect">
            <a:avLst/>
          </a:prstGeom>
          <a:solidFill>
            <a:srgbClr val="969696"/>
          </a:solidFill>
          <a:ln w="9528" cap="flat">
            <a:solidFill>
              <a:srgbClr val="000000"/>
            </a:solidFill>
            <a:prstDash val="solid"/>
            <a:miter/>
          </a:ln>
        </p:spPr>
        <p:txBody>
          <a:bodyPr vert="horz" wrap="non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3600" b="0" i="0" u="none" strike="noStrike" kern="1200" cap="none" spc="0" baseline="0">
                <a:solidFill>
                  <a:srgbClr val="0000FF"/>
                </a:solidFill>
                <a:uFillTx/>
                <a:latin typeface="Times New Roman" pitchFamily="18"/>
              </a:rPr>
              <a:t>Summary</a:t>
            </a:r>
          </a:p>
        </p:txBody>
      </p:sp>
      <p:sp>
        <p:nvSpPr>
          <p:cNvPr id="3" name="WordArt 6">
            <a:extLst>
              <a:ext uri="{FF2B5EF4-FFF2-40B4-BE49-F238E27FC236}">
                <a16:creationId xmlns:a16="http://schemas.microsoft.com/office/drawing/2014/main" id="{70AED5B3-008E-753B-7DAC-4892BF444BAB}"/>
              </a:ext>
            </a:extLst>
          </p:cNvPr>
          <p:cNvSpPr/>
          <p:nvPr/>
        </p:nvSpPr>
        <p:spPr>
          <a:xfrm>
            <a:off x="1295403" y="1600200"/>
            <a:ext cx="1219196" cy="742950"/>
          </a:xfrm>
          <a:prstGeom prst="rect">
            <a:avLst/>
          </a:prstGeom>
        </p:spPr>
        <p:txBody>
          <a:bodyPr vert="horz" wrap="none" lIns="91440" tIns="45720" rIns="91440" bIns="45720" fromWordArt="1" anchor="t" anchorCtr="1" compatLnSpc="1">
            <a:prstTxWarp prst="textPlain">
              <a:avLst/>
            </a:prstTxWarp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3200" b="0" i="0" u="none" strike="noStrike" kern="1200" cap="none" spc="0" baseline="0">
                <a:ln w="9528" cap="flat">
                  <a:solidFill>
                    <a:srgbClr val="FFFF00"/>
                  </a:solidFill>
                  <a:prstDash val="solid"/>
                  <a:round/>
                </a:ln>
                <a:gradFill>
                  <a:gsLst>
                    <a:gs pos="0">
                      <a:srgbClr val="6600CC"/>
                    </a:gs>
                    <a:gs pos="100000">
                      <a:srgbClr val="CC00CC"/>
                    </a:gs>
                  </a:gsLst>
                  <a:lin ang="5400000"/>
                </a:gradFill>
                <a:effectLst>
                  <a:outerShdw dist="53886" dir="2700000" algn="tl">
                    <a:srgbClr val="9999FF"/>
                  </a:outerShdw>
                </a:effectLst>
                <a:uFillTx/>
                <a:latin typeface="Impact" pitchFamily="34"/>
              </a:rPr>
              <a:t>Question</a:t>
            </a:r>
          </a:p>
        </p:txBody>
      </p:sp>
      <p:sp>
        <p:nvSpPr>
          <p:cNvPr id="4" name="Text Box 7">
            <a:extLst>
              <a:ext uri="{FF2B5EF4-FFF2-40B4-BE49-F238E27FC236}">
                <a16:creationId xmlns:a16="http://schemas.microsoft.com/office/drawing/2014/main" id="{6EEB5D7A-CA57-70AF-EA41-DF2154D6237C}"/>
              </a:ext>
            </a:extLst>
          </p:cNvPr>
          <p:cNvSpPr txBox="1"/>
          <p:nvPr/>
        </p:nvSpPr>
        <p:spPr>
          <a:xfrm>
            <a:off x="2590796" y="1600200"/>
            <a:ext cx="5257800" cy="822329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400" b="0" i="0" u="none" strike="noStrike" kern="1200" cap="none" spc="0" baseline="0">
                <a:solidFill>
                  <a:srgbClr val="000000"/>
                </a:solidFill>
                <a:uFillTx/>
                <a:latin typeface="Times New Roman" pitchFamily="18"/>
              </a:rPr>
              <a:t>What is the resistance and tolerance of each of the four-band resistors?</a:t>
            </a:r>
          </a:p>
        </p:txBody>
      </p:sp>
      <p:graphicFrame>
        <p:nvGraphicFramePr>
          <p:cNvPr id="5" name="Object 8">
            <a:extLst>
              <a:ext uri="{FF2B5EF4-FFF2-40B4-BE49-F238E27FC236}">
                <a16:creationId xmlns:a16="http://schemas.microsoft.com/office/drawing/2014/main" id="{2F40B52F-E7B0-AC61-80D2-80D97825AA00}"/>
              </a:ext>
            </a:extLst>
          </p:cNvPr>
          <p:cNvGraphicFramePr/>
          <p:nvPr/>
        </p:nvGraphicFramePr>
        <p:xfrm>
          <a:off x="2819396" y="2743200"/>
          <a:ext cx="1547814" cy="198120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1207911" imgH="1535289" progId="">
                  <p:embed/>
                </p:oleObj>
              </mc:Choice>
              <mc:Fallback>
                <p:oleObj r:id="rId2" imgW="1207911" imgH="1535289" progId="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819396" y="2743200"/>
                        <a:ext cx="1547814" cy="1981203"/>
                      </a:xfrm>
                      <a:prstGeom prst="rect">
                        <a:avLst/>
                      </a:prstGeom>
                      <a:noFill/>
                      <a:ln cap="flat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 Box 9">
            <a:extLst>
              <a:ext uri="{FF2B5EF4-FFF2-40B4-BE49-F238E27FC236}">
                <a16:creationId xmlns:a16="http://schemas.microsoft.com/office/drawing/2014/main" id="{DA848424-095E-B548-5B9C-F604A26E8059}"/>
              </a:ext>
            </a:extLst>
          </p:cNvPr>
          <p:cNvSpPr txBox="1"/>
          <p:nvPr/>
        </p:nvSpPr>
        <p:spPr>
          <a:xfrm>
            <a:off x="4572000" y="2590796"/>
            <a:ext cx="2209803" cy="2100267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400" b="0" i="0" u="none" strike="noStrike" kern="1200" cap="none" spc="0" baseline="0">
                <a:solidFill>
                  <a:srgbClr val="FF0000"/>
                </a:solidFill>
                <a:uFillTx/>
                <a:latin typeface="Times New Roman" pitchFamily="18"/>
              </a:rPr>
              <a:t>5.1 k</a:t>
            </a:r>
            <a:r>
              <a:rPr lang="en-US" sz="2400" b="0" i="0" u="none" strike="noStrike" kern="1200" cap="none" spc="0" baseline="0">
                <a:solidFill>
                  <a:srgbClr val="FF0000"/>
                </a:solidFill>
                <a:uFillTx/>
                <a:latin typeface="Symbol" pitchFamily="18"/>
              </a:rPr>
              <a:t>W </a:t>
            </a:r>
            <a:r>
              <a:rPr lang="en-US" sz="2400" b="0" i="0" u="none" strike="noStrike" kern="1200" cap="none" spc="0" baseline="0">
                <a:solidFill>
                  <a:srgbClr val="FF0000"/>
                </a:solidFill>
                <a:uFillTx/>
                <a:latin typeface="Times" pitchFamily="18"/>
              </a:rPr>
              <a:t>± 5%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400" b="0" i="0" u="none" strike="noStrike" kern="1200" cap="none" spc="0" baseline="0">
                <a:solidFill>
                  <a:srgbClr val="FF0000"/>
                </a:solidFill>
                <a:uFillTx/>
                <a:latin typeface="Symbol" pitchFamily="18"/>
              </a:rPr>
              <a:t>820 </a:t>
            </a:r>
            <a:r>
              <a:rPr lang="en-US" sz="2400" b="0" i="0" u="none" strike="noStrike" kern="1200" cap="none" spc="0" baseline="0">
                <a:solidFill>
                  <a:srgbClr val="FF0000"/>
                </a:solidFill>
                <a:uFillTx/>
                <a:latin typeface="Times New Roman" pitchFamily="18"/>
              </a:rPr>
              <a:t>k</a:t>
            </a:r>
            <a:r>
              <a:rPr lang="en-US" sz="2400" b="0" i="0" u="none" strike="noStrike" kern="1200" cap="none" spc="0" baseline="0">
                <a:solidFill>
                  <a:srgbClr val="FF0000"/>
                </a:solidFill>
                <a:uFillTx/>
                <a:latin typeface="Symbol" pitchFamily="18"/>
              </a:rPr>
              <a:t>W </a:t>
            </a:r>
            <a:r>
              <a:rPr lang="en-US" sz="2400" b="0" i="0" u="none" strike="noStrike" kern="1200" cap="none" spc="0" baseline="0">
                <a:solidFill>
                  <a:srgbClr val="FF0000"/>
                </a:solidFill>
                <a:uFillTx/>
                <a:latin typeface="Times New Roman" pitchFamily="18"/>
              </a:rPr>
              <a:t>± 5%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400" b="0" i="0" u="none" strike="noStrike" kern="1200" cap="none" spc="0" baseline="0">
                <a:solidFill>
                  <a:srgbClr val="FF0000"/>
                </a:solidFill>
                <a:uFillTx/>
                <a:latin typeface="Times New Roman" pitchFamily="18"/>
              </a:rPr>
              <a:t>47 </a:t>
            </a:r>
            <a:r>
              <a:rPr lang="en-US" sz="2400" b="0" i="0" u="none" strike="noStrike" kern="1200" cap="none" spc="0" baseline="0">
                <a:solidFill>
                  <a:srgbClr val="FF0000"/>
                </a:solidFill>
                <a:uFillTx/>
                <a:latin typeface="Symbol" pitchFamily="18"/>
              </a:rPr>
              <a:t>W</a:t>
            </a:r>
            <a:r>
              <a:rPr lang="en-US" sz="2400" b="0" i="0" u="none" strike="noStrike" kern="1200" cap="none" spc="0" baseline="0">
                <a:solidFill>
                  <a:srgbClr val="FF0000"/>
                </a:solidFill>
                <a:uFillTx/>
                <a:latin typeface="Times New Roman" pitchFamily="18"/>
              </a:rPr>
              <a:t> ± 10%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400" b="0" i="0" u="none" strike="noStrike" kern="1200" cap="none" spc="0" baseline="0">
                <a:solidFill>
                  <a:srgbClr val="FF0000"/>
                </a:solidFill>
                <a:uFillTx/>
                <a:latin typeface="Times New Roman" pitchFamily="18"/>
              </a:rPr>
              <a:t>1.0 </a:t>
            </a:r>
            <a:r>
              <a:rPr lang="en-US" sz="2400" b="0" i="0" u="none" strike="noStrike" kern="1200" cap="none" spc="0" baseline="0">
                <a:solidFill>
                  <a:srgbClr val="FF0000"/>
                </a:solidFill>
                <a:uFillTx/>
                <a:latin typeface="Symbol" pitchFamily="18"/>
              </a:rPr>
              <a:t>W</a:t>
            </a:r>
            <a:r>
              <a:rPr lang="en-US" sz="2400" b="0" i="0" u="none" strike="noStrike" kern="1200" cap="none" spc="0" baseline="0">
                <a:solidFill>
                  <a:srgbClr val="FF0000"/>
                </a:solidFill>
                <a:uFillTx/>
                <a:latin typeface="Times New Roman" pitchFamily="18"/>
              </a:rPr>
              <a:t> ± 5%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Effect">
                      <p:stCondLst>
                        <p:cond delay="indefinite"/>
                      </p:stCondLst>
                      <p:childTnLst>
                        <p:par>
                          <p:cTn id="4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Effect">
                      <p:stCondLst>
                        <p:cond delay="indefinite"/>
                      </p:stCondLst>
                      <p:childTnLst>
                        <p:par>
                          <p:cTn id="9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Effect">
                      <p:stCondLst>
                        <p:cond delay="indefinite"/>
                      </p:stCondLst>
                      <p:childTnLst>
                        <p:par>
                          <p:cTn id="14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Effect">
                      <p:stCondLst>
                        <p:cond delay="indefinite"/>
                      </p:stCondLst>
                      <p:childTnLst>
                        <p:par>
                          <p:cTn id="19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2DB1A8E-966E-FABF-9690-90AE246047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778" y="914401"/>
            <a:ext cx="6924675" cy="211755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AE9FB5A-16A9-A695-2646-6D63BADD33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2127" y="3048500"/>
            <a:ext cx="4588042" cy="312946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499414A-AF5B-2D49-8DC7-7372350FB885}"/>
              </a:ext>
            </a:extLst>
          </p:cNvPr>
          <p:cNvSpPr txBox="1"/>
          <p:nvPr/>
        </p:nvSpPr>
        <p:spPr>
          <a:xfrm>
            <a:off x="772778" y="156814"/>
            <a:ext cx="437004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highlight>
                  <a:srgbClr val="00FF00"/>
                </a:highlight>
              </a:rPr>
              <a:t>Electric Current Direction</a:t>
            </a:r>
            <a:endParaRPr lang="en-GB" sz="2800" b="1" dirty="0">
              <a:highlight>
                <a:srgbClr val="00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398928713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552C4B2-2668-1518-DA2D-7A85F8BF1177}"/>
              </a:ext>
            </a:extLst>
          </p:cNvPr>
          <p:cNvSpPr txBox="1"/>
          <p:nvPr/>
        </p:nvSpPr>
        <p:spPr>
          <a:xfrm>
            <a:off x="979865" y="1187116"/>
            <a:ext cx="657596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>
                <a:highlight>
                  <a:srgbClr val="FFFF00"/>
                </a:highlight>
              </a:rPr>
              <a:t>Open Switch and Close Switch</a:t>
            </a:r>
            <a:endParaRPr lang="en-GB" sz="3600" b="1" dirty="0">
              <a:highlight>
                <a:srgbClr val="FFFF00"/>
              </a:highlight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F9782C2-D56F-DEEC-0645-38BC9E7A27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317240"/>
            <a:ext cx="9144000" cy="36183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295653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6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AD7A9D31-EE03-9907-7661-BABB9D7CECDD}"/>
              </a:ext>
            </a:extLst>
          </p:cNvPr>
          <p:cNvSpPr/>
          <p:nvPr/>
        </p:nvSpPr>
        <p:spPr>
          <a:xfrm>
            <a:off x="3352803" y="457200"/>
            <a:ext cx="1981203" cy="685800"/>
          </a:xfrm>
          <a:prstGeom prst="rect">
            <a:avLst/>
          </a:prstGeom>
          <a:solidFill>
            <a:srgbClr val="969696"/>
          </a:solidFill>
          <a:ln w="9528" cap="flat">
            <a:solidFill>
              <a:srgbClr val="000000"/>
            </a:solidFill>
            <a:prstDash val="solid"/>
            <a:miter/>
          </a:ln>
        </p:spPr>
        <p:txBody>
          <a:bodyPr vert="horz" wrap="non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3600" b="0" i="0" u="none" strike="noStrike" kern="1200" cap="none" spc="0" baseline="0">
                <a:solidFill>
                  <a:srgbClr val="0000FF"/>
                </a:solidFill>
                <a:uFillTx/>
                <a:latin typeface="Times New Roman" pitchFamily="18"/>
              </a:rPr>
              <a:t>Summary</a:t>
            </a:r>
          </a:p>
        </p:txBody>
      </p:sp>
      <p:sp>
        <p:nvSpPr>
          <p:cNvPr id="3" name="Rectangle 7">
            <a:extLst>
              <a:ext uri="{FF2B5EF4-FFF2-40B4-BE49-F238E27FC236}">
                <a16:creationId xmlns:a16="http://schemas.microsoft.com/office/drawing/2014/main" id="{E51D7244-DADF-88AF-8154-B24B527E47E5}"/>
              </a:ext>
            </a:extLst>
          </p:cNvPr>
          <p:cNvSpPr/>
          <p:nvPr/>
        </p:nvSpPr>
        <p:spPr>
          <a:xfrm>
            <a:off x="1219196" y="1371600"/>
            <a:ext cx="7086600" cy="1600200"/>
          </a:xfrm>
          <a:prstGeom prst="rect">
            <a:avLst/>
          </a:prstGeom>
          <a:solidFill>
            <a:srgbClr val="969696"/>
          </a:solidFill>
          <a:ln w="9528" cap="flat">
            <a:solidFill>
              <a:srgbClr val="000000"/>
            </a:solidFill>
            <a:prstDash val="solid"/>
            <a:miter/>
          </a:ln>
        </p:spPr>
        <p:txBody>
          <a:bodyPr vert="horz" wrap="none" lIns="91440" tIns="45720" rIns="91440" bIns="4572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240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</a:endParaRPr>
          </a:p>
        </p:txBody>
      </p:sp>
      <p:sp>
        <p:nvSpPr>
          <p:cNvPr id="4" name="Text Box 8">
            <a:extLst>
              <a:ext uri="{FF2B5EF4-FFF2-40B4-BE49-F238E27FC236}">
                <a16:creationId xmlns:a16="http://schemas.microsoft.com/office/drawing/2014/main" id="{DC17788E-D19A-B7D2-1614-822BA19106A0}"/>
              </a:ext>
            </a:extLst>
          </p:cNvPr>
          <p:cNvSpPr txBox="1"/>
          <p:nvPr/>
        </p:nvSpPr>
        <p:spPr>
          <a:xfrm>
            <a:off x="1371600" y="1447796"/>
            <a:ext cx="6858000" cy="1373191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17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800" b="0" i="0" u="none" strike="noStrike" kern="1200" cap="none" spc="0" baseline="0">
                <a:solidFill>
                  <a:srgbClr val="000000"/>
                </a:solidFill>
                <a:uFillTx/>
                <a:latin typeface="Times New Roman" pitchFamily="18"/>
              </a:rPr>
              <a:t>Variable resistors include the potentiometer and rheostat. A potentiometer can be connected as a rheostat.</a:t>
            </a:r>
          </a:p>
        </p:txBody>
      </p:sp>
      <p:graphicFrame>
        <p:nvGraphicFramePr>
          <p:cNvPr id="5" name="Object 11">
            <a:extLst>
              <a:ext uri="{FF2B5EF4-FFF2-40B4-BE49-F238E27FC236}">
                <a16:creationId xmlns:a16="http://schemas.microsoft.com/office/drawing/2014/main" id="{EF96D227-BEB9-1026-897B-1DFDBB7A31F6}"/>
              </a:ext>
            </a:extLst>
          </p:cNvPr>
          <p:cNvGraphicFramePr/>
          <p:nvPr/>
        </p:nvGraphicFramePr>
        <p:xfrm>
          <a:off x="1371600" y="3886200"/>
          <a:ext cx="5045073" cy="151606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2933700" imgH="885825" progId="">
                  <p:embed/>
                </p:oleObj>
              </mc:Choice>
              <mc:Fallback>
                <p:oleObj r:id="rId2" imgW="2933700" imgH="885825" progId="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371600" y="3886200"/>
                        <a:ext cx="5045073" cy="1516066"/>
                      </a:xfrm>
                      <a:prstGeom prst="rect">
                        <a:avLst/>
                      </a:prstGeom>
                      <a:noFill/>
                      <a:ln cap="flat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 Box 13">
            <a:extLst>
              <a:ext uri="{FF2B5EF4-FFF2-40B4-BE49-F238E27FC236}">
                <a16:creationId xmlns:a16="http://schemas.microsoft.com/office/drawing/2014/main" id="{132FBA29-C2BB-67EE-037D-A57F7B4B3FF2}"/>
              </a:ext>
            </a:extLst>
          </p:cNvPr>
          <p:cNvSpPr txBox="1"/>
          <p:nvPr/>
        </p:nvSpPr>
        <p:spPr>
          <a:xfrm>
            <a:off x="1219196" y="3124203"/>
            <a:ext cx="4876796" cy="396877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000" b="0" i="0" u="none" strike="noStrike" kern="1200" cap="none" spc="0" baseline="0">
                <a:solidFill>
                  <a:srgbClr val="000000"/>
                </a:solidFill>
                <a:uFillTx/>
                <a:latin typeface="Times New Roman" pitchFamily="18"/>
              </a:rPr>
              <a:t>The center terminal is connected to the wiper</a:t>
            </a:r>
          </a:p>
        </p:txBody>
      </p:sp>
      <p:sp>
        <p:nvSpPr>
          <p:cNvPr id="7" name="Line 14">
            <a:extLst>
              <a:ext uri="{FF2B5EF4-FFF2-40B4-BE49-F238E27FC236}">
                <a16:creationId xmlns:a16="http://schemas.microsoft.com/office/drawing/2014/main" id="{79EAF7A9-DBEC-C549-48D0-A2833A4E431F}"/>
              </a:ext>
            </a:extLst>
          </p:cNvPr>
          <p:cNvSpPr/>
          <p:nvPr/>
        </p:nvSpPr>
        <p:spPr>
          <a:xfrm flipH="1">
            <a:off x="4876796" y="3505196"/>
            <a:ext cx="609603" cy="533396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ss"/>
              <a:gd name="f6" fmla="val 0"/>
              <a:gd name="f7" fmla="+- 0 0 -180"/>
              <a:gd name="f8" fmla="+- 0 0 -360"/>
              <a:gd name="f9" fmla="abs f3"/>
              <a:gd name="f10" fmla="abs f4"/>
              <a:gd name="f11" fmla="abs f5"/>
              <a:gd name="f12" fmla="val f6"/>
              <a:gd name="f13" fmla="*/ f7 f0 1"/>
              <a:gd name="f14" fmla="*/ f8 f0 1"/>
              <a:gd name="f15" fmla="?: f9 f3 1"/>
              <a:gd name="f16" fmla="?: f10 f4 1"/>
              <a:gd name="f17" fmla="?: f11 f5 1"/>
              <a:gd name="f18" fmla="*/ f13 1 f2"/>
              <a:gd name="f19" fmla="*/ f14 1 f2"/>
              <a:gd name="f20" fmla="*/ f15 1 21600"/>
              <a:gd name="f21" fmla="*/ f16 1 21600"/>
              <a:gd name="f22" fmla="*/ 21600 f15 1"/>
              <a:gd name="f23" fmla="*/ 21600 f16 1"/>
              <a:gd name="f24" fmla="+- f18 0 f1"/>
              <a:gd name="f25" fmla="+- f19 0 f1"/>
              <a:gd name="f26" fmla="min f21 f20"/>
              <a:gd name="f27" fmla="*/ f22 1 f17"/>
              <a:gd name="f28" fmla="*/ f23 1 f17"/>
              <a:gd name="f29" fmla="val f27"/>
              <a:gd name="f30" fmla="val f28"/>
              <a:gd name="f31" fmla="*/ f6 f26 1"/>
              <a:gd name="f32" fmla="*/ f27 f26 1"/>
              <a:gd name="f33" fmla="*/ f28 f26 1"/>
              <a:gd name="f34" fmla="*/ f12 f26 1"/>
              <a:gd name="f35" fmla="*/ f29 f26 1"/>
              <a:gd name="f36" fmla="*/ f30 f2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4">
                <a:pos x="f34" y="f34"/>
              </a:cxn>
              <a:cxn ang="f25">
                <a:pos x="f35" y="f36"/>
              </a:cxn>
            </a:cxnLst>
            <a:rect l="f31" t="f31" r="f32" b="f33"/>
            <a:pathLst>
              <a:path>
                <a:moveTo>
                  <a:pt x="f34" y="f34"/>
                </a:moveTo>
                <a:lnTo>
                  <a:pt x="f35" y="f36"/>
                </a:lnTo>
              </a:path>
            </a:pathLst>
          </a:custGeom>
          <a:noFill/>
          <a:ln w="9528" cap="flat">
            <a:solidFill>
              <a:srgbClr val="000000"/>
            </a:solidFill>
            <a:prstDash val="solid"/>
            <a:round/>
            <a:tailEnd type="arrow"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240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</a:endParaRPr>
          </a:p>
        </p:txBody>
      </p:sp>
      <p:graphicFrame>
        <p:nvGraphicFramePr>
          <p:cNvPr id="8" name="Object 19">
            <a:extLst>
              <a:ext uri="{FF2B5EF4-FFF2-40B4-BE49-F238E27FC236}">
                <a16:creationId xmlns:a16="http://schemas.microsoft.com/office/drawing/2014/main" id="{F50C85CA-CC54-B656-BF9C-9CAB625CB0F1}"/>
              </a:ext>
            </a:extLst>
          </p:cNvPr>
          <p:cNvGraphicFramePr/>
          <p:nvPr/>
        </p:nvGraphicFramePr>
        <p:xfrm>
          <a:off x="6705596" y="3124203"/>
          <a:ext cx="1176339" cy="289560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609600" imgH="1495425" progId="">
                  <p:embed/>
                </p:oleObj>
              </mc:Choice>
              <mc:Fallback>
                <p:oleObj r:id="rId4" imgW="609600" imgH="1495425" progId="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6705596" y="3124203"/>
                        <a:ext cx="1176339" cy="2895603"/>
                      </a:xfrm>
                      <a:prstGeom prst="rect">
                        <a:avLst/>
                      </a:prstGeom>
                      <a:noFill/>
                      <a:ln cap="flat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Effect">
                      <p:stCondLst>
                        <p:cond delay="indefinite"/>
                      </p:stCondLst>
                      <p:childTnLst>
                        <p:par>
                          <p:cTn id="4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Effect">
                            <p:stCondLst>
                              <p:cond delay="500"/>
                            </p:stCondLst>
                            <p:childTnLst>
                              <p:par>
                                <p:cTn id="1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7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A9A82CE5-3A4B-9C5F-BDC9-B4D12773CEF2}"/>
              </a:ext>
            </a:extLst>
          </p:cNvPr>
          <p:cNvSpPr/>
          <p:nvPr/>
        </p:nvSpPr>
        <p:spPr>
          <a:xfrm>
            <a:off x="3352803" y="457200"/>
            <a:ext cx="1981203" cy="685800"/>
          </a:xfrm>
          <a:prstGeom prst="rect">
            <a:avLst/>
          </a:prstGeom>
          <a:solidFill>
            <a:srgbClr val="969696"/>
          </a:solidFill>
          <a:ln w="9528" cap="flat">
            <a:solidFill>
              <a:srgbClr val="000000"/>
            </a:solidFill>
            <a:prstDash val="solid"/>
            <a:miter/>
          </a:ln>
        </p:spPr>
        <p:txBody>
          <a:bodyPr vert="horz" wrap="non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3600" b="0" i="0" u="none" strike="noStrike" kern="1200" cap="none" spc="0" baseline="0">
                <a:solidFill>
                  <a:srgbClr val="0000FF"/>
                </a:solidFill>
                <a:uFillTx/>
                <a:latin typeface="Times New Roman" pitchFamily="18"/>
              </a:rPr>
              <a:t>Summary</a:t>
            </a: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CC411705-E3A3-EA5E-7571-2A79EE60BD53}"/>
              </a:ext>
            </a:extLst>
          </p:cNvPr>
          <p:cNvSpPr/>
          <p:nvPr/>
        </p:nvSpPr>
        <p:spPr>
          <a:xfrm>
            <a:off x="1219196" y="1371600"/>
            <a:ext cx="7162796" cy="1600200"/>
          </a:xfrm>
          <a:prstGeom prst="rect">
            <a:avLst/>
          </a:prstGeom>
          <a:solidFill>
            <a:srgbClr val="969696"/>
          </a:solidFill>
          <a:ln w="9528" cap="flat">
            <a:solidFill>
              <a:srgbClr val="000000"/>
            </a:solidFill>
            <a:prstDash val="solid"/>
            <a:miter/>
          </a:ln>
        </p:spPr>
        <p:txBody>
          <a:bodyPr vert="horz" wrap="none" lIns="91440" tIns="45720" rIns="91440" bIns="4572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240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</a:endParaRPr>
          </a:p>
        </p:txBody>
      </p:sp>
      <p:sp>
        <p:nvSpPr>
          <p:cNvPr id="4" name="Text Box 4">
            <a:extLst>
              <a:ext uri="{FF2B5EF4-FFF2-40B4-BE49-F238E27FC236}">
                <a16:creationId xmlns:a16="http://schemas.microsoft.com/office/drawing/2014/main" id="{2D324D71-5073-F6BB-846D-42DC9B44DD86}"/>
              </a:ext>
            </a:extLst>
          </p:cNvPr>
          <p:cNvSpPr txBox="1"/>
          <p:nvPr/>
        </p:nvSpPr>
        <p:spPr>
          <a:xfrm>
            <a:off x="1371600" y="1447796"/>
            <a:ext cx="7010403" cy="1373191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17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800" b="0" i="0" u="none" strike="noStrike" kern="1200" cap="none" spc="0" baseline="0">
                <a:solidFill>
                  <a:srgbClr val="000000"/>
                </a:solidFill>
                <a:uFillTx/>
                <a:latin typeface="Times New Roman" pitchFamily="18"/>
              </a:rPr>
              <a:t>A basic circuit consists of 1) a voltage source, 2) a path and 3) a load. An example of a basic circuit is the flashlight, which has each of these.</a:t>
            </a:r>
          </a:p>
        </p:txBody>
      </p:sp>
      <p:grpSp>
        <p:nvGrpSpPr>
          <p:cNvPr id="5" name="Group 14">
            <a:extLst>
              <a:ext uri="{FF2B5EF4-FFF2-40B4-BE49-F238E27FC236}">
                <a16:creationId xmlns:a16="http://schemas.microsoft.com/office/drawing/2014/main" id="{505549EB-3760-F1ED-8822-0A800CB2FE35}"/>
              </a:ext>
            </a:extLst>
          </p:cNvPr>
          <p:cNvGrpSpPr/>
          <p:nvPr/>
        </p:nvGrpSpPr>
        <p:grpSpPr>
          <a:xfrm>
            <a:off x="1904996" y="3657600"/>
            <a:ext cx="5670551" cy="1579561"/>
            <a:chOff x="1904996" y="3657600"/>
            <a:chExt cx="5670551" cy="1579561"/>
          </a:xfrm>
        </p:grpSpPr>
        <p:graphicFrame>
          <p:nvGraphicFramePr>
            <p:cNvPr id="6" name="Object 8">
              <a:extLst>
                <a:ext uri="{FF2B5EF4-FFF2-40B4-BE49-F238E27FC236}">
                  <a16:creationId xmlns:a16="http://schemas.microsoft.com/office/drawing/2014/main" id="{4401B640-AA73-8BD0-F4E8-ED5A9F366E32}"/>
                </a:ext>
              </a:extLst>
            </p:cNvPr>
            <p:cNvGraphicFramePr/>
            <p:nvPr/>
          </p:nvGraphicFramePr>
          <p:xfrm>
            <a:off x="2743200" y="3657600"/>
            <a:ext cx="4832347" cy="157956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2" imgW="2819400" imgH="923925" progId="">
                    <p:embed/>
                  </p:oleObj>
                </mc:Choice>
                <mc:Fallback>
                  <p:oleObj r:id="rId2" imgW="2819400" imgH="923925" progId="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3"/>
                        <a:stretch>
                          <a:fillRect/>
                        </a:stretch>
                      </p:blipFill>
                      <p:spPr>
                        <a:xfrm>
                          <a:off x="2743200" y="3657600"/>
                          <a:ext cx="4832347" cy="1579561"/>
                        </a:xfrm>
                        <a:prstGeom prst="rect">
                          <a:avLst/>
                        </a:prstGeom>
                        <a:noFill/>
                        <a:ln cap="flat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" name="Line 9">
              <a:extLst>
                <a:ext uri="{FF2B5EF4-FFF2-40B4-BE49-F238E27FC236}">
                  <a16:creationId xmlns:a16="http://schemas.microsoft.com/office/drawing/2014/main" id="{F679B171-EFA5-6AF0-6C93-BE3F827A977F}"/>
                </a:ext>
              </a:extLst>
            </p:cNvPr>
            <p:cNvSpPr/>
            <p:nvPr/>
          </p:nvSpPr>
          <p:spPr>
            <a:xfrm flipH="1" flipV="1">
              <a:off x="1904996" y="3810003"/>
              <a:ext cx="1219196" cy="152403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ss"/>
                <a:gd name="f6" fmla="val 0"/>
                <a:gd name="f7" fmla="+- 0 0 -180"/>
                <a:gd name="f8" fmla="+- 0 0 -360"/>
                <a:gd name="f9" fmla="abs f3"/>
                <a:gd name="f10" fmla="abs f4"/>
                <a:gd name="f11" fmla="abs f5"/>
                <a:gd name="f12" fmla="val f6"/>
                <a:gd name="f13" fmla="*/ f7 f0 1"/>
                <a:gd name="f14" fmla="*/ f8 f0 1"/>
                <a:gd name="f15" fmla="?: f9 f3 1"/>
                <a:gd name="f16" fmla="?: f10 f4 1"/>
                <a:gd name="f17" fmla="?: f11 f5 1"/>
                <a:gd name="f18" fmla="*/ f13 1 f2"/>
                <a:gd name="f19" fmla="*/ f14 1 f2"/>
                <a:gd name="f20" fmla="*/ f15 1 21600"/>
                <a:gd name="f21" fmla="*/ f16 1 21600"/>
                <a:gd name="f22" fmla="*/ 21600 f15 1"/>
                <a:gd name="f23" fmla="*/ 21600 f16 1"/>
                <a:gd name="f24" fmla="+- f18 0 f1"/>
                <a:gd name="f25" fmla="+- f19 0 f1"/>
                <a:gd name="f26" fmla="min f21 f20"/>
                <a:gd name="f27" fmla="*/ f22 1 f17"/>
                <a:gd name="f28" fmla="*/ f23 1 f17"/>
                <a:gd name="f29" fmla="val f27"/>
                <a:gd name="f30" fmla="val f28"/>
                <a:gd name="f31" fmla="*/ f6 f26 1"/>
                <a:gd name="f32" fmla="*/ f27 f26 1"/>
                <a:gd name="f33" fmla="*/ f28 f26 1"/>
                <a:gd name="f34" fmla="*/ f12 f26 1"/>
                <a:gd name="f35" fmla="*/ f29 f26 1"/>
                <a:gd name="f36" fmla="*/ f30 f26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4">
                  <a:pos x="f34" y="f34"/>
                </a:cxn>
                <a:cxn ang="f25">
                  <a:pos x="f35" y="f36"/>
                </a:cxn>
              </a:cxnLst>
              <a:rect l="f31" t="f31" r="f32" b="f33"/>
              <a:pathLst>
                <a:path>
                  <a:moveTo>
                    <a:pt x="f34" y="f34"/>
                  </a:moveTo>
                  <a:lnTo>
                    <a:pt x="f35" y="f36"/>
                  </a:lnTo>
                </a:path>
              </a:pathLst>
            </a:custGeom>
            <a:noFill/>
            <a:ln w="9528" cap="flat">
              <a:solidFill>
                <a:srgbClr val="FFFF00"/>
              </a:solidFill>
              <a:prstDash val="solid"/>
              <a:round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2400" b="0" i="0" u="none" strike="noStrike" kern="1200" cap="none" spc="0" baseline="0">
                <a:solidFill>
                  <a:srgbClr val="000000"/>
                </a:solidFill>
                <a:uFillTx/>
                <a:latin typeface="Times New Roman" pitchFamily="18"/>
              </a:endParaRPr>
            </a:p>
          </p:txBody>
        </p:sp>
        <p:sp>
          <p:nvSpPr>
            <p:cNvPr id="8" name="Line 10">
              <a:extLst>
                <a:ext uri="{FF2B5EF4-FFF2-40B4-BE49-F238E27FC236}">
                  <a16:creationId xmlns:a16="http://schemas.microsoft.com/office/drawing/2014/main" id="{E33D3EB3-FD5D-C5C3-1369-E7EB976730B7}"/>
                </a:ext>
              </a:extLst>
            </p:cNvPr>
            <p:cNvSpPr/>
            <p:nvPr/>
          </p:nvSpPr>
          <p:spPr>
            <a:xfrm flipH="1" flipV="1">
              <a:off x="2438403" y="4267203"/>
              <a:ext cx="914400" cy="76196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ss"/>
                <a:gd name="f6" fmla="val 0"/>
                <a:gd name="f7" fmla="+- 0 0 -180"/>
                <a:gd name="f8" fmla="+- 0 0 -360"/>
                <a:gd name="f9" fmla="abs f3"/>
                <a:gd name="f10" fmla="abs f4"/>
                <a:gd name="f11" fmla="abs f5"/>
                <a:gd name="f12" fmla="val f6"/>
                <a:gd name="f13" fmla="*/ f7 f0 1"/>
                <a:gd name="f14" fmla="*/ f8 f0 1"/>
                <a:gd name="f15" fmla="?: f9 f3 1"/>
                <a:gd name="f16" fmla="?: f10 f4 1"/>
                <a:gd name="f17" fmla="?: f11 f5 1"/>
                <a:gd name="f18" fmla="*/ f13 1 f2"/>
                <a:gd name="f19" fmla="*/ f14 1 f2"/>
                <a:gd name="f20" fmla="*/ f15 1 21600"/>
                <a:gd name="f21" fmla="*/ f16 1 21600"/>
                <a:gd name="f22" fmla="*/ 21600 f15 1"/>
                <a:gd name="f23" fmla="*/ 21600 f16 1"/>
                <a:gd name="f24" fmla="+- f18 0 f1"/>
                <a:gd name="f25" fmla="+- f19 0 f1"/>
                <a:gd name="f26" fmla="min f21 f20"/>
                <a:gd name="f27" fmla="*/ f22 1 f17"/>
                <a:gd name="f28" fmla="*/ f23 1 f17"/>
                <a:gd name="f29" fmla="val f27"/>
                <a:gd name="f30" fmla="val f28"/>
                <a:gd name="f31" fmla="*/ f6 f26 1"/>
                <a:gd name="f32" fmla="*/ f27 f26 1"/>
                <a:gd name="f33" fmla="*/ f28 f26 1"/>
                <a:gd name="f34" fmla="*/ f12 f26 1"/>
                <a:gd name="f35" fmla="*/ f29 f26 1"/>
                <a:gd name="f36" fmla="*/ f30 f26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4">
                  <a:pos x="f34" y="f34"/>
                </a:cxn>
                <a:cxn ang="f25">
                  <a:pos x="f35" y="f36"/>
                </a:cxn>
              </a:cxnLst>
              <a:rect l="f31" t="f31" r="f32" b="f33"/>
              <a:pathLst>
                <a:path>
                  <a:moveTo>
                    <a:pt x="f34" y="f34"/>
                  </a:moveTo>
                  <a:lnTo>
                    <a:pt x="f35" y="f36"/>
                  </a:lnTo>
                </a:path>
              </a:pathLst>
            </a:custGeom>
            <a:noFill/>
            <a:ln w="9528" cap="flat">
              <a:solidFill>
                <a:srgbClr val="FFFF00"/>
              </a:solidFill>
              <a:prstDash val="solid"/>
              <a:round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2400" b="0" i="0" u="none" strike="noStrike" kern="1200" cap="none" spc="0" baseline="0">
                <a:solidFill>
                  <a:srgbClr val="000000"/>
                </a:solidFill>
                <a:uFillTx/>
                <a:latin typeface="Times New Roman" pitchFamily="18"/>
              </a:endParaRPr>
            </a:p>
          </p:txBody>
        </p:sp>
        <p:sp>
          <p:nvSpPr>
            <p:cNvPr id="9" name="Line 11">
              <a:extLst>
                <a:ext uri="{FF2B5EF4-FFF2-40B4-BE49-F238E27FC236}">
                  <a16:creationId xmlns:a16="http://schemas.microsoft.com/office/drawing/2014/main" id="{C6523F7B-D6F9-2EBD-AD55-C78228D7B93F}"/>
                </a:ext>
              </a:extLst>
            </p:cNvPr>
            <p:cNvSpPr/>
            <p:nvPr/>
          </p:nvSpPr>
          <p:spPr>
            <a:xfrm flipH="1">
              <a:off x="2209803" y="4572000"/>
              <a:ext cx="1143000" cy="76196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ss"/>
                <a:gd name="f6" fmla="val 0"/>
                <a:gd name="f7" fmla="+- 0 0 -180"/>
                <a:gd name="f8" fmla="+- 0 0 -360"/>
                <a:gd name="f9" fmla="abs f3"/>
                <a:gd name="f10" fmla="abs f4"/>
                <a:gd name="f11" fmla="abs f5"/>
                <a:gd name="f12" fmla="val f6"/>
                <a:gd name="f13" fmla="*/ f7 f0 1"/>
                <a:gd name="f14" fmla="*/ f8 f0 1"/>
                <a:gd name="f15" fmla="?: f9 f3 1"/>
                <a:gd name="f16" fmla="?: f10 f4 1"/>
                <a:gd name="f17" fmla="?: f11 f5 1"/>
                <a:gd name="f18" fmla="*/ f13 1 f2"/>
                <a:gd name="f19" fmla="*/ f14 1 f2"/>
                <a:gd name="f20" fmla="*/ f15 1 21600"/>
                <a:gd name="f21" fmla="*/ f16 1 21600"/>
                <a:gd name="f22" fmla="*/ 21600 f15 1"/>
                <a:gd name="f23" fmla="*/ 21600 f16 1"/>
                <a:gd name="f24" fmla="+- f18 0 f1"/>
                <a:gd name="f25" fmla="+- f19 0 f1"/>
                <a:gd name="f26" fmla="min f21 f20"/>
                <a:gd name="f27" fmla="*/ f22 1 f17"/>
                <a:gd name="f28" fmla="*/ f23 1 f17"/>
                <a:gd name="f29" fmla="val f27"/>
                <a:gd name="f30" fmla="val f28"/>
                <a:gd name="f31" fmla="*/ f6 f26 1"/>
                <a:gd name="f32" fmla="*/ f27 f26 1"/>
                <a:gd name="f33" fmla="*/ f28 f26 1"/>
                <a:gd name="f34" fmla="*/ f12 f26 1"/>
                <a:gd name="f35" fmla="*/ f29 f26 1"/>
                <a:gd name="f36" fmla="*/ f30 f26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4">
                  <a:pos x="f34" y="f34"/>
                </a:cxn>
                <a:cxn ang="f25">
                  <a:pos x="f35" y="f36"/>
                </a:cxn>
              </a:cxnLst>
              <a:rect l="f31" t="f31" r="f32" b="f33"/>
              <a:pathLst>
                <a:path>
                  <a:moveTo>
                    <a:pt x="f34" y="f34"/>
                  </a:moveTo>
                  <a:lnTo>
                    <a:pt x="f35" y="f36"/>
                  </a:lnTo>
                </a:path>
              </a:pathLst>
            </a:custGeom>
            <a:noFill/>
            <a:ln w="9528" cap="flat">
              <a:solidFill>
                <a:srgbClr val="FFFF00"/>
              </a:solidFill>
              <a:prstDash val="solid"/>
              <a:round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2400" b="0" i="0" u="none" strike="noStrike" kern="1200" cap="none" spc="0" baseline="0">
                <a:solidFill>
                  <a:srgbClr val="000000"/>
                </a:solidFill>
                <a:uFillTx/>
                <a:latin typeface="Times New Roman" pitchFamily="18"/>
              </a:endParaRPr>
            </a:p>
          </p:txBody>
        </p:sp>
        <p:sp>
          <p:nvSpPr>
            <p:cNvPr id="10" name="Line 12">
              <a:extLst>
                <a:ext uri="{FF2B5EF4-FFF2-40B4-BE49-F238E27FC236}">
                  <a16:creationId xmlns:a16="http://schemas.microsoft.com/office/drawing/2014/main" id="{72C9F262-952C-A617-F0AF-EBF8F554FCE9}"/>
                </a:ext>
              </a:extLst>
            </p:cNvPr>
            <p:cNvSpPr/>
            <p:nvPr/>
          </p:nvSpPr>
          <p:spPr>
            <a:xfrm flipH="1">
              <a:off x="1981203" y="4953003"/>
              <a:ext cx="1143000" cy="152403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ss"/>
                <a:gd name="f6" fmla="val 0"/>
                <a:gd name="f7" fmla="+- 0 0 -180"/>
                <a:gd name="f8" fmla="+- 0 0 -360"/>
                <a:gd name="f9" fmla="abs f3"/>
                <a:gd name="f10" fmla="abs f4"/>
                <a:gd name="f11" fmla="abs f5"/>
                <a:gd name="f12" fmla="val f6"/>
                <a:gd name="f13" fmla="*/ f7 f0 1"/>
                <a:gd name="f14" fmla="*/ f8 f0 1"/>
                <a:gd name="f15" fmla="?: f9 f3 1"/>
                <a:gd name="f16" fmla="?: f10 f4 1"/>
                <a:gd name="f17" fmla="?: f11 f5 1"/>
                <a:gd name="f18" fmla="*/ f13 1 f2"/>
                <a:gd name="f19" fmla="*/ f14 1 f2"/>
                <a:gd name="f20" fmla="*/ f15 1 21600"/>
                <a:gd name="f21" fmla="*/ f16 1 21600"/>
                <a:gd name="f22" fmla="*/ 21600 f15 1"/>
                <a:gd name="f23" fmla="*/ 21600 f16 1"/>
                <a:gd name="f24" fmla="+- f18 0 f1"/>
                <a:gd name="f25" fmla="+- f19 0 f1"/>
                <a:gd name="f26" fmla="min f21 f20"/>
                <a:gd name="f27" fmla="*/ f22 1 f17"/>
                <a:gd name="f28" fmla="*/ f23 1 f17"/>
                <a:gd name="f29" fmla="val f27"/>
                <a:gd name="f30" fmla="val f28"/>
                <a:gd name="f31" fmla="*/ f6 f26 1"/>
                <a:gd name="f32" fmla="*/ f27 f26 1"/>
                <a:gd name="f33" fmla="*/ f28 f26 1"/>
                <a:gd name="f34" fmla="*/ f12 f26 1"/>
                <a:gd name="f35" fmla="*/ f29 f26 1"/>
                <a:gd name="f36" fmla="*/ f30 f26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4">
                  <a:pos x="f34" y="f34"/>
                </a:cxn>
                <a:cxn ang="f25">
                  <a:pos x="f35" y="f36"/>
                </a:cxn>
              </a:cxnLst>
              <a:rect l="f31" t="f31" r="f32" b="f33"/>
              <a:pathLst>
                <a:path>
                  <a:moveTo>
                    <a:pt x="f34" y="f34"/>
                  </a:moveTo>
                  <a:lnTo>
                    <a:pt x="f35" y="f36"/>
                  </a:lnTo>
                </a:path>
              </a:pathLst>
            </a:custGeom>
            <a:noFill/>
            <a:ln w="9528" cap="flat">
              <a:solidFill>
                <a:srgbClr val="FFFF00"/>
              </a:solidFill>
              <a:prstDash val="solid"/>
              <a:round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2400" b="0" i="0" u="none" strike="noStrike" kern="1200" cap="none" spc="0" baseline="0">
                <a:solidFill>
                  <a:srgbClr val="000000"/>
                </a:solidFill>
                <a:uFillTx/>
                <a:latin typeface="Times New Roman" pitchFamily="18"/>
              </a:endParaRPr>
            </a:p>
          </p:txBody>
        </p:sp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7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41DA6FF3-9D49-B77D-4410-D4F98E5C80FC}"/>
              </a:ext>
            </a:extLst>
          </p:cNvPr>
          <p:cNvSpPr/>
          <p:nvPr/>
        </p:nvSpPr>
        <p:spPr>
          <a:xfrm>
            <a:off x="3352803" y="457200"/>
            <a:ext cx="1981203" cy="685800"/>
          </a:xfrm>
          <a:prstGeom prst="rect">
            <a:avLst/>
          </a:prstGeom>
          <a:solidFill>
            <a:srgbClr val="969696"/>
          </a:solidFill>
          <a:ln w="9528" cap="flat">
            <a:solidFill>
              <a:srgbClr val="000000"/>
            </a:solidFill>
            <a:prstDash val="solid"/>
            <a:miter/>
          </a:ln>
        </p:spPr>
        <p:txBody>
          <a:bodyPr vert="horz" wrap="non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3600" b="0" i="0" u="none" strike="noStrike" kern="1200" cap="none" spc="0" baseline="0">
                <a:solidFill>
                  <a:srgbClr val="0000FF"/>
                </a:solidFill>
                <a:uFillTx/>
                <a:latin typeface="Times New Roman" pitchFamily="18"/>
              </a:rPr>
              <a:t>Summary</a:t>
            </a: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D92D7111-CAEC-555A-79D5-7E59A590E371}"/>
              </a:ext>
            </a:extLst>
          </p:cNvPr>
          <p:cNvSpPr/>
          <p:nvPr/>
        </p:nvSpPr>
        <p:spPr>
          <a:xfrm>
            <a:off x="1219196" y="1371600"/>
            <a:ext cx="3352803" cy="4495803"/>
          </a:xfrm>
          <a:prstGeom prst="rect">
            <a:avLst/>
          </a:prstGeom>
          <a:solidFill>
            <a:srgbClr val="969696"/>
          </a:solidFill>
          <a:ln w="9528" cap="flat">
            <a:solidFill>
              <a:srgbClr val="000000"/>
            </a:solidFill>
            <a:prstDash val="solid"/>
            <a:miter/>
          </a:ln>
        </p:spPr>
        <p:txBody>
          <a:bodyPr vert="horz" wrap="none" lIns="91440" tIns="45720" rIns="91440" bIns="4572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240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</a:endParaRPr>
          </a:p>
        </p:txBody>
      </p:sp>
      <p:sp>
        <p:nvSpPr>
          <p:cNvPr id="4" name="Text Box 4">
            <a:extLst>
              <a:ext uri="{FF2B5EF4-FFF2-40B4-BE49-F238E27FC236}">
                <a16:creationId xmlns:a16="http://schemas.microsoft.com/office/drawing/2014/main" id="{BF35D807-FE40-FF51-8E53-7FA400BA2D52}"/>
              </a:ext>
            </a:extLst>
          </p:cNvPr>
          <p:cNvSpPr txBox="1"/>
          <p:nvPr/>
        </p:nvSpPr>
        <p:spPr>
          <a:xfrm>
            <a:off x="1371600" y="1447796"/>
            <a:ext cx="2895603" cy="4362446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17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800" b="0" i="0" u="none" strike="noStrike" kern="1200" cap="none" spc="0" baseline="0">
                <a:solidFill>
                  <a:srgbClr val="000000"/>
                </a:solidFill>
                <a:uFillTx/>
                <a:latin typeface="Times New Roman" pitchFamily="18"/>
              </a:rPr>
              <a:t>An important multipurpose instrument is the DMM, which can measure voltage, current, and resistance. Many include other measurement options.</a:t>
            </a:r>
          </a:p>
        </p:txBody>
      </p:sp>
      <p:graphicFrame>
        <p:nvGraphicFramePr>
          <p:cNvPr id="5" name="Object 11">
            <a:extLst>
              <a:ext uri="{FF2B5EF4-FFF2-40B4-BE49-F238E27FC236}">
                <a16:creationId xmlns:a16="http://schemas.microsoft.com/office/drawing/2014/main" id="{7D8E85D8-6EC6-034D-B990-9A6C0CF8F6C1}"/>
              </a:ext>
            </a:extLst>
          </p:cNvPr>
          <p:cNvGraphicFramePr/>
          <p:nvPr/>
        </p:nvGraphicFramePr>
        <p:xfrm>
          <a:off x="4190996" y="2057400"/>
          <a:ext cx="4440234" cy="337344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3400425" imgH="2590800" progId="">
                  <p:embed/>
                </p:oleObj>
              </mc:Choice>
              <mc:Fallback>
                <p:oleObj r:id="rId2" imgW="3400425" imgH="2590800" progId="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4190996" y="2057400"/>
                        <a:ext cx="4440234" cy="3373441"/>
                      </a:xfrm>
                      <a:prstGeom prst="rect">
                        <a:avLst/>
                      </a:prstGeom>
                      <a:noFill/>
                      <a:ln cap="flat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7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476A7323-6BA9-1B56-9BDD-5F68BF1843CA}"/>
              </a:ext>
            </a:extLst>
          </p:cNvPr>
          <p:cNvSpPr/>
          <p:nvPr/>
        </p:nvSpPr>
        <p:spPr>
          <a:xfrm>
            <a:off x="3352803" y="457200"/>
            <a:ext cx="1981203" cy="685800"/>
          </a:xfrm>
          <a:prstGeom prst="rect">
            <a:avLst/>
          </a:prstGeom>
          <a:solidFill>
            <a:srgbClr val="969696"/>
          </a:solidFill>
          <a:ln w="9528" cap="flat">
            <a:solidFill>
              <a:srgbClr val="000000"/>
            </a:solidFill>
            <a:prstDash val="solid"/>
            <a:miter/>
          </a:ln>
        </p:spPr>
        <p:txBody>
          <a:bodyPr vert="horz" wrap="non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3600" b="0" i="0" u="none" strike="noStrike" kern="1200" cap="none" spc="0" baseline="0">
                <a:solidFill>
                  <a:srgbClr val="0000FF"/>
                </a:solidFill>
                <a:uFillTx/>
                <a:latin typeface="Times New Roman" pitchFamily="18"/>
              </a:rPr>
              <a:t>Summary</a:t>
            </a:r>
          </a:p>
        </p:txBody>
      </p:sp>
      <p:sp>
        <p:nvSpPr>
          <p:cNvPr id="3" name="Rectangle 6">
            <a:extLst>
              <a:ext uri="{FF2B5EF4-FFF2-40B4-BE49-F238E27FC236}">
                <a16:creationId xmlns:a16="http://schemas.microsoft.com/office/drawing/2014/main" id="{AAA83E96-AC29-0513-4C70-69F69A2ADBAD}"/>
              </a:ext>
            </a:extLst>
          </p:cNvPr>
          <p:cNvSpPr/>
          <p:nvPr/>
        </p:nvSpPr>
        <p:spPr>
          <a:xfrm>
            <a:off x="914400" y="1219196"/>
            <a:ext cx="7619996" cy="1828800"/>
          </a:xfrm>
          <a:prstGeom prst="rect">
            <a:avLst/>
          </a:prstGeom>
          <a:solidFill>
            <a:srgbClr val="969696"/>
          </a:solidFill>
          <a:ln w="9528" cap="flat">
            <a:solidFill>
              <a:srgbClr val="000000"/>
            </a:solidFill>
            <a:prstDash val="solid"/>
            <a:miter/>
          </a:ln>
        </p:spPr>
        <p:txBody>
          <a:bodyPr vert="horz" wrap="none" lIns="91440" tIns="45720" rIns="91440" bIns="4572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240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</a:endParaRPr>
          </a:p>
        </p:txBody>
      </p:sp>
      <p:sp>
        <p:nvSpPr>
          <p:cNvPr id="4" name="Text Box 7">
            <a:extLst>
              <a:ext uri="{FF2B5EF4-FFF2-40B4-BE49-F238E27FC236}">
                <a16:creationId xmlns:a16="http://schemas.microsoft.com/office/drawing/2014/main" id="{3C779F19-9C41-A404-B3A7-28AB343BD41C}"/>
              </a:ext>
            </a:extLst>
          </p:cNvPr>
          <p:cNvSpPr txBox="1"/>
          <p:nvPr/>
        </p:nvSpPr>
        <p:spPr>
          <a:xfrm>
            <a:off x="914400" y="1295403"/>
            <a:ext cx="7619996" cy="1800225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17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800" b="0" i="0" u="none" strike="noStrike" kern="1200" cap="none" spc="0" baseline="0">
                <a:solidFill>
                  <a:srgbClr val="000000"/>
                </a:solidFill>
                <a:uFillTx/>
                <a:latin typeface="Times New Roman" pitchFamily="18"/>
              </a:rPr>
              <a:t>You need to recognize safety hazards and know what to do in an emergency. Read and review all of the precautions given in the text. Some key ones are:</a:t>
            </a:r>
          </a:p>
        </p:txBody>
      </p:sp>
      <p:grpSp>
        <p:nvGrpSpPr>
          <p:cNvPr id="5" name="Group 8">
            <a:extLst>
              <a:ext uri="{FF2B5EF4-FFF2-40B4-BE49-F238E27FC236}">
                <a16:creationId xmlns:a16="http://schemas.microsoft.com/office/drawing/2014/main" id="{16ED6786-B40F-FB3C-26B7-E6CDB70D4884}"/>
              </a:ext>
            </a:extLst>
          </p:cNvPr>
          <p:cNvGrpSpPr/>
          <p:nvPr/>
        </p:nvGrpSpPr>
        <p:grpSpPr>
          <a:xfrm>
            <a:off x="2286000" y="3016248"/>
            <a:ext cx="5410203" cy="1022355"/>
            <a:chOff x="2286000" y="3016248"/>
            <a:chExt cx="5410203" cy="1022355"/>
          </a:xfrm>
        </p:grpSpPr>
        <p:sp>
          <p:nvSpPr>
            <p:cNvPr id="6" name="Text Box 9">
              <a:extLst>
                <a:ext uri="{FF2B5EF4-FFF2-40B4-BE49-F238E27FC236}">
                  <a16:creationId xmlns:a16="http://schemas.microsoft.com/office/drawing/2014/main" id="{CCF1BCC8-2188-291E-7E76-AE89E59B12E7}"/>
                </a:ext>
              </a:extLst>
            </p:cNvPr>
            <p:cNvSpPr txBox="1"/>
            <p:nvPr/>
          </p:nvSpPr>
          <p:spPr>
            <a:xfrm>
              <a:off x="2286000" y="3016248"/>
              <a:ext cx="5105396" cy="457200"/>
            </a:xfrm>
            <a:prstGeom prst="rect">
              <a:avLst/>
            </a:prstGeom>
            <a:noFill/>
            <a:ln cap="flat">
              <a:noFill/>
            </a:ln>
          </p:spPr>
          <p:txBody>
            <a:bodyPr vert="horz" wrap="square" lIns="91440" tIns="45720" rIns="91440" bIns="45720" anchor="t" anchorCtr="0" compatLnSpc="1">
              <a:sp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1400"/>
                </a:spcBef>
                <a:spcAft>
                  <a:spcPts val="0"/>
                </a:spcAft>
                <a:buSzPct val="100000"/>
                <a:buChar char="•"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US" sz="2400" b="0" i="0" u="none" strike="noStrike" kern="1200" cap="none" spc="0" baseline="0">
                  <a:solidFill>
                    <a:srgbClr val="000000"/>
                  </a:solidFill>
                  <a:uFillTx/>
                  <a:latin typeface="Times New Roman" pitchFamily="18"/>
                </a:rPr>
                <a:t>Electrical </a:t>
              </a:r>
            </a:p>
          </p:txBody>
        </p:sp>
        <p:sp>
          <p:nvSpPr>
            <p:cNvPr id="7" name="Text Box 10">
              <a:extLst>
                <a:ext uri="{FF2B5EF4-FFF2-40B4-BE49-F238E27FC236}">
                  <a16:creationId xmlns:a16="http://schemas.microsoft.com/office/drawing/2014/main" id="{6BD151F4-9CA0-6C37-412F-0F73D1DFD523}"/>
                </a:ext>
              </a:extLst>
            </p:cNvPr>
            <p:cNvSpPr txBox="1"/>
            <p:nvPr/>
          </p:nvSpPr>
          <p:spPr>
            <a:xfrm>
              <a:off x="2895603" y="3397252"/>
              <a:ext cx="4800600" cy="641351"/>
            </a:xfrm>
            <a:prstGeom prst="rect">
              <a:avLst/>
            </a:prstGeom>
            <a:noFill/>
            <a:ln cap="flat">
              <a:noFill/>
            </a:ln>
          </p:spPr>
          <p:txBody>
            <a:bodyPr vert="horz" wrap="square" lIns="91440" tIns="45720" rIns="91440" bIns="45720" anchor="t" anchorCtr="0" compatLnSpc="1">
              <a:sp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110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US" sz="1800" b="0" i="0" u="none" strike="noStrike" kern="1200" cap="none" spc="0" baseline="0">
                  <a:solidFill>
                    <a:srgbClr val="000000"/>
                  </a:solidFill>
                  <a:uFillTx/>
                  <a:latin typeface="Times New Roman" pitchFamily="18"/>
                </a:rPr>
                <a:t>Shock - know the location of emergency shutoff. Know and follow safety rules in the lab.</a:t>
              </a:r>
            </a:p>
          </p:txBody>
        </p:sp>
      </p:grpSp>
      <p:grpSp>
        <p:nvGrpSpPr>
          <p:cNvPr id="8" name="Group 11">
            <a:extLst>
              <a:ext uri="{FF2B5EF4-FFF2-40B4-BE49-F238E27FC236}">
                <a16:creationId xmlns:a16="http://schemas.microsoft.com/office/drawing/2014/main" id="{88FAEA5F-D518-3DCC-FB4B-6910A276D350}"/>
              </a:ext>
            </a:extLst>
          </p:cNvPr>
          <p:cNvGrpSpPr/>
          <p:nvPr/>
        </p:nvGrpSpPr>
        <p:grpSpPr>
          <a:xfrm>
            <a:off x="2286000" y="5073648"/>
            <a:ext cx="5410203" cy="1022355"/>
            <a:chOff x="2286000" y="5073648"/>
            <a:chExt cx="5410203" cy="1022355"/>
          </a:xfrm>
        </p:grpSpPr>
        <p:sp>
          <p:nvSpPr>
            <p:cNvPr id="9" name="Text Box 12">
              <a:extLst>
                <a:ext uri="{FF2B5EF4-FFF2-40B4-BE49-F238E27FC236}">
                  <a16:creationId xmlns:a16="http://schemas.microsoft.com/office/drawing/2014/main" id="{71D75975-0001-5A28-6E67-C91F4B320B75}"/>
                </a:ext>
              </a:extLst>
            </p:cNvPr>
            <p:cNvSpPr txBox="1"/>
            <p:nvPr/>
          </p:nvSpPr>
          <p:spPr>
            <a:xfrm>
              <a:off x="2895603" y="5454652"/>
              <a:ext cx="4800600" cy="641351"/>
            </a:xfrm>
            <a:prstGeom prst="rect">
              <a:avLst/>
            </a:prstGeom>
            <a:noFill/>
            <a:ln cap="flat">
              <a:noFill/>
            </a:ln>
          </p:spPr>
          <p:txBody>
            <a:bodyPr vert="horz" wrap="square" lIns="91440" tIns="45720" rIns="91440" bIns="45720" anchor="t" anchorCtr="0" compatLnSpc="1">
              <a:sp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110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US" sz="1800" b="0" i="0" u="none" strike="noStrike" kern="1200" cap="none" spc="0" baseline="0">
                  <a:solidFill>
                    <a:srgbClr val="000000"/>
                  </a:solidFill>
                  <a:uFillTx/>
                  <a:latin typeface="Times New Roman" pitchFamily="18"/>
                </a:rPr>
                <a:t>A safe area is neat. The area should be inspected regularly for hazards.</a:t>
              </a:r>
            </a:p>
          </p:txBody>
        </p:sp>
        <p:sp>
          <p:nvSpPr>
            <p:cNvPr id="10" name="Text Box 13">
              <a:extLst>
                <a:ext uri="{FF2B5EF4-FFF2-40B4-BE49-F238E27FC236}">
                  <a16:creationId xmlns:a16="http://schemas.microsoft.com/office/drawing/2014/main" id="{12FBAA83-B87F-76DE-7D1F-0542CE29F491}"/>
                </a:ext>
              </a:extLst>
            </p:cNvPr>
            <p:cNvSpPr txBox="1"/>
            <p:nvPr/>
          </p:nvSpPr>
          <p:spPr>
            <a:xfrm>
              <a:off x="2286000" y="5073648"/>
              <a:ext cx="3124203" cy="457200"/>
            </a:xfrm>
            <a:prstGeom prst="rect">
              <a:avLst/>
            </a:prstGeom>
            <a:noFill/>
            <a:ln cap="flat">
              <a:noFill/>
            </a:ln>
          </p:spPr>
          <p:txBody>
            <a:bodyPr vert="horz" wrap="square" lIns="91440" tIns="45720" rIns="91440" bIns="45720" anchor="t" anchorCtr="0" compatLnSpc="1">
              <a:sp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1400"/>
                </a:spcBef>
                <a:spcAft>
                  <a:spcPts val="0"/>
                </a:spcAft>
                <a:buSzPct val="100000"/>
                <a:buChar char="•"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US" sz="2400" b="0" i="0" u="none" strike="noStrike" kern="1200" cap="none" spc="0" baseline="0">
                  <a:solidFill>
                    <a:srgbClr val="000000"/>
                  </a:solidFill>
                  <a:uFillTx/>
                  <a:latin typeface="Times New Roman" pitchFamily="18"/>
                </a:rPr>
                <a:t>Work area</a:t>
              </a:r>
            </a:p>
          </p:txBody>
        </p:sp>
      </p:grpSp>
      <p:grpSp>
        <p:nvGrpSpPr>
          <p:cNvPr id="11" name="Group 14">
            <a:extLst>
              <a:ext uri="{FF2B5EF4-FFF2-40B4-BE49-F238E27FC236}">
                <a16:creationId xmlns:a16="http://schemas.microsoft.com/office/drawing/2014/main" id="{8598A13F-4184-9664-1BB7-A7F93C81FE7B}"/>
              </a:ext>
            </a:extLst>
          </p:cNvPr>
          <p:cNvGrpSpPr/>
          <p:nvPr/>
        </p:nvGrpSpPr>
        <p:grpSpPr>
          <a:xfrm>
            <a:off x="2286000" y="4083052"/>
            <a:ext cx="5105396" cy="1022344"/>
            <a:chOff x="2286000" y="4083052"/>
            <a:chExt cx="5105396" cy="1022344"/>
          </a:xfrm>
        </p:grpSpPr>
        <p:sp>
          <p:nvSpPr>
            <p:cNvPr id="12" name="Text Box 15">
              <a:extLst>
                <a:ext uri="{FF2B5EF4-FFF2-40B4-BE49-F238E27FC236}">
                  <a16:creationId xmlns:a16="http://schemas.microsoft.com/office/drawing/2014/main" id="{6A3B30F6-DF85-7855-1FAA-ADD48890C71B}"/>
                </a:ext>
              </a:extLst>
            </p:cNvPr>
            <p:cNvSpPr txBox="1"/>
            <p:nvPr/>
          </p:nvSpPr>
          <p:spPr>
            <a:xfrm>
              <a:off x="2971800" y="4464045"/>
              <a:ext cx="4343400" cy="641351"/>
            </a:xfrm>
            <a:prstGeom prst="rect">
              <a:avLst/>
            </a:prstGeom>
            <a:noFill/>
            <a:ln cap="flat">
              <a:noFill/>
            </a:ln>
          </p:spPr>
          <p:txBody>
            <a:bodyPr vert="horz" wrap="square" lIns="91440" tIns="45720" rIns="91440" bIns="45720" anchor="t" anchorCtr="0" compatLnSpc="1">
              <a:sp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110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US" sz="1800" b="0" i="0" u="none" strike="noStrike" kern="1200" cap="none" spc="0" baseline="0">
                  <a:solidFill>
                    <a:srgbClr val="000000"/>
                  </a:solidFill>
                  <a:uFillTx/>
                  <a:latin typeface="Times New Roman" pitchFamily="18"/>
                </a:rPr>
                <a:t>Use Class-C extinguisher for electrical fires. Be aware of burn hazards with jewelry.</a:t>
              </a:r>
            </a:p>
          </p:txBody>
        </p:sp>
        <p:sp>
          <p:nvSpPr>
            <p:cNvPr id="13" name="Text Box 16">
              <a:extLst>
                <a:ext uri="{FF2B5EF4-FFF2-40B4-BE49-F238E27FC236}">
                  <a16:creationId xmlns:a16="http://schemas.microsoft.com/office/drawing/2014/main" id="{F6C37CDE-2D68-F86D-0ABD-6CEAAF492CB6}"/>
                </a:ext>
              </a:extLst>
            </p:cNvPr>
            <p:cNvSpPr txBox="1"/>
            <p:nvPr/>
          </p:nvSpPr>
          <p:spPr>
            <a:xfrm>
              <a:off x="2286000" y="4083052"/>
              <a:ext cx="5105396" cy="457200"/>
            </a:xfrm>
            <a:prstGeom prst="rect">
              <a:avLst/>
            </a:prstGeom>
            <a:noFill/>
            <a:ln cap="flat">
              <a:noFill/>
            </a:ln>
          </p:spPr>
          <p:txBody>
            <a:bodyPr vert="horz" wrap="square" lIns="91440" tIns="45720" rIns="91440" bIns="45720" anchor="t" anchorCtr="0" compatLnSpc="1">
              <a:sp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1400"/>
                </a:spcBef>
                <a:spcAft>
                  <a:spcPts val="0"/>
                </a:spcAft>
                <a:buSzPct val="100000"/>
                <a:buChar char="•"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US" sz="2400" b="0" i="0" u="none" strike="noStrike" kern="1200" cap="none" spc="0" baseline="0">
                  <a:solidFill>
                    <a:srgbClr val="000000"/>
                  </a:solidFill>
                  <a:uFillTx/>
                  <a:latin typeface="Times New Roman" pitchFamily="18"/>
                </a:rPr>
                <a:t>Electrical safety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Effect">
                      <p:stCondLst>
                        <p:cond delay="indefinite"/>
                      </p:stCondLst>
                      <p:childTnLst>
                        <p:par>
                          <p:cTn id="4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Effect">
                      <p:stCondLst>
                        <p:cond delay="indefinite"/>
                      </p:stCondLst>
                      <p:childTnLst>
                        <p:par>
                          <p:cTn id="10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Effect">
                      <p:stCondLst>
                        <p:cond delay="indefinite"/>
                      </p:stCondLst>
                      <p:childTnLst>
                        <p:par>
                          <p:cTn id="16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9">
            <a:extLst>
              <a:ext uri="{FF2B5EF4-FFF2-40B4-BE49-F238E27FC236}">
                <a16:creationId xmlns:a16="http://schemas.microsoft.com/office/drawing/2014/main" id="{2439E863-B5FA-7880-626A-C988EC0DE82B}"/>
              </a:ext>
            </a:extLst>
          </p:cNvPr>
          <p:cNvGraphicFramePr/>
          <p:nvPr/>
        </p:nvGraphicFramePr>
        <p:xfrm>
          <a:off x="609603" y="990596"/>
          <a:ext cx="8172450" cy="527684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10895238" imgH="7034920" progId="">
                  <p:embed/>
                </p:oleObj>
              </mc:Choice>
              <mc:Fallback>
                <p:oleObj r:id="rId2" imgW="10895238" imgH="7034920" progId="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609603" y="990596"/>
                        <a:ext cx="8172450" cy="5276846"/>
                      </a:xfrm>
                      <a:prstGeom prst="rect">
                        <a:avLst/>
                      </a:prstGeom>
                      <a:noFill/>
                      <a:ln cap="flat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ext Box 12">
            <a:extLst>
              <a:ext uri="{FF2B5EF4-FFF2-40B4-BE49-F238E27FC236}">
                <a16:creationId xmlns:a16="http://schemas.microsoft.com/office/drawing/2014/main" id="{1F195FA2-7B3A-0EC6-7599-A14F3314B3D2}"/>
              </a:ext>
            </a:extLst>
          </p:cNvPr>
          <p:cNvSpPr txBox="1"/>
          <p:nvPr/>
        </p:nvSpPr>
        <p:spPr>
          <a:xfrm>
            <a:off x="1600200" y="1447796"/>
            <a:ext cx="6553203" cy="519114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17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800" b="0" i="0" u="none" strike="noStrike" kern="1200" cap="none" spc="0" baseline="0">
                <a:solidFill>
                  <a:srgbClr val="000000"/>
                </a:solidFill>
                <a:uFillTx/>
                <a:latin typeface="Times" pitchFamily="18"/>
                <a:cs typeface="Times New Roman" pitchFamily="18"/>
              </a:rPr>
              <a:t> </a:t>
            </a:r>
          </a:p>
        </p:txBody>
      </p:sp>
      <p:sp>
        <p:nvSpPr>
          <p:cNvPr id="4" name="Text Box 13">
            <a:extLst>
              <a:ext uri="{FF2B5EF4-FFF2-40B4-BE49-F238E27FC236}">
                <a16:creationId xmlns:a16="http://schemas.microsoft.com/office/drawing/2014/main" id="{382B8F23-830F-B7D2-9253-E6B23C185A15}"/>
              </a:ext>
            </a:extLst>
          </p:cNvPr>
          <p:cNvSpPr txBox="1"/>
          <p:nvPr/>
        </p:nvSpPr>
        <p:spPr>
          <a:xfrm>
            <a:off x="228600" y="1371600"/>
            <a:ext cx="2209803" cy="3378195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400" b="1" i="1" u="none" strike="noStrike" kern="1200" cap="none" spc="0" baseline="0">
                <a:solidFill>
                  <a:srgbClr val="CC3300"/>
                </a:solidFill>
                <a:uFillTx/>
                <a:latin typeface="Times" pitchFamily="18"/>
                <a:cs typeface="Times New Roman" pitchFamily="18"/>
              </a:rPr>
              <a:t>Ampere</a:t>
            </a:r>
          </a:p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2400" b="1" i="1" u="none" strike="noStrike" kern="1200" cap="none" spc="0" baseline="0">
              <a:solidFill>
                <a:srgbClr val="CC3300"/>
              </a:solidFill>
              <a:uFillTx/>
              <a:latin typeface="Times" pitchFamily="18"/>
              <a:cs typeface="Times New Roman" pitchFamily="18"/>
            </a:endParaRPr>
          </a:p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400" b="1" i="1" u="none" strike="noStrike" kern="1200" cap="none" spc="0" baseline="0">
                <a:solidFill>
                  <a:srgbClr val="CC3300"/>
                </a:solidFill>
                <a:uFillTx/>
                <a:latin typeface="Times" pitchFamily="18"/>
                <a:cs typeface="Times New Roman" pitchFamily="18"/>
              </a:rPr>
              <a:t>AWG</a:t>
            </a:r>
          </a:p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400" b="1" i="1" u="none" strike="noStrike" kern="1200" cap="none" spc="0" baseline="0">
                <a:solidFill>
                  <a:srgbClr val="CC3300"/>
                </a:solidFill>
                <a:uFillTx/>
                <a:latin typeface="Wingdings" pitchFamily="2"/>
                <a:cs typeface="Times New Roman" pitchFamily="18"/>
              </a:rPr>
              <a:t> </a:t>
            </a:r>
          </a:p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400" b="1" i="1" u="none" strike="noStrike" kern="1200" cap="none" spc="0" baseline="0">
                <a:solidFill>
                  <a:srgbClr val="CC3300"/>
                </a:solidFill>
                <a:uFillTx/>
                <a:latin typeface="Times" pitchFamily="18"/>
                <a:cs typeface="Times New Roman" pitchFamily="18"/>
              </a:rPr>
              <a:t>Charge</a:t>
            </a:r>
          </a:p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2400" b="1" i="1" u="none" strike="noStrike" kern="1200" cap="none" spc="0" baseline="0">
              <a:solidFill>
                <a:srgbClr val="CC3300"/>
              </a:solidFill>
              <a:uFillTx/>
              <a:latin typeface="Times" pitchFamily="18"/>
              <a:cs typeface="Times New Roman" pitchFamily="18"/>
            </a:endParaRPr>
          </a:p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2400" b="1" i="1" u="none" strike="noStrike" kern="1200" cap="none" spc="0" baseline="0">
              <a:solidFill>
                <a:srgbClr val="CC3300"/>
              </a:solidFill>
              <a:uFillTx/>
              <a:latin typeface="Times" pitchFamily="18"/>
              <a:cs typeface="Times New Roman" pitchFamily="18"/>
            </a:endParaRPr>
          </a:p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2400" b="1" i="1" u="none" strike="noStrike" kern="1200" cap="none" spc="0" baseline="0">
              <a:solidFill>
                <a:srgbClr val="CC3300"/>
              </a:solidFill>
              <a:uFillTx/>
              <a:latin typeface="Times" pitchFamily="18"/>
              <a:cs typeface="Times New Roman" pitchFamily="18"/>
            </a:endParaRPr>
          </a:p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400" b="1" i="1" u="none" strike="noStrike" kern="1200" cap="none" spc="0" baseline="0">
                <a:solidFill>
                  <a:srgbClr val="CC3300"/>
                </a:solidFill>
                <a:uFillTx/>
                <a:latin typeface="Times" pitchFamily="18"/>
                <a:cs typeface="Times New Roman" pitchFamily="18"/>
              </a:rPr>
              <a:t>Circuit</a:t>
            </a:r>
          </a:p>
        </p:txBody>
      </p:sp>
      <p:sp>
        <p:nvSpPr>
          <p:cNvPr id="5" name="Text Box 14">
            <a:extLst>
              <a:ext uri="{FF2B5EF4-FFF2-40B4-BE49-F238E27FC236}">
                <a16:creationId xmlns:a16="http://schemas.microsoft.com/office/drawing/2014/main" id="{58ACE790-5ADE-8AA1-E4C1-25FFCA014200}"/>
              </a:ext>
            </a:extLst>
          </p:cNvPr>
          <p:cNvSpPr txBox="1"/>
          <p:nvPr/>
        </p:nvSpPr>
        <p:spPr>
          <a:xfrm>
            <a:off x="2438403" y="1371600"/>
            <a:ext cx="6324603" cy="45720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400" b="0" i="0" u="none" strike="noStrike" kern="1200" cap="none" spc="0" baseline="0">
                <a:solidFill>
                  <a:srgbClr val="000000"/>
                </a:solidFill>
                <a:uFillTx/>
                <a:latin typeface="Times" pitchFamily="18"/>
                <a:cs typeface="Times New Roman" pitchFamily="18"/>
              </a:rPr>
              <a:t>The unit of electrical current</a:t>
            </a:r>
          </a:p>
        </p:txBody>
      </p:sp>
      <p:sp>
        <p:nvSpPr>
          <p:cNvPr id="6" name="Text Box 15">
            <a:extLst>
              <a:ext uri="{FF2B5EF4-FFF2-40B4-BE49-F238E27FC236}">
                <a16:creationId xmlns:a16="http://schemas.microsoft.com/office/drawing/2014/main" id="{B705A841-DFF9-C42B-B3C8-F3AE3808A138}"/>
              </a:ext>
            </a:extLst>
          </p:cNvPr>
          <p:cNvSpPr txBox="1"/>
          <p:nvPr/>
        </p:nvSpPr>
        <p:spPr>
          <a:xfrm>
            <a:off x="2438403" y="2073273"/>
            <a:ext cx="6400800" cy="822329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400" b="0" i="0" u="none" strike="noStrike" kern="1200" cap="none" spc="0" baseline="0">
                <a:solidFill>
                  <a:srgbClr val="000000"/>
                </a:solidFill>
                <a:uFillTx/>
                <a:latin typeface="Times" pitchFamily="18"/>
                <a:cs typeface="Times New Roman" pitchFamily="18"/>
              </a:rPr>
              <a:t>(American Wire Gauge) A standardization based on wire diameter</a:t>
            </a:r>
          </a:p>
        </p:txBody>
      </p:sp>
      <p:sp>
        <p:nvSpPr>
          <p:cNvPr id="7" name="Text Box 16">
            <a:extLst>
              <a:ext uri="{FF2B5EF4-FFF2-40B4-BE49-F238E27FC236}">
                <a16:creationId xmlns:a16="http://schemas.microsoft.com/office/drawing/2014/main" id="{7EB03FC2-2CFB-3A9E-BC48-E14104233FA9}"/>
              </a:ext>
            </a:extLst>
          </p:cNvPr>
          <p:cNvSpPr txBox="1"/>
          <p:nvPr/>
        </p:nvSpPr>
        <p:spPr>
          <a:xfrm>
            <a:off x="2438403" y="2895603"/>
            <a:ext cx="5943600" cy="118744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400" b="0" i="0" u="none" strike="noStrike" kern="1200" cap="none" spc="0" baseline="0">
                <a:solidFill>
                  <a:srgbClr val="000000"/>
                </a:solidFill>
                <a:uFillTx/>
                <a:latin typeface="Times" pitchFamily="18"/>
                <a:cs typeface="Times New Roman" pitchFamily="18"/>
              </a:rPr>
              <a:t>An electrical property of matter that exists because of an excess or a deficiency of electrons. Charge can be either + or </a:t>
            </a:r>
            <a:r>
              <a:rPr lang="en-US" sz="2400" b="0" i="0" u="none" strike="noStrike" kern="1200" cap="none" spc="0" baseline="0">
                <a:solidFill>
                  <a:srgbClr val="000000"/>
                </a:solidFill>
                <a:uFillTx/>
                <a:latin typeface="Symbol" pitchFamily="18"/>
                <a:cs typeface="Times New Roman" pitchFamily="18"/>
              </a:rPr>
              <a:t>-</a:t>
            </a:r>
            <a:r>
              <a:rPr lang="en-US" sz="2400" b="0" i="0" u="none" strike="noStrike" kern="1200" cap="none" spc="0" baseline="0">
                <a:solidFill>
                  <a:srgbClr val="000000"/>
                </a:solidFill>
                <a:uFillTx/>
                <a:latin typeface="Times" pitchFamily="18"/>
                <a:cs typeface="Times New Roman" pitchFamily="18"/>
              </a:rPr>
              <a:t>.</a:t>
            </a:r>
            <a:endParaRPr lang="en-US" sz="240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</a:endParaRPr>
          </a:p>
        </p:txBody>
      </p:sp>
      <p:sp>
        <p:nvSpPr>
          <p:cNvPr id="8" name="Text Box 18">
            <a:extLst>
              <a:ext uri="{FF2B5EF4-FFF2-40B4-BE49-F238E27FC236}">
                <a16:creationId xmlns:a16="http://schemas.microsoft.com/office/drawing/2014/main" id="{A2731B62-E5C4-C81C-2B98-C556ECB6526B}"/>
              </a:ext>
            </a:extLst>
          </p:cNvPr>
          <p:cNvSpPr txBox="1"/>
          <p:nvPr/>
        </p:nvSpPr>
        <p:spPr>
          <a:xfrm>
            <a:off x="2438403" y="4267203"/>
            <a:ext cx="6096003" cy="155257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400" b="0" i="0" u="none" strike="noStrike" kern="1200" cap="none" spc="0" baseline="0">
                <a:solidFill>
                  <a:srgbClr val="000000"/>
                </a:solidFill>
                <a:uFillTx/>
                <a:latin typeface="Times" pitchFamily="18"/>
                <a:cs typeface="Times New Roman" pitchFamily="18"/>
              </a:rPr>
              <a:t>A</a:t>
            </a:r>
            <a:r>
              <a:rPr lang="en-US" sz="2400" b="0" i="0" u="none" strike="noStrike" kern="1200" cap="none" spc="0" baseline="0">
                <a:solidFill>
                  <a:srgbClr val="000000"/>
                </a:solidFill>
                <a:uFillTx/>
                <a:latin typeface="Times New Roman" pitchFamily="18"/>
              </a:rPr>
              <a:t>n interconnection of electronic components designed to produce a desired result. A basic circuit consists of a source, a load, and an interconnecting path.</a:t>
            </a:r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AB4B7B47-E649-BB9A-7E54-A93A23EBFD75}"/>
              </a:ext>
            </a:extLst>
          </p:cNvPr>
          <p:cNvSpPr/>
          <p:nvPr/>
        </p:nvSpPr>
        <p:spPr>
          <a:xfrm>
            <a:off x="2743200" y="457200"/>
            <a:ext cx="4419596" cy="685800"/>
          </a:xfrm>
          <a:prstGeom prst="rect">
            <a:avLst/>
          </a:prstGeom>
          <a:solidFill>
            <a:srgbClr val="969696"/>
          </a:solidFill>
          <a:ln w="9528" cap="flat">
            <a:solidFill>
              <a:srgbClr val="000000"/>
            </a:solidFill>
            <a:prstDash val="solid"/>
            <a:miter/>
          </a:ln>
        </p:spPr>
        <p:txBody>
          <a:bodyPr vert="horz" wrap="non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3600" b="0" i="0" u="none" strike="noStrike" kern="1200" cap="none" spc="0" baseline="0">
                <a:solidFill>
                  <a:srgbClr val="0000FF"/>
                </a:solidFill>
                <a:uFillTx/>
                <a:latin typeface="Times New Roman" pitchFamily="18"/>
              </a:rPr>
              <a:t>Selected Key Terms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Effect">
                      <p:stCondLst>
                        <p:cond delay="indefinite"/>
                      </p:stCondLst>
                      <p:childTnLst>
                        <p:par>
                          <p:cTn id="4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Effect">
                      <p:stCondLst>
                        <p:cond delay="indefinite"/>
                      </p:stCondLst>
                      <p:childTnLst>
                        <p:par>
                          <p:cTn id="10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Effect">
                      <p:stCondLst>
                        <p:cond delay="indefinite"/>
                      </p:stCondLst>
                      <p:childTnLst>
                        <p:par>
                          <p:cTn id="16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Effect">
                      <p:stCondLst>
                        <p:cond delay="indefinite"/>
                      </p:stCondLst>
                      <p:childTnLst>
                        <p:par>
                          <p:cTn id="22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7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>
            <a:extLst>
              <a:ext uri="{FF2B5EF4-FFF2-40B4-BE49-F238E27FC236}">
                <a16:creationId xmlns:a16="http://schemas.microsoft.com/office/drawing/2014/main" id="{002C92CE-027C-2D90-1B6C-F6FD44D72791}"/>
              </a:ext>
            </a:extLst>
          </p:cNvPr>
          <p:cNvGraphicFramePr/>
          <p:nvPr/>
        </p:nvGraphicFramePr>
        <p:xfrm>
          <a:off x="609603" y="914400"/>
          <a:ext cx="8172450" cy="527684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10895238" imgH="7034920" progId="">
                  <p:embed/>
                </p:oleObj>
              </mc:Choice>
              <mc:Fallback>
                <p:oleObj r:id="rId2" imgW="10895238" imgH="7034920" progId="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609603" y="914400"/>
                        <a:ext cx="8172450" cy="5276846"/>
                      </a:xfrm>
                      <a:prstGeom prst="rect">
                        <a:avLst/>
                      </a:prstGeom>
                      <a:noFill/>
                      <a:ln cap="flat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ext Box 3">
            <a:extLst>
              <a:ext uri="{FF2B5EF4-FFF2-40B4-BE49-F238E27FC236}">
                <a16:creationId xmlns:a16="http://schemas.microsoft.com/office/drawing/2014/main" id="{E70D0A34-97F0-DAD3-BBA6-9C4ED22FE556}"/>
              </a:ext>
            </a:extLst>
          </p:cNvPr>
          <p:cNvSpPr txBox="1"/>
          <p:nvPr/>
        </p:nvSpPr>
        <p:spPr>
          <a:xfrm>
            <a:off x="1600200" y="1371600"/>
            <a:ext cx="6553203" cy="519114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17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800" b="0" i="0" u="none" strike="noStrike" kern="1200" cap="none" spc="0" baseline="0">
                <a:solidFill>
                  <a:srgbClr val="000000"/>
                </a:solidFill>
                <a:uFillTx/>
                <a:latin typeface="Times" pitchFamily="18"/>
                <a:cs typeface="Times New Roman" pitchFamily="18"/>
              </a:rPr>
              <a:t> </a:t>
            </a:r>
          </a:p>
        </p:txBody>
      </p:sp>
      <p:sp>
        <p:nvSpPr>
          <p:cNvPr id="4" name="Text Box 4">
            <a:extLst>
              <a:ext uri="{FF2B5EF4-FFF2-40B4-BE49-F238E27FC236}">
                <a16:creationId xmlns:a16="http://schemas.microsoft.com/office/drawing/2014/main" id="{E5BEF588-F519-3F55-6B51-0C880A290C48}"/>
              </a:ext>
            </a:extLst>
          </p:cNvPr>
          <p:cNvSpPr txBox="1"/>
          <p:nvPr/>
        </p:nvSpPr>
        <p:spPr>
          <a:xfrm>
            <a:off x="228600" y="1295403"/>
            <a:ext cx="2209803" cy="5568952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400" b="1" i="1" u="none" strike="noStrike" kern="1200" cap="none" spc="0" baseline="0">
                <a:solidFill>
                  <a:srgbClr val="CC3300"/>
                </a:solidFill>
                <a:uFillTx/>
                <a:latin typeface="Times" pitchFamily="18"/>
                <a:cs typeface="Times New Roman" pitchFamily="18"/>
              </a:rPr>
              <a:t>Conductance</a:t>
            </a:r>
          </a:p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2400" b="1" i="1" u="none" strike="noStrike" kern="1200" cap="none" spc="0" baseline="0">
              <a:solidFill>
                <a:srgbClr val="CC3300"/>
              </a:solidFill>
              <a:uFillTx/>
              <a:latin typeface="Times" pitchFamily="18"/>
              <a:cs typeface="Times New Roman" pitchFamily="18"/>
            </a:endParaRPr>
          </a:p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2400" b="1" i="1" u="none" strike="noStrike" kern="1200" cap="none" spc="0" baseline="0">
              <a:solidFill>
                <a:srgbClr val="CC3300"/>
              </a:solidFill>
              <a:uFillTx/>
              <a:latin typeface="Times" pitchFamily="18"/>
              <a:cs typeface="Times New Roman" pitchFamily="18"/>
            </a:endParaRPr>
          </a:p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400" b="1" i="1" u="none" strike="noStrike" kern="1200" cap="none" spc="0" baseline="0">
                <a:solidFill>
                  <a:srgbClr val="CC3300"/>
                </a:solidFill>
                <a:uFillTx/>
                <a:latin typeface="Times" pitchFamily="18"/>
                <a:cs typeface="Times New Roman" pitchFamily="18"/>
              </a:rPr>
              <a:t>Coulomb</a:t>
            </a:r>
          </a:p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400" b="1" i="1" u="none" strike="noStrike" kern="1200" cap="none" spc="0" baseline="0">
                <a:solidFill>
                  <a:srgbClr val="CC3300"/>
                </a:solidFill>
                <a:uFillTx/>
                <a:latin typeface="Wingdings" pitchFamily="2"/>
                <a:cs typeface="Times New Roman" pitchFamily="18"/>
              </a:rPr>
              <a:t> </a:t>
            </a:r>
          </a:p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400" b="1" i="1" u="none" strike="noStrike" kern="1200" cap="none" spc="0" baseline="0">
                <a:solidFill>
                  <a:srgbClr val="CC3300"/>
                </a:solidFill>
                <a:uFillTx/>
                <a:latin typeface="Times" pitchFamily="18"/>
                <a:cs typeface="Times New Roman" pitchFamily="18"/>
              </a:rPr>
              <a:t>Current</a:t>
            </a:r>
          </a:p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2400" b="1" i="1" u="none" strike="noStrike" kern="1200" cap="none" spc="0" baseline="0">
              <a:solidFill>
                <a:srgbClr val="CC3300"/>
              </a:solidFill>
              <a:uFillTx/>
              <a:latin typeface="Times" pitchFamily="18"/>
              <a:cs typeface="Times New Roman" pitchFamily="18"/>
            </a:endParaRPr>
          </a:p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400" b="1" i="1" u="none" strike="noStrike" kern="1200" cap="none" spc="0" baseline="0">
                <a:solidFill>
                  <a:srgbClr val="CC3300"/>
                </a:solidFill>
                <a:uFillTx/>
                <a:latin typeface="Times" pitchFamily="18"/>
                <a:cs typeface="Times New Roman" pitchFamily="18"/>
              </a:rPr>
              <a:t>Electron</a:t>
            </a:r>
          </a:p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2400" b="1" i="1" u="none" strike="noStrike" kern="1200" cap="none" spc="0" baseline="0">
              <a:solidFill>
                <a:srgbClr val="CC3300"/>
              </a:solidFill>
              <a:uFillTx/>
              <a:latin typeface="Times" pitchFamily="18"/>
              <a:cs typeface="Times New Roman" pitchFamily="18"/>
            </a:endParaRPr>
          </a:p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2400" b="1" i="1" u="none" strike="noStrike" kern="1200" cap="none" spc="0" baseline="0">
              <a:solidFill>
                <a:srgbClr val="CC3300"/>
              </a:solidFill>
              <a:uFillTx/>
              <a:latin typeface="Times" pitchFamily="18"/>
              <a:cs typeface="Times New Roman" pitchFamily="18"/>
            </a:endParaRPr>
          </a:p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400" b="1" i="1" u="none" strike="noStrike" kern="1200" cap="none" spc="0" baseline="0">
                <a:solidFill>
                  <a:srgbClr val="CC3300"/>
                </a:solidFill>
                <a:uFillTx/>
                <a:latin typeface="Times" pitchFamily="18"/>
                <a:cs typeface="Times New Roman" pitchFamily="18"/>
              </a:rPr>
              <a:t>Ground</a:t>
            </a:r>
          </a:p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2400" b="1" i="1" u="none" strike="noStrike" kern="1200" cap="none" spc="0" baseline="0">
              <a:solidFill>
                <a:srgbClr val="CC3300"/>
              </a:solidFill>
              <a:uFillTx/>
              <a:latin typeface="Times New Roman" pitchFamily="18"/>
            </a:endParaRPr>
          </a:p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400" b="1" i="1" u="none" strike="noStrike" kern="1200" cap="none" spc="0" baseline="0">
                <a:solidFill>
                  <a:srgbClr val="CC3300"/>
                </a:solidFill>
                <a:uFillTx/>
                <a:latin typeface="Times New Roman" pitchFamily="18"/>
              </a:rPr>
              <a:t>Ohm (</a:t>
            </a:r>
            <a:r>
              <a:rPr lang="en-US" sz="2400" b="1" i="0" u="none" strike="noStrike" kern="1200" cap="none" spc="0" baseline="0">
                <a:solidFill>
                  <a:srgbClr val="CC3300"/>
                </a:solidFill>
                <a:uFillTx/>
                <a:latin typeface="Symbol" pitchFamily="18"/>
              </a:rPr>
              <a:t>W</a:t>
            </a:r>
            <a:r>
              <a:rPr lang="en-US" sz="2400" b="1" i="1" u="none" strike="noStrike" kern="1200" cap="none" spc="0" baseline="0">
                <a:solidFill>
                  <a:srgbClr val="CC3300"/>
                </a:solidFill>
                <a:uFillTx/>
                <a:latin typeface="Times New Roman" pitchFamily="18"/>
              </a:rPr>
              <a:t>)</a:t>
            </a:r>
            <a:endParaRPr lang="en-US" sz="2400" b="1" i="1" u="none" strike="noStrike" kern="1200" cap="none" spc="0" baseline="0">
              <a:solidFill>
                <a:srgbClr val="CC3300"/>
              </a:solidFill>
              <a:uFillTx/>
              <a:latin typeface="Times" pitchFamily="18"/>
              <a:cs typeface="Times New Roman" pitchFamily="18"/>
            </a:endParaRPr>
          </a:p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2400" b="1" i="1" u="none" strike="noStrike" kern="1200" cap="none" spc="0" baseline="0">
              <a:solidFill>
                <a:srgbClr val="CC3300"/>
              </a:solidFill>
              <a:uFillTx/>
              <a:latin typeface="Times" pitchFamily="18"/>
              <a:cs typeface="Times New Roman" pitchFamily="18"/>
            </a:endParaRPr>
          </a:p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2400" b="1" i="1" u="none" strike="noStrike" kern="1200" cap="none" spc="0" baseline="0">
              <a:solidFill>
                <a:srgbClr val="CC3300"/>
              </a:solidFill>
              <a:uFillTx/>
              <a:latin typeface="Times" pitchFamily="18"/>
              <a:cs typeface="Times New Roman" pitchFamily="18"/>
            </a:endParaRPr>
          </a:p>
        </p:txBody>
      </p:sp>
      <p:sp>
        <p:nvSpPr>
          <p:cNvPr id="5" name="Text Box 5">
            <a:extLst>
              <a:ext uri="{FF2B5EF4-FFF2-40B4-BE49-F238E27FC236}">
                <a16:creationId xmlns:a16="http://schemas.microsoft.com/office/drawing/2014/main" id="{67DFD8ED-DE82-155A-1CED-DA68FB715612}"/>
              </a:ext>
            </a:extLst>
          </p:cNvPr>
          <p:cNvSpPr txBox="1"/>
          <p:nvPr/>
        </p:nvSpPr>
        <p:spPr>
          <a:xfrm>
            <a:off x="2438403" y="1295403"/>
            <a:ext cx="6324603" cy="822329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400" b="0" i="0" u="none" strike="noStrike" kern="1200" cap="none" spc="0" baseline="0">
                <a:solidFill>
                  <a:srgbClr val="000000"/>
                </a:solidFill>
                <a:uFillTx/>
                <a:latin typeface="Times" pitchFamily="18"/>
                <a:cs typeface="Times New Roman" pitchFamily="18"/>
              </a:rPr>
              <a:t>The ability of a circuit to allow current. The unit is the siemans (S).</a:t>
            </a:r>
          </a:p>
        </p:txBody>
      </p:sp>
      <p:sp>
        <p:nvSpPr>
          <p:cNvPr id="6" name="Text Box 6">
            <a:extLst>
              <a:ext uri="{FF2B5EF4-FFF2-40B4-BE49-F238E27FC236}">
                <a16:creationId xmlns:a16="http://schemas.microsoft.com/office/drawing/2014/main" id="{9D2D777B-7512-06B3-F229-D2CA09EF5362}"/>
              </a:ext>
            </a:extLst>
          </p:cNvPr>
          <p:cNvSpPr txBox="1"/>
          <p:nvPr/>
        </p:nvSpPr>
        <p:spPr>
          <a:xfrm>
            <a:off x="2438403" y="2362196"/>
            <a:ext cx="6400800" cy="45720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400" b="0" i="0" u="none" strike="noStrike" kern="1200" cap="none" spc="0" baseline="0">
                <a:solidFill>
                  <a:srgbClr val="000000"/>
                </a:solidFill>
                <a:uFillTx/>
                <a:latin typeface="Times" pitchFamily="18"/>
                <a:cs typeface="Times New Roman" pitchFamily="18"/>
              </a:rPr>
              <a:t>The unit of electrical charge.</a:t>
            </a:r>
          </a:p>
        </p:txBody>
      </p:sp>
      <p:sp>
        <p:nvSpPr>
          <p:cNvPr id="7" name="Text Box 7">
            <a:extLst>
              <a:ext uri="{FF2B5EF4-FFF2-40B4-BE49-F238E27FC236}">
                <a16:creationId xmlns:a16="http://schemas.microsoft.com/office/drawing/2014/main" id="{6016CC68-ADA3-6E76-B285-37144D3E6F22}"/>
              </a:ext>
            </a:extLst>
          </p:cNvPr>
          <p:cNvSpPr txBox="1"/>
          <p:nvPr/>
        </p:nvSpPr>
        <p:spPr>
          <a:xfrm>
            <a:off x="2438403" y="3079754"/>
            <a:ext cx="5943600" cy="45720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400" b="0" i="0" u="none" strike="noStrike" kern="1200" cap="none" spc="0" baseline="0">
                <a:solidFill>
                  <a:srgbClr val="000000"/>
                </a:solidFill>
                <a:uFillTx/>
                <a:latin typeface="Times New Roman" pitchFamily="18"/>
              </a:rPr>
              <a:t>The rate of flow of electrical charge.</a:t>
            </a:r>
          </a:p>
        </p:txBody>
      </p:sp>
      <p:sp>
        <p:nvSpPr>
          <p:cNvPr id="8" name="Text Box 8">
            <a:extLst>
              <a:ext uri="{FF2B5EF4-FFF2-40B4-BE49-F238E27FC236}">
                <a16:creationId xmlns:a16="http://schemas.microsoft.com/office/drawing/2014/main" id="{9C384299-A07B-2E91-D0BE-99C440E94DF3}"/>
              </a:ext>
            </a:extLst>
          </p:cNvPr>
          <p:cNvSpPr txBox="1"/>
          <p:nvPr/>
        </p:nvSpPr>
        <p:spPr>
          <a:xfrm>
            <a:off x="2438403" y="3886200"/>
            <a:ext cx="6096003" cy="822329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400" b="0" i="0" u="none" strike="noStrike" kern="1200" cap="none" spc="0" baseline="0">
                <a:solidFill>
                  <a:srgbClr val="000000"/>
                </a:solidFill>
                <a:uFillTx/>
                <a:latin typeface="Times" pitchFamily="18"/>
                <a:cs typeface="Times New Roman" pitchFamily="18"/>
              </a:rPr>
              <a:t>A basic particle of electrical charge in matter. The electron possesses a negative charge.</a:t>
            </a:r>
            <a:endParaRPr lang="en-US" sz="240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</a:endParaRPr>
          </a:p>
        </p:txBody>
      </p:sp>
      <p:sp>
        <p:nvSpPr>
          <p:cNvPr id="9" name="Rectangle 9">
            <a:extLst>
              <a:ext uri="{FF2B5EF4-FFF2-40B4-BE49-F238E27FC236}">
                <a16:creationId xmlns:a16="http://schemas.microsoft.com/office/drawing/2014/main" id="{EAFCE0F0-C420-CA41-2F84-0F48E8AD76A7}"/>
              </a:ext>
            </a:extLst>
          </p:cNvPr>
          <p:cNvSpPr/>
          <p:nvPr/>
        </p:nvSpPr>
        <p:spPr>
          <a:xfrm>
            <a:off x="2743200" y="457200"/>
            <a:ext cx="4419596" cy="685800"/>
          </a:xfrm>
          <a:prstGeom prst="rect">
            <a:avLst/>
          </a:prstGeom>
          <a:solidFill>
            <a:srgbClr val="969696"/>
          </a:solidFill>
          <a:ln w="9528" cap="flat">
            <a:solidFill>
              <a:srgbClr val="000000"/>
            </a:solidFill>
            <a:prstDash val="solid"/>
            <a:miter/>
          </a:ln>
        </p:spPr>
        <p:txBody>
          <a:bodyPr vert="horz" wrap="non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3600" b="0" i="0" u="none" strike="noStrike" kern="1200" cap="none" spc="0" baseline="0">
                <a:solidFill>
                  <a:srgbClr val="0000FF"/>
                </a:solidFill>
                <a:uFillTx/>
                <a:latin typeface="Times New Roman" pitchFamily="18"/>
              </a:rPr>
              <a:t>Selected Key Terms</a:t>
            </a:r>
          </a:p>
        </p:txBody>
      </p:sp>
      <p:sp>
        <p:nvSpPr>
          <p:cNvPr id="10" name="Text Box 10">
            <a:extLst>
              <a:ext uri="{FF2B5EF4-FFF2-40B4-BE49-F238E27FC236}">
                <a16:creationId xmlns:a16="http://schemas.microsoft.com/office/drawing/2014/main" id="{FEB44232-79E8-1F0F-B0AA-8EB427766AC2}"/>
              </a:ext>
            </a:extLst>
          </p:cNvPr>
          <p:cNvSpPr txBox="1"/>
          <p:nvPr/>
        </p:nvSpPr>
        <p:spPr>
          <a:xfrm>
            <a:off x="2438403" y="4953003"/>
            <a:ext cx="6096003" cy="45720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400" b="0" i="0" u="none" strike="noStrike" kern="1200" cap="none" spc="0" baseline="0">
                <a:solidFill>
                  <a:srgbClr val="000000"/>
                </a:solidFill>
                <a:uFillTx/>
                <a:latin typeface="Times" pitchFamily="18"/>
                <a:cs typeface="Times New Roman" pitchFamily="18"/>
              </a:rPr>
              <a:t>The common or reference point in a circuit.</a:t>
            </a:r>
            <a:endParaRPr lang="en-US" sz="240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</a:endParaRPr>
          </a:p>
        </p:txBody>
      </p:sp>
      <p:sp>
        <p:nvSpPr>
          <p:cNvPr id="11" name="Text Box 11">
            <a:extLst>
              <a:ext uri="{FF2B5EF4-FFF2-40B4-BE49-F238E27FC236}">
                <a16:creationId xmlns:a16="http://schemas.microsoft.com/office/drawing/2014/main" id="{D295BF0C-045D-DB02-9784-69A72156D00E}"/>
              </a:ext>
            </a:extLst>
          </p:cNvPr>
          <p:cNvSpPr txBox="1"/>
          <p:nvPr/>
        </p:nvSpPr>
        <p:spPr>
          <a:xfrm>
            <a:off x="2514600" y="5638803"/>
            <a:ext cx="6096003" cy="45720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400" b="0" i="0" u="none" strike="noStrike" kern="1200" cap="none" spc="0" baseline="0">
                <a:solidFill>
                  <a:srgbClr val="000000"/>
                </a:solidFill>
                <a:uFillTx/>
                <a:latin typeface="Times" pitchFamily="18"/>
                <a:cs typeface="Times New Roman" pitchFamily="18"/>
              </a:rPr>
              <a:t>The </a:t>
            </a:r>
            <a:r>
              <a:rPr lang="en-US" sz="2400" b="0" i="0" u="none" strike="noStrike" kern="1200" cap="none" spc="0" baseline="0">
                <a:solidFill>
                  <a:srgbClr val="000000"/>
                </a:solidFill>
                <a:uFillTx/>
                <a:latin typeface="Times New Roman" pitchFamily="18"/>
              </a:rPr>
              <a:t>unit of resistance.</a:t>
            </a:r>
            <a:endParaRPr lang="en-US" sz="2400" b="0" i="0" u="none" strike="noStrike" kern="1200" cap="none" spc="0" baseline="0">
              <a:solidFill>
                <a:srgbClr val="000000"/>
              </a:solidFill>
              <a:uFillTx/>
              <a:latin typeface="Times" pitchFamily="18"/>
              <a:cs typeface="Times New Roman" pitchFamily="18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Effect">
                      <p:stCondLst>
                        <p:cond delay="indefinite"/>
                      </p:stCondLst>
                      <p:childTnLst>
                        <p:par>
                          <p:cTn id="4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Effect">
                      <p:stCondLst>
                        <p:cond delay="indefinite"/>
                      </p:stCondLst>
                      <p:childTnLst>
                        <p:par>
                          <p:cTn id="10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Effect">
                      <p:stCondLst>
                        <p:cond delay="indefinite"/>
                      </p:stCondLst>
                      <p:childTnLst>
                        <p:par>
                          <p:cTn id="16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Effect">
                      <p:stCondLst>
                        <p:cond delay="indefinite"/>
                      </p:stCondLst>
                      <p:childTnLst>
                        <p:par>
                          <p:cTn id="22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Effect">
                      <p:stCondLst>
                        <p:cond delay="indefinite"/>
                      </p:stCondLst>
                      <p:childTnLst>
                        <p:par>
                          <p:cTn id="28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Effect">
                      <p:stCondLst>
                        <p:cond delay="indefinite"/>
                      </p:stCondLst>
                      <p:childTnLst>
                        <p:par>
                          <p:cTn id="34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/>
      <p:bldP spid="10" grpId="0"/>
      <p:bldP spid="11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7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>
            <a:extLst>
              <a:ext uri="{FF2B5EF4-FFF2-40B4-BE49-F238E27FC236}">
                <a16:creationId xmlns:a16="http://schemas.microsoft.com/office/drawing/2014/main" id="{AEEAD331-1ED8-ADB3-BEFB-827871B9908B}"/>
              </a:ext>
            </a:extLst>
          </p:cNvPr>
          <p:cNvGraphicFramePr/>
          <p:nvPr/>
        </p:nvGraphicFramePr>
        <p:xfrm>
          <a:off x="609603" y="990596"/>
          <a:ext cx="8172450" cy="527684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10895238" imgH="7034920" progId="">
                  <p:embed/>
                </p:oleObj>
              </mc:Choice>
              <mc:Fallback>
                <p:oleObj r:id="rId2" imgW="10895238" imgH="7034920" progId="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609603" y="990596"/>
                        <a:ext cx="8172450" cy="5276846"/>
                      </a:xfrm>
                      <a:prstGeom prst="rect">
                        <a:avLst/>
                      </a:prstGeom>
                      <a:noFill/>
                      <a:ln cap="flat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ext Box 3">
            <a:extLst>
              <a:ext uri="{FF2B5EF4-FFF2-40B4-BE49-F238E27FC236}">
                <a16:creationId xmlns:a16="http://schemas.microsoft.com/office/drawing/2014/main" id="{3E182CEB-A713-0FBA-18EB-6DE9B46425B5}"/>
              </a:ext>
            </a:extLst>
          </p:cNvPr>
          <p:cNvSpPr txBox="1"/>
          <p:nvPr/>
        </p:nvSpPr>
        <p:spPr>
          <a:xfrm>
            <a:off x="1676396" y="1447796"/>
            <a:ext cx="6553203" cy="519114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17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800" b="0" i="0" u="none" strike="noStrike" kern="1200" cap="none" spc="0" baseline="0">
                <a:solidFill>
                  <a:srgbClr val="000000"/>
                </a:solidFill>
                <a:uFillTx/>
                <a:latin typeface="Times" pitchFamily="18"/>
                <a:cs typeface="Times New Roman" pitchFamily="18"/>
              </a:rPr>
              <a:t> </a:t>
            </a:r>
          </a:p>
        </p:txBody>
      </p:sp>
      <p:sp>
        <p:nvSpPr>
          <p:cNvPr id="4" name="Text Box 4">
            <a:extLst>
              <a:ext uri="{FF2B5EF4-FFF2-40B4-BE49-F238E27FC236}">
                <a16:creationId xmlns:a16="http://schemas.microsoft.com/office/drawing/2014/main" id="{BEF2B4B7-CB1F-0F3B-0127-38D153FE0320}"/>
              </a:ext>
            </a:extLst>
          </p:cNvPr>
          <p:cNvSpPr txBox="1"/>
          <p:nvPr/>
        </p:nvSpPr>
        <p:spPr>
          <a:xfrm>
            <a:off x="304796" y="1371600"/>
            <a:ext cx="2209803" cy="4108454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400" b="1" i="1" u="none" strike="noStrike" kern="1200" cap="none" spc="0" baseline="0">
                <a:solidFill>
                  <a:srgbClr val="CC3300"/>
                </a:solidFill>
                <a:uFillTx/>
                <a:latin typeface="Times" pitchFamily="18"/>
                <a:cs typeface="Times New Roman" pitchFamily="18"/>
              </a:rPr>
              <a:t>Potentiometer</a:t>
            </a:r>
          </a:p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400" b="1" i="1" u="none" strike="noStrike" kern="1200" cap="none" spc="0" baseline="0">
                <a:solidFill>
                  <a:srgbClr val="CC3300"/>
                </a:solidFill>
                <a:uFillTx/>
                <a:latin typeface="Wingdings" pitchFamily="2"/>
                <a:cs typeface="Times New Roman" pitchFamily="18"/>
              </a:rPr>
              <a:t> </a:t>
            </a:r>
          </a:p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400" b="1" i="1" u="none" strike="noStrike" kern="1200" cap="none" spc="0" baseline="0">
                <a:solidFill>
                  <a:srgbClr val="CC3300"/>
                </a:solidFill>
                <a:uFillTx/>
                <a:latin typeface="Times" pitchFamily="18"/>
                <a:cs typeface="Times New Roman" pitchFamily="18"/>
              </a:rPr>
              <a:t>Resistance</a:t>
            </a:r>
          </a:p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2400" b="1" i="1" u="none" strike="noStrike" kern="1200" cap="none" spc="0" baseline="0">
              <a:solidFill>
                <a:srgbClr val="CC3300"/>
              </a:solidFill>
              <a:uFillTx/>
              <a:latin typeface="Times" pitchFamily="18"/>
              <a:cs typeface="Times New Roman" pitchFamily="18"/>
            </a:endParaRPr>
          </a:p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400" b="1" i="1" u="none" strike="noStrike" kern="1200" cap="none" spc="0" baseline="0">
                <a:solidFill>
                  <a:srgbClr val="CC3300"/>
                </a:solidFill>
                <a:uFillTx/>
                <a:latin typeface="Times" pitchFamily="18"/>
                <a:cs typeface="Times New Roman" pitchFamily="18"/>
              </a:rPr>
              <a:t>Rheostat</a:t>
            </a:r>
          </a:p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2400" b="1" i="1" u="none" strike="noStrike" kern="1200" cap="none" spc="0" baseline="0">
              <a:solidFill>
                <a:srgbClr val="CC3300"/>
              </a:solidFill>
              <a:uFillTx/>
              <a:latin typeface="Times" pitchFamily="18"/>
              <a:cs typeface="Times New Roman" pitchFamily="18"/>
            </a:endParaRPr>
          </a:p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400" b="1" i="1" u="none" strike="noStrike" kern="1200" cap="none" spc="0" baseline="0">
                <a:solidFill>
                  <a:srgbClr val="CC3300"/>
                </a:solidFill>
                <a:uFillTx/>
                <a:latin typeface="Times" pitchFamily="18"/>
                <a:cs typeface="Times New Roman" pitchFamily="18"/>
              </a:rPr>
              <a:t>Siemens</a:t>
            </a:r>
          </a:p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2400" b="1" i="1" u="none" strike="noStrike" kern="1200" cap="none" spc="0" baseline="0">
              <a:solidFill>
                <a:srgbClr val="CC3300"/>
              </a:solidFill>
              <a:uFillTx/>
              <a:latin typeface="Times" pitchFamily="18"/>
              <a:cs typeface="Times New Roman" pitchFamily="18"/>
            </a:endParaRPr>
          </a:p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400" b="1" i="1" u="none" strike="noStrike" kern="1200" cap="none" spc="0" baseline="0">
                <a:solidFill>
                  <a:srgbClr val="CC3300"/>
                </a:solidFill>
                <a:uFillTx/>
                <a:latin typeface="Times" pitchFamily="18"/>
                <a:cs typeface="Times New Roman" pitchFamily="18"/>
              </a:rPr>
              <a:t>Volt</a:t>
            </a:r>
          </a:p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2400" b="1" i="1" u="none" strike="noStrike" kern="1200" cap="none" spc="0" baseline="0">
              <a:solidFill>
                <a:srgbClr val="CC3300"/>
              </a:solidFill>
              <a:uFillTx/>
              <a:latin typeface="Times" pitchFamily="18"/>
              <a:cs typeface="Times New Roman" pitchFamily="18"/>
            </a:endParaRPr>
          </a:p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400" b="1" i="1" u="none" strike="noStrike" kern="1200" cap="none" spc="0" baseline="0">
                <a:solidFill>
                  <a:srgbClr val="CC3300"/>
                </a:solidFill>
                <a:uFillTx/>
                <a:latin typeface="Times" pitchFamily="18"/>
                <a:cs typeface="Times New Roman" pitchFamily="18"/>
              </a:rPr>
              <a:t>Voltage</a:t>
            </a:r>
          </a:p>
        </p:txBody>
      </p:sp>
      <p:sp>
        <p:nvSpPr>
          <p:cNvPr id="5" name="Text Box 6">
            <a:extLst>
              <a:ext uri="{FF2B5EF4-FFF2-40B4-BE49-F238E27FC236}">
                <a16:creationId xmlns:a16="http://schemas.microsoft.com/office/drawing/2014/main" id="{D8977D6B-5AC5-A6D0-EA76-260B0FAF5E16}"/>
              </a:ext>
            </a:extLst>
          </p:cNvPr>
          <p:cNvSpPr txBox="1"/>
          <p:nvPr/>
        </p:nvSpPr>
        <p:spPr>
          <a:xfrm>
            <a:off x="2514600" y="1371600"/>
            <a:ext cx="6400800" cy="45720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400" b="0" i="0" u="none" strike="noStrike" kern="1200" cap="none" spc="0" baseline="0">
                <a:solidFill>
                  <a:srgbClr val="000000"/>
                </a:solidFill>
                <a:uFillTx/>
                <a:latin typeface="Times" pitchFamily="18"/>
                <a:cs typeface="Times New Roman" pitchFamily="18"/>
              </a:rPr>
              <a:t>A three-terminal variable resistor.</a:t>
            </a:r>
          </a:p>
        </p:txBody>
      </p:sp>
      <p:sp>
        <p:nvSpPr>
          <p:cNvPr id="6" name="Text Box 7">
            <a:extLst>
              <a:ext uri="{FF2B5EF4-FFF2-40B4-BE49-F238E27FC236}">
                <a16:creationId xmlns:a16="http://schemas.microsoft.com/office/drawing/2014/main" id="{C78554FF-2243-9563-E32B-C40050FA9527}"/>
              </a:ext>
            </a:extLst>
          </p:cNvPr>
          <p:cNvSpPr txBox="1"/>
          <p:nvPr/>
        </p:nvSpPr>
        <p:spPr>
          <a:xfrm>
            <a:off x="2514600" y="2057400"/>
            <a:ext cx="6324603" cy="45720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400" b="0" i="0" u="none" strike="noStrike" kern="1200" cap="none" spc="0" baseline="0">
                <a:solidFill>
                  <a:srgbClr val="000000"/>
                </a:solidFill>
                <a:uFillTx/>
                <a:latin typeface="Times New Roman" pitchFamily="18"/>
              </a:rPr>
              <a:t>The opposition to current. the unit is the ohm (</a:t>
            </a:r>
            <a:r>
              <a:rPr lang="en-US" sz="2400" b="0" i="0" u="none" strike="noStrike" kern="1200" cap="none" spc="0" baseline="0">
                <a:solidFill>
                  <a:srgbClr val="000000"/>
                </a:solidFill>
                <a:uFillTx/>
                <a:latin typeface="Symbol" pitchFamily="18"/>
              </a:rPr>
              <a:t>W</a:t>
            </a:r>
            <a:r>
              <a:rPr lang="en-US" sz="2400" b="0" i="0" u="none" strike="noStrike" kern="1200" cap="none" spc="0" baseline="0">
                <a:solidFill>
                  <a:srgbClr val="000000"/>
                </a:solidFill>
                <a:uFillTx/>
                <a:latin typeface="Times New Roman" pitchFamily="18"/>
              </a:rPr>
              <a:t>).</a:t>
            </a:r>
          </a:p>
        </p:txBody>
      </p:sp>
      <p:sp>
        <p:nvSpPr>
          <p:cNvPr id="7" name="Text Box 8">
            <a:extLst>
              <a:ext uri="{FF2B5EF4-FFF2-40B4-BE49-F238E27FC236}">
                <a16:creationId xmlns:a16="http://schemas.microsoft.com/office/drawing/2014/main" id="{C4C69F5F-3455-EC2C-5908-96642A95E817}"/>
              </a:ext>
            </a:extLst>
          </p:cNvPr>
          <p:cNvSpPr txBox="1"/>
          <p:nvPr/>
        </p:nvSpPr>
        <p:spPr>
          <a:xfrm>
            <a:off x="2514600" y="2819396"/>
            <a:ext cx="6096003" cy="45720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400" b="0" i="0" u="none" strike="noStrike" kern="1200" cap="none" spc="0" baseline="0">
                <a:solidFill>
                  <a:srgbClr val="000000"/>
                </a:solidFill>
                <a:uFillTx/>
                <a:latin typeface="Times" pitchFamily="18"/>
                <a:cs typeface="Times New Roman" pitchFamily="18"/>
              </a:rPr>
              <a:t>A two-terminal variable resistor.</a:t>
            </a:r>
            <a:endParaRPr lang="en-US" sz="240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</a:endParaRPr>
          </a:p>
        </p:txBody>
      </p:sp>
      <p:sp>
        <p:nvSpPr>
          <p:cNvPr id="8" name="Rectangle 9">
            <a:extLst>
              <a:ext uri="{FF2B5EF4-FFF2-40B4-BE49-F238E27FC236}">
                <a16:creationId xmlns:a16="http://schemas.microsoft.com/office/drawing/2014/main" id="{E9B25E19-4F22-6949-612E-8CE53FB3EB11}"/>
              </a:ext>
            </a:extLst>
          </p:cNvPr>
          <p:cNvSpPr/>
          <p:nvPr/>
        </p:nvSpPr>
        <p:spPr>
          <a:xfrm>
            <a:off x="2743200" y="457200"/>
            <a:ext cx="4419596" cy="685800"/>
          </a:xfrm>
          <a:prstGeom prst="rect">
            <a:avLst/>
          </a:prstGeom>
          <a:solidFill>
            <a:srgbClr val="969696"/>
          </a:solidFill>
          <a:ln w="9528" cap="flat">
            <a:solidFill>
              <a:srgbClr val="000000"/>
            </a:solidFill>
            <a:prstDash val="solid"/>
            <a:miter/>
          </a:ln>
        </p:spPr>
        <p:txBody>
          <a:bodyPr vert="horz" wrap="non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3600" b="0" i="0" u="none" strike="noStrike" kern="1200" cap="none" spc="0" baseline="0">
                <a:solidFill>
                  <a:srgbClr val="0000FF"/>
                </a:solidFill>
                <a:uFillTx/>
                <a:latin typeface="Times New Roman" pitchFamily="18"/>
              </a:rPr>
              <a:t>Selected Key Terms</a:t>
            </a:r>
          </a:p>
        </p:txBody>
      </p:sp>
      <p:sp>
        <p:nvSpPr>
          <p:cNvPr id="9" name="Text Box 10">
            <a:extLst>
              <a:ext uri="{FF2B5EF4-FFF2-40B4-BE49-F238E27FC236}">
                <a16:creationId xmlns:a16="http://schemas.microsoft.com/office/drawing/2014/main" id="{6EDE2C95-4247-E78D-9CBB-E95754818879}"/>
              </a:ext>
            </a:extLst>
          </p:cNvPr>
          <p:cNvSpPr txBox="1"/>
          <p:nvPr/>
        </p:nvSpPr>
        <p:spPr>
          <a:xfrm>
            <a:off x="2514600" y="3505196"/>
            <a:ext cx="6096003" cy="45720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400" b="0" i="0" u="none" strike="noStrike" kern="1200" cap="none" spc="0" baseline="0">
                <a:solidFill>
                  <a:srgbClr val="000000"/>
                </a:solidFill>
                <a:uFillTx/>
                <a:latin typeface="Times" pitchFamily="18"/>
                <a:cs typeface="Times New Roman" pitchFamily="18"/>
              </a:rPr>
              <a:t>The unit of conductance</a:t>
            </a:r>
            <a:endParaRPr lang="en-US" sz="240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</a:endParaRPr>
          </a:p>
        </p:txBody>
      </p:sp>
      <p:sp>
        <p:nvSpPr>
          <p:cNvPr id="10" name="Text Box 11">
            <a:extLst>
              <a:ext uri="{FF2B5EF4-FFF2-40B4-BE49-F238E27FC236}">
                <a16:creationId xmlns:a16="http://schemas.microsoft.com/office/drawing/2014/main" id="{8A4F6A0C-5740-59FA-2D92-7AFEA5E63D3B}"/>
              </a:ext>
            </a:extLst>
          </p:cNvPr>
          <p:cNvSpPr txBox="1"/>
          <p:nvPr/>
        </p:nvSpPr>
        <p:spPr>
          <a:xfrm>
            <a:off x="2590796" y="4267203"/>
            <a:ext cx="6096003" cy="45720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400" b="0" i="0" u="none" strike="noStrike" kern="1200" cap="none" spc="0" baseline="0">
                <a:solidFill>
                  <a:srgbClr val="000000"/>
                </a:solidFill>
                <a:uFillTx/>
                <a:latin typeface="Times" pitchFamily="18"/>
                <a:cs typeface="Times New Roman" pitchFamily="18"/>
              </a:rPr>
              <a:t>The unit of voltage or electromotive force.</a:t>
            </a:r>
            <a:endParaRPr lang="en-US" sz="240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</a:endParaRPr>
          </a:p>
        </p:txBody>
      </p:sp>
      <p:sp>
        <p:nvSpPr>
          <p:cNvPr id="11" name="Text Box 12">
            <a:extLst>
              <a:ext uri="{FF2B5EF4-FFF2-40B4-BE49-F238E27FC236}">
                <a16:creationId xmlns:a16="http://schemas.microsoft.com/office/drawing/2014/main" id="{86D205B5-25CD-C988-ACC5-87BEF64C688D}"/>
              </a:ext>
            </a:extLst>
          </p:cNvPr>
          <p:cNvSpPr txBox="1"/>
          <p:nvPr/>
        </p:nvSpPr>
        <p:spPr>
          <a:xfrm>
            <a:off x="2590796" y="5029200"/>
            <a:ext cx="6096003" cy="118744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400" b="0" i="0" u="none" strike="noStrike" kern="1200" cap="none" spc="0" baseline="0">
                <a:solidFill>
                  <a:srgbClr val="000000"/>
                </a:solidFill>
                <a:uFillTx/>
                <a:latin typeface="Times" pitchFamily="18"/>
                <a:cs typeface="Times New Roman" pitchFamily="18"/>
              </a:rPr>
              <a:t>The amount of energy per charge available to move electrons from one point to another in an electric circuit.</a:t>
            </a:r>
            <a:endParaRPr lang="en-US" sz="240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Effect">
                      <p:stCondLst>
                        <p:cond delay="indefinite"/>
                      </p:stCondLst>
                      <p:childTnLst>
                        <p:par>
                          <p:cTn id="4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Effect">
                      <p:stCondLst>
                        <p:cond delay="indefinite"/>
                      </p:stCondLst>
                      <p:childTnLst>
                        <p:par>
                          <p:cTn id="10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Effect">
                      <p:stCondLst>
                        <p:cond delay="indefinite"/>
                      </p:stCondLst>
                      <p:childTnLst>
                        <p:par>
                          <p:cTn id="16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Effect">
                      <p:stCondLst>
                        <p:cond delay="indefinite"/>
                      </p:stCondLst>
                      <p:childTnLst>
                        <p:par>
                          <p:cTn id="22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Effect">
                      <p:stCondLst>
                        <p:cond delay="indefinite"/>
                      </p:stCondLst>
                      <p:childTnLst>
                        <p:par>
                          <p:cTn id="28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Effect">
                      <p:stCondLst>
                        <p:cond delay="indefinite"/>
                      </p:stCondLst>
                      <p:childTnLst>
                        <p:par>
                          <p:cTn id="34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9" grpId="0"/>
      <p:bldP spid="10" grpId="0"/>
      <p:bldP spid="11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0">
            <a:extLst>
              <a:ext uri="{FF2B5EF4-FFF2-40B4-BE49-F238E27FC236}">
                <a16:creationId xmlns:a16="http://schemas.microsoft.com/office/drawing/2014/main" id="{58C4AB8F-FECD-06E9-EAEA-D00D9D10A18C}"/>
              </a:ext>
            </a:extLst>
          </p:cNvPr>
          <p:cNvSpPr/>
          <p:nvPr/>
        </p:nvSpPr>
        <p:spPr>
          <a:xfrm>
            <a:off x="609603" y="990596"/>
            <a:ext cx="8153403" cy="5257800"/>
          </a:xfrm>
          <a:prstGeom prst="rect">
            <a:avLst/>
          </a:prstGeom>
          <a:solidFill>
            <a:srgbClr val="FFCC66"/>
          </a:solidFill>
          <a:ln w="9528" cap="flat">
            <a:solidFill>
              <a:srgbClr val="000000"/>
            </a:solidFill>
            <a:prstDash val="solid"/>
            <a:miter/>
          </a:ln>
        </p:spPr>
        <p:txBody>
          <a:bodyPr vert="horz" wrap="none" lIns="91440" tIns="45720" rIns="91440" bIns="4572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240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</a:endParaRPr>
          </a:p>
        </p:txBody>
      </p:sp>
      <p:sp>
        <p:nvSpPr>
          <p:cNvPr id="3" name="Rectangle 9">
            <a:extLst>
              <a:ext uri="{FF2B5EF4-FFF2-40B4-BE49-F238E27FC236}">
                <a16:creationId xmlns:a16="http://schemas.microsoft.com/office/drawing/2014/main" id="{35A151CD-ED9B-9A2C-0C94-7A0A1C399564}"/>
              </a:ext>
            </a:extLst>
          </p:cNvPr>
          <p:cNvSpPr/>
          <p:nvPr/>
        </p:nvSpPr>
        <p:spPr>
          <a:xfrm>
            <a:off x="3886200" y="457200"/>
            <a:ext cx="1447796" cy="685800"/>
          </a:xfrm>
          <a:prstGeom prst="rect">
            <a:avLst/>
          </a:prstGeom>
          <a:solidFill>
            <a:srgbClr val="969696"/>
          </a:solidFill>
          <a:ln w="9528" cap="flat">
            <a:solidFill>
              <a:srgbClr val="000000"/>
            </a:solidFill>
            <a:prstDash val="solid"/>
            <a:miter/>
          </a:ln>
        </p:spPr>
        <p:txBody>
          <a:bodyPr vert="horz" wrap="non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3600" b="0" i="0" u="none" strike="noStrike" kern="1200" cap="none" spc="0" baseline="0">
                <a:solidFill>
                  <a:srgbClr val="0000FF"/>
                </a:solidFill>
                <a:uFillTx/>
                <a:latin typeface="Times New Roman" pitchFamily="18"/>
              </a:rPr>
              <a:t>Quiz</a:t>
            </a:r>
          </a:p>
        </p:txBody>
      </p:sp>
      <p:sp>
        <p:nvSpPr>
          <p:cNvPr id="4" name="Text Box 12">
            <a:extLst>
              <a:ext uri="{FF2B5EF4-FFF2-40B4-BE49-F238E27FC236}">
                <a16:creationId xmlns:a16="http://schemas.microsoft.com/office/drawing/2014/main" id="{B3BF53DA-97E5-22E2-2C1E-3CA2503BBE92}"/>
              </a:ext>
            </a:extLst>
          </p:cNvPr>
          <p:cNvSpPr txBox="1"/>
          <p:nvPr/>
        </p:nvSpPr>
        <p:spPr>
          <a:xfrm>
            <a:off x="914400" y="2057400"/>
            <a:ext cx="7467603" cy="2647946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400" b="0" i="0" u="none" strike="noStrike" kern="1200" cap="none" spc="0" baseline="0">
                <a:solidFill>
                  <a:srgbClr val="000000"/>
                </a:solidFill>
                <a:uFillTx/>
                <a:latin typeface="Times New Roman" pitchFamily="18"/>
              </a:rPr>
              <a:t>1. The atomic number is the number of 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400" b="0" i="0" u="none" strike="noStrike" kern="1200" cap="none" spc="0" baseline="0">
                <a:solidFill>
                  <a:srgbClr val="000000"/>
                </a:solidFill>
                <a:uFillTx/>
                <a:latin typeface="Times New Roman" pitchFamily="18"/>
              </a:rPr>
              <a:t>	a. protons in the nucleus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400" b="0" i="0" u="none" strike="noStrike" kern="1200" cap="none" spc="0" baseline="0">
                <a:solidFill>
                  <a:srgbClr val="000000"/>
                </a:solidFill>
                <a:uFillTx/>
                <a:latin typeface="Times New Roman" pitchFamily="18"/>
              </a:rPr>
              <a:t>	b. neutrons in the nucleus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400" b="0" i="0" u="none" strike="noStrike" kern="1200" cap="none" spc="0" baseline="0">
                <a:solidFill>
                  <a:srgbClr val="000000"/>
                </a:solidFill>
                <a:uFillTx/>
                <a:latin typeface="Times New Roman" pitchFamily="18"/>
              </a:rPr>
              <a:t>	c. protons plus neutrons in the nucleus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400" b="0" i="0" u="none" strike="noStrike" kern="1200" cap="none" spc="0" baseline="0">
                <a:solidFill>
                  <a:srgbClr val="000000"/>
                </a:solidFill>
                <a:uFillTx/>
                <a:latin typeface="Times New Roman" pitchFamily="18"/>
              </a:rPr>
              <a:t>	d. electrons in the outer shell</a:t>
            </a:r>
            <a:endParaRPr lang="en-US" sz="2400" b="0" i="0" u="none" strike="noStrike" kern="1200" cap="none" spc="0" baseline="30000">
              <a:solidFill>
                <a:srgbClr val="000000"/>
              </a:solidFill>
              <a:uFillTx/>
              <a:latin typeface="Times New Roman" pitchFamily="18"/>
            </a:endParaRPr>
          </a:p>
        </p:txBody>
      </p:sp>
    </p:spTree>
  </p:cSld>
  <p:clrMapOvr>
    <a:masterClrMapping/>
  </p:clrMapOvr>
  <p:transition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5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8202CC6C-F772-B71A-45AE-BA0B8035C052}"/>
              </a:ext>
            </a:extLst>
          </p:cNvPr>
          <p:cNvSpPr/>
          <p:nvPr/>
        </p:nvSpPr>
        <p:spPr>
          <a:xfrm>
            <a:off x="609603" y="990596"/>
            <a:ext cx="8153403" cy="5257800"/>
          </a:xfrm>
          <a:prstGeom prst="rect">
            <a:avLst/>
          </a:prstGeom>
          <a:solidFill>
            <a:srgbClr val="FFCC66"/>
          </a:solidFill>
          <a:ln w="9528" cap="flat">
            <a:solidFill>
              <a:srgbClr val="000000"/>
            </a:solidFill>
            <a:prstDash val="solid"/>
            <a:miter/>
          </a:ln>
        </p:spPr>
        <p:txBody>
          <a:bodyPr vert="horz" wrap="none" lIns="91440" tIns="45720" rIns="91440" bIns="4572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240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</a:endParaRP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2560C616-A3A9-AC75-3474-EDE4A2C11839}"/>
              </a:ext>
            </a:extLst>
          </p:cNvPr>
          <p:cNvSpPr/>
          <p:nvPr/>
        </p:nvSpPr>
        <p:spPr>
          <a:xfrm>
            <a:off x="3886200" y="457200"/>
            <a:ext cx="1447796" cy="685800"/>
          </a:xfrm>
          <a:prstGeom prst="rect">
            <a:avLst/>
          </a:prstGeom>
          <a:solidFill>
            <a:srgbClr val="969696"/>
          </a:solidFill>
          <a:ln w="9528" cap="flat">
            <a:solidFill>
              <a:srgbClr val="000000"/>
            </a:solidFill>
            <a:prstDash val="solid"/>
            <a:miter/>
          </a:ln>
        </p:spPr>
        <p:txBody>
          <a:bodyPr vert="horz" wrap="non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3600" b="0" i="0" u="none" strike="noStrike" kern="1200" cap="none" spc="0" baseline="0">
                <a:solidFill>
                  <a:srgbClr val="0000FF"/>
                </a:solidFill>
                <a:uFillTx/>
                <a:latin typeface="Times New Roman" pitchFamily="18"/>
              </a:rPr>
              <a:t>Quiz</a:t>
            </a:r>
          </a:p>
        </p:txBody>
      </p:sp>
      <p:sp>
        <p:nvSpPr>
          <p:cNvPr id="4" name="Text Box 5">
            <a:extLst>
              <a:ext uri="{FF2B5EF4-FFF2-40B4-BE49-F238E27FC236}">
                <a16:creationId xmlns:a16="http://schemas.microsoft.com/office/drawing/2014/main" id="{0CAB3C84-3A1F-6275-71F5-0981C3684ABE}"/>
              </a:ext>
            </a:extLst>
          </p:cNvPr>
          <p:cNvSpPr txBox="1"/>
          <p:nvPr/>
        </p:nvSpPr>
        <p:spPr>
          <a:xfrm>
            <a:off x="914400" y="2057400"/>
            <a:ext cx="7467603" cy="2647946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400" b="0" i="0" u="none" strike="noStrike" kern="1200" cap="none" spc="0" baseline="0">
                <a:solidFill>
                  <a:srgbClr val="000000"/>
                </a:solidFill>
                <a:uFillTx/>
                <a:latin typeface="Times New Roman" pitchFamily="18"/>
              </a:rPr>
              <a:t>2. Valence electrons are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400" b="0" i="0" u="none" strike="noStrike" kern="1200" cap="none" spc="0" baseline="0">
                <a:solidFill>
                  <a:srgbClr val="000000"/>
                </a:solidFill>
                <a:uFillTx/>
                <a:latin typeface="Times New Roman" pitchFamily="18"/>
              </a:rPr>
              <a:t>	a. in the outer shell</a:t>
            </a:r>
            <a:endParaRPr lang="en-US" sz="2400" b="0" i="0" u="none" strike="noStrike" kern="1200" cap="none" spc="0" baseline="30000">
              <a:solidFill>
                <a:srgbClr val="000000"/>
              </a:solidFill>
              <a:uFillTx/>
              <a:latin typeface="Times New Roman" pitchFamily="18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400" b="0" i="0" u="none" strike="noStrike" kern="1200" cap="none" spc="0" baseline="0">
                <a:solidFill>
                  <a:srgbClr val="000000"/>
                </a:solidFill>
                <a:uFillTx/>
                <a:latin typeface="Times New Roman" pitchFamily="18"/>
              </a:rPr>
              <a:t>	b. involved in chemical reactions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400" b="0" i="0" u="none" strike="noStrike" kern="1200" cap="none" spc="0" baseline="0">
                <a:solidFill>
                  <a:srgbClr val="000000"/>
                </a:solidFill>
                <a:uFillTx/>
                <a:latin typeface="Times New Roman" pitchFamily="18"/>
              </a:rPr>
              <a:t>	c. relatively loosely bound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400" b="0" i="0" u="none" strike="noStrike" kern="1200" cap="none" spc="0" baseline="0">
                <a:solidFill>
                  <a:srgbClr val="000000"/>
                </a:solidFill>
                <a:uFillTx/>
                <a:latin typeface="Times New Roman" pitchFamily="18"/>
              </a:rPr>
              <a:t>	d. all of the above</a:t>
            </a:r>
            <a:endParaRPr lang="en-US" sz="2400" b="0" i="0" u="none" strike="noStrike" kern="1200" cap="none" spc="0" baseline="30000">
              <a:solidFill>
                <a:srgbClr val="000000"/>
              </a:solidFill>
              <a:uFillTx/>
              <a:latin typeface="Times New Roman" pitchFamily="18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5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F1755B4A-2604-9830-9B26-37A30D4FB08E}"/>
              </a:ext>
            </a:extLst>
          </p:cNvPr>
          <p:cNvSpPr/>
          <p:nvPr/>
        </p:nvSpPr>
        <p:spPr>
          <a:xfrm>
            <a:off x="609603" y="990596"/>
            <a:ext cx="8153403" cy="5257800"/>
          </a:xfrm>
          <a:prstGeom prst="rect">
            <a:avLst/>
          </a:prstGeom>
          <a:solidFill>
            <a:srgbClr val="FFCC66"/>
          </a:solidFill>
          <a:ln w="9528" cap="flat">
            <a:solidFill>
              <a:srgbClr val="000000"/>
            </a:solidFill>
            <a:prstDash val="solid"/>
            <a:miter/>
          </a:ln>
        </p:spPr>
        <p:txBody>
          <a:bodyPr vert="horz" wrap="none" lIns="91440" tIns="45720" rIns="91440" bIns="4572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240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</a:endParaRP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7CC0E6A8-86B6-8AD8-DA00-AED300192187}"/>
              </a:ext>
            </a:extLst>
          </p:cNvPr>
          <p:cNvSpPr/>
          <p:nvPr/>
        </p:nvSpPr>
        <p:spPr>
          <a:xfrm>
            <a:off x="3886200" y="457200"/>
            <a:ext cx="1447796" cy="685800"/>
          </a:xfrm>
          <a:prstGeom prst="rect">
            <a:avLst/>
          </a:prstGeom>
          <a:solidFill>
            <a:srgbClr val="969696"/>
          </a:solidFill>
          <a:ln w="9528" cap="flat">
            <a:solidFill>
              <a:srgbClr val="000000"/>
            </a:solidFill>
            <a:prstDash val="solid"/>
            <a:miter/>
          </a:ln>
        </p:spPr>
        <p:txBody>
          <a:bodyPr vert="horz" wrap="non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3600" b="0" i="0" u="none" strike="noStrike" kern="1200" cap="none" spc="0" baseline="0">
                <a:solidFill>
                  <a:srgbClr val="0000FF"/>
                </a:solidFill>
                <a:uFillTx/>
                <a:latin typeface="Times New Roman" pitchFamily="18"/>
              </a:rPr>
              <a:t>Quiz</a:t>
            </a:r>
          </a:p>
        </p:txBody>
      </p:sp>
      <p:sp>
        <p:nvSpPr>
          <p:cNvPr id="4" name="Text Box 5">
            <a:extLst>
              <a:ext uri="{FF2B5EF4-FFF2-40B4-BE49-F238E27FC236}">
                <a16:creationId xmlns:a16="http://schemas.microsoft.com/office/drawing/2014/main" id="{47E7572C-2F2E-A95D-79AD-F854BC4C4521}"/>
              </a:ext>
            </a:extLst>
          </p:cNvPr>
          <p:cNvSpPr txBox="1"/>
          <p:nvPr/>
        </p:nvSpPr>
        <p:spPr>
          <a:xfrm>
            <a:off x="914400" y="2057400"/>
            <a:ext cx="7315200" cy="3560765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400" b="0" i="0" u="none" strike="noStrike" kern="1200" cap="none" spc="0" baseline="0">
                <a:solidFill>
                  <a:srgbClr val="000000"/>
                </a:solidFill>
                <a:uFillTx/>
                <a:latin typeface="Times New Roman" pitchFamily="18"/>
              </a:rPr>
              <a:t>3. The atomic particle responsible for electrical current in solid metallic conductors is the 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400" b="0" i="0" u="none" strike="noStrike" kern="1200" cap="none" spc="0" baseline="0">
                <a:solidFill>
                  <a:srgbClr val="000000"/>
                </a:solidFill>
                <a:uFillTx/>
                <a:latin typeface="Times New Roman" pitchFamily="18"/>
              </a:rPr>
              <a:t>	a. proton</a:t>
            </a:r>
            <a:endParaRPr lang="en-US" sz="2400" b="0" i="0" u="none" strike="noStrike" kern="1200" cap="none" spc="0" baseline="30000">
              <a:solidFill>
                <a:srgbClr val="000000"/>
              </a:solidFill>
              <a:uFillTx/>
              <a:latin typeface="Times New Roman" pitchFamily="18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400" b="0" i="0" u="none" strike="noStrike" kern="1200" cap="none" spc="0" baseline="0">
                <a:solidFill>
                  <a:srgbClr val="000000"/>
                </a:solidFill>
                <a:uFillTx/>
                <a:latin typeface="Times New Roman" pitchFamily="18"/>
              </a:rPr>
              <a:t>	b. electron</a:t>
            </a:r>
            <a:endParaRPr lang="en-US" sz="2400" b="0" i="0" u="none" strike="noStrike" kern="1200" cap="none" spc="0" baseline="30000">
              <a:solidFill>
                <a:srgbClr val="000000"/>
              </a:solidFill>
              <a:uFillTx/>
              <a:latin typeface="Times New Roman" pitchFamily="18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400" b="0" i="0" u="none" strike="noStrike" kern="1200" cap="none" spc="0" baseline="0">
                <a:solidFill>
                  <a:srgbClr val="000000"/>
                </a:solidFill>
                <a:uFillTx/>
                <a:latin typeface="Times New Roman" pitchFamily="18"/>
              </a:rPr>
              <a:t>	c. neutron</a:t>
            </a:r>
            <a:endParaRPr lang="en-US" sz="2400" b="0" i="0" u="none" strike="noStrike" kern="1200" cap="none" spc="0" baseline="30000">
              <a:solidFill>
                <a:srgbClr val="000000"/>
              </a:solidFill>
              <a:uFillTx/>
              <a:latin typeface="Times New Roman" pitchFamily="18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400" b="0" i="0" u="none" strike="noStrike" kern="1200" cap="none" spc="0" baseline="0">
                <a:solidFill>
                  <a:srgbClr val="000000"/>
                </a:solidFill>
                <a:uFillTx/>
                <a:latin typeface="Times New Roman" pitchFamily="18"/>
              </a:rPr>
              <a:t>	d. all of the above</a:t>
            </a:r>
            <a:endParaRPr lang="en-US" sz="2400" b="0" i="0" u="none" strike="noStrike" kern="1200" cap="none" spc="0" baseline="30000">
              <a:solidFill>
                <a:srgbClr val="000000"/>
              </a:solidFill>
              <a:uFillTx/>
              <a:latin typeface="Times New Roman" pitchFamily="18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240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5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4084D091-B240-37D0-7442-11D6D58A5A7F}"/>
              </a:ext>
            </a:extLst>
          </p:cNvPr>
          <p:cNvSpPr/>
          <p:nvPr/>
        </p:nvSpPr>
        <p:spPr>
          <a:xfrm>
            <a:off x="609603" y="990596"/>
            <a:ext cx="8153403" cy="5257800"/>
          </a:xfrm>
          <a:prstGeom prst="rect">
            <a:avLst/>
          </a:prstGeom>
          <a:solidFill>
            <a:srgbClr val="FFCC66"/>
          </a:solidFill>
          <a:ln w="9528" cap="flat">
            <a:solidFill>
              <a:srgbClr val="000000"/>
            </a:solidFill>
            <a:prstDash val="solid"/>
            <a:miter/>
          </a:ln>
        </p:spPr>
        <p:txBody>
          <a:bodyPr vert="horz" wrap="none" lIns="91440" tIns="45720" rIns="91440" bIns="4572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240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</a:endParaRP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125E24EF-7587-5EF2-5144-63166C520630}"/>
              </a:ext>
            </a:extLst>
          </p:cNvPr>
          <p:cNvSpPr/>
          <p:nvPr/>
        </p:nvSpPr>
        <p:spPr>
          <a:xfrm>
            <a:off x="3886200" y="457200"/>
            <a:ext cx="1447796" cy="685800"/>
          </a:xfrm>
          <a:prstGeom prst="rect">
            <a:avLst/>
          </a:prstGeom>
          <a:solidFill>
            <a:srgbClr val="969696"/>
          </a:solidFill>
          <a:ln w="9528" cap="flat">
            <a:solidFill>
              <a:srgbClr val="000000"/>
            </a:solidFill>
            <a:prstDash val="solid"/>
            <a:miter/>
          </a:ln>
        </p:spPr>
        <p:txBody>
          <a:bodyPr vert="horz" wrap="non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3600" b="0" i="0" u="none" strike="noStrike" kern="1200" cap="none" spc="0" baseline="0">
                <a:solidFill>
                  <a:srgbClr val="0000FF"/>
                </a:solidFill>
                <a:uFillTx/>
                <a:latin typeface="Times New Roman" pitchFamily="18"/>
              </a:rPr>
              <a:t>Quiz</a:t>
            </a:r>
          </a:p>
        </p:txBody>
      </p:sp>
      <p:sp>
        <p:nvSpPr>
          <p:cNvPr id="4" name="Text Box 5">
            <a:extLst>
              <a:ext uri="{FF2B5EF4-FFF2-40B4-BE49-F238E27FC236}">
                <a16:creationId xmlns:a16="http://schemas.microsoft.com/office/drawing/2014/main" id="{FDE5BF57-196C-8A80-D47E-BBA5C6A73313}"/>
              </a:ext>
            </a:extLst>
          </p:cNvPr>
          <p:cNvSpPr txBox="1"/>
          <p:nvPr/>
        </p:nvSpPr>
        <p:spPr>
          <a:xfrm>
            <a:off x="914400" y="2057400"/>
            <a:ext cx="7315200" cy="3195635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400" b="0" i="0" u="none" strike="noStrike" kern="1200" cap="none" spc="0" baseline="0">
                <a:solidFill>
                  <a:srgbClr val="000000"/>
                </a:solidFill>
                <a:uFillTx/>
                <a:latin typeface="Times New Roman" pitchFamily="18"/>
              </a:rPr>
              <a:t>4. The symbol for charge is 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400" b="0" i="0" u="none" strike="noStrike" kern="1200" cap="none" spc="0" baseline="0">
                <a:solidFill>
                  <a:srgbClr val="000000"/>
                </a:solidFill>
                <a:uFillTx/>
                <a:latin typeface="Times New Roman" pitchFamily="18"/>
              </a:rPr>
              <a:t>	a. </a:t>
            </a:r>
            <a:r>
              <a:rPr lang="en-US" sz="2400" b="0" i="1" u="none" strike="noStrike" kern="1200" cap="none" spc="0" baseline="0">
                <a:solidFill>
                  <a:srgbClr val="000000"/>
                </a:solidFill>
                <a:uFillTx/>
                <a:latin typeface="Times New Roman" pitchFamily="18"/>
              </a:rPr>
              <a:t>C</a:t>
            </a:r>
            <a:endParaRPr lang="en-US" sz="2400" b="0" i="1" u="none" strike="noStrike" kern="1200" cap="none" spc="0" baseline="30000">
              <a:solidFill>
                <a:srgbClr val="000000"/>
              </a:solidFill>
              <a:uFillTx/>
              <a:latin typeface="Times New Roman" pitchFamily="18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400" b="0" i="0" u="none" strike="noStrike" kern="1200" cap="none" spc="0" baseline="0">
                <a:solidFill>
                  <a:srgbClr val="000000"/>
                </a:solidFill>
                <a:uFillTx/>
                <a:latin typeface="Times New Roman" pitchFamily="18"/>
              </a:rPr>
              <a:t>	b. </a:t>
            </a:r>
            <a:r>
              <a:rPr lang="en-US" sz="2400" b="0" i="0" u="none" strike="noStrike" kern="1200" cap="none" spc="0" baseline="0">
                <a:solidFill>
                  <a:srgbClr val="000000"/>
                </a:solidFill>
                <a:uFillTx/>
                <a:latin typeface="Symbol" pitchFamily="18"/>
              </a:rPr>
              <a:t>W</a:t>
            </a:r>
            <a:endParaRPr lang="en-US" sz="2400" b="0" i="0" u="none" strike="noStrike" kern="1200" cap="none" spc="0" baseline="30000">
              <a:solidFill>
                <a:srgbClr val="000000"/>
              </a:solidFill>
              <a:uFillTx/>
              <a:latin typeface="Symbol" pitchFamily="18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400" b="0" i="0" u="none" strike="noStrike" kern="1200" cap="none" spc="0" baseline="0">
                <a:solidFill>
                  <a:srgbClr val="000000"/>
                </a:solidFill>
                <a:uFillTx/>
                <a:latin typeface="Times New Roman" pitchFamily="18"/>
              </a:rPr>
              <a:t>	c. </a:t>
            </a:r>
            <a:r>
              <a:rPr lang="en-US" sz="2400" b="0" i="1" u="none" strike="noStrike" kern="1200" cap="none" spc="0" baseline="0">
                <a:solidFill>
                  <a:srgbClr val="000000"/>
                </a:solidFill>
                <a:uFillTx/>
                <a:latin typeface="Times New Roman" pitchFamily="18"/>
              </a:rPr>
              <a:t>Q</a:t>
            </a:r>
            <a:endParaRPr lang="en-US" sz="2400" b="0" i="1" u="none" strike="noStrike" kern="1200" cap="none" spc="0" baseline="30000">
              <a:solidFill>
                <a:srgbClr val="000000"/>
              </a:solidFill>
              <a:uFillTx/>
              <a:latin typeface="Times New Roman" pitchFamily="18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400" b="0" i="0" u="none" strike="noStrike" kern="1200" cap="none" spc="0" baseline="0">
                <a:solidFill>
                  <a:srgbClr val="000000"/>
                </a:solidFill>
                <a:uFillTx/>
                <a:latin typeface="Times New Roman" pitchFamily="18"/>
              </a:rPr>
              <a:t>	d. </a:t>
            </a:r>
            <a:r>
              <a:rPr lang="en-US" sz="2400" b="0" i="1" u="none" strike="noStrike" kern="1200" cap="none" spc="0" baseline="0">
                <a:solidFill>
                  <a:srgbClr val="000000"/>
                </a:solidFill>
                <a:uFillTx/>
                <a:latin typeface="Times New Roman" pitchFamily="18"/>
              </a:rPr>
              <a:t>W</a:t>
            </a:r>
            <a:endParaRPr lang="en-US" sz="2400" b="0" i="1" u="none" strike="noStrike" kern="1200" cap="none" spc="0" baseline="30000">
              <a:solidFill>
                <a:srgbClr val="000000"/>
              </a:solidFill>
              <a:uFillTx/>
              <a:latin typeface="Times New Roman" pitchFamily="18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240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5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B932126E-2664-30F1-5CE9-AB6D8D86B5FF}"/>
              </a:ext>
            </a:extLst>
          </p:cNvPr>
          <p:cNvSpPr/>
          <p:nvPr/>
        </p:nvSpPr>
        <p:spPr>
          <a:xfrm>
            <a:off x="609603" y="990596"/>
            <a:ext cx="8153403" cy="5257800"/>
          </a:xfrm>
          <a:prstGeom prst="rect">
            <a:avLst/>
          </a:prstGeom>
          <a:solidFill>
            <a:srgbClr val="FFCC66"/>
          </a:solidFill>
          <a:ln w="9528" cap="flat">
            <a:solidFill>
              <a:srgbClr val="000000"/>
            </a:solidFill>
            <a:prstDash val="solid"/>
            <a:miter/>
          </a:ln>
        </p:spPr>
        <p:txBody>
          <a:bodyPr vert="horz" wrap="none" lIns="91440" tIns="45720" rIns="91440" bIns="4572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240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</a:endParaRP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95B021D2-F298-9931-CC5F-8AA7440F6EF6}"/>
              </a:ext>
            </a:extLst>
          </p:cNvPr>
          <p:cNvSpPr/>
          <p:nvPr/>
        </p:nvSpPr>
        <p:spPr>
          <a:xfrm>
            <a:off x="3886200" y="457200"/>
            <a:ext cx="1447796" cy="685800"/>
          </a:xfrm>
          <a:prstGeom prst="rect">
            <a:avLst/>
          </a:prstGeom>
          <a:solidFill>
            <a:srgbClr val="969696"/>
          </a:solidFill>
          <a:ln w="9528" cap="flat">
            <a:solidFill>
              <a:srgbClr val="000000"/>
            </a:solidFill>
            <a:prstDash val="solid"/>
            <a:miter/>
          </a:ln>
        </p:spPr>
        <p:txBody>
          <a:bodyPr vert="horz" wrap="non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3600" b="0" i="0" u="none" strike="noStrike" kern="1200" cap="none" spc="0" baseline="0">
                <a:solidFill>
                  <a:srgbClr val="0000FF"/>
                </a:solidFill>
                <a:uFillTx/>
                <a:latin typeface="Times New Roman" pitchFamily="18"/>
              </a:rPr>
              <a:t>Quiz</a:t>
            </a:r>
          </a:p>
        </p:txBody>
      </p:sp>
      <p:sp>
        <p:nvSpPr>
          <p:cNvPr id="4" name="Text Box 5">
            <a:extLst>
              <a:ext uri="{FF2B5EF4-FFF2-40B4-BE49-F238E27FC236}">
                <a16:creationId xmlns:a16="http://schemas.microsoft.com/office/drawing/2014/main" id="{BD77C2BF-6982-DBAA-018D-F58E6A4D2EA5}"/>
              </a:ext>
            </a:extLst>
          </p:cNvPr>
          <p:cNvSpPr txBox="1"/>
          <p:nvPr/>
        </p:nvSpPr>
        <p:spPr>
          <a:xfrm>
            <a:off x="914400" y="2057400"/>
            <a:ext cx="7315200" cy="3962396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400" b="0" i="0" u="none" strike="noStrike" kern="1200" cap="none" spc="0" baseline="0">
                <a:solidFill>
                  <a:srgbClr val="000000"/>
                </a:solidFill>
                <a:uFillTx/>
                <a:latin typeface="Times New Roman" pitchFamily="18"/>
              </a:rPr>
              <a:t>5. The definition for voltage is  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400" b="0" i="0" u="none" strike="noStrike" kern="1200" cap="none" spc="0" baseline="0">
                <a:solidFill>
                  <a:srgbClr val="000000"/>
                </a:solidFill>
                <a:uFillTx/>
                <a:latin typeface="Times New Roman" pitchFamily="18"/>
              </a:rPr>
              <a:t>	a. </a:t>
            </a:r>
            <a:endParaRPr lang="en-US" sz="2400" b="0" i="0" u="none" strike="noStrike" kern="1200" cap="none" spc="0" baseline="30000">
              <a:solidFill>
                <a:srgbClr val="000000"/>
              </a:solidFill>
              <a:uFillTx/>
              <a:latin typeface="Times New Roman" pitchFamily="18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400" b="0" i="0" u="none" strike="noStrike" kern="1200" cap="none" spc="0" baseline="0">
                <a:solidFill>
                  <a:srgbClr val="000000"/>
                </a:solidFill>
                <a:uFillTx/>
                <a:latin typeface="Times New Roman" pitchFamily="18"/>
              </a:rPr>
              <a:t>	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400" b="0" i="0" u="none" strike="noStrike" kern="1200" cap="none" spc="0" baseline="0">
                <a:solidFill>
                  <a:srgbClr val="000000"/>
                </a:solidFill>
                <a:uFillTx/>
                <a:latin typeface="Times New Roman" pitchFamily="18"/>
              </a:rPr>
              <a:t>	b. 	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400" b="0" i="0" u="none" strike="noStrike" kern="1200" cap="none" spc="0" baseline="0">
                <a:solidFill>
                  <a:srgbClr val="000000"/>
                </a:solidFill>
                <a:uFillTx/>
                <a:latin typeface="Times New Roman" pitchFamily="18"/>
              </a:rPr>
              <a:t>	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400" b="0" i="0" u="none" strike="noStrike" kern="1200" cap="none" spc="0" baseline="0">
                <a:solidFill>
                  <a:srgbClr val="000000"/>
                </a:solidFill>
                <a:uFillTx/>
                <a:latin typeface="Times New Roman" pitchFamily="18"/>
              </a:rPr>
              <a:t>	c. 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400" b="0" i="0" u="none" strike="noStrike" kern="1200" cap="none" spc="0" baseline="0">
                <a:solidFill>
                  <a:srgbClr val="000000"/>
                </a:solidFill>
                <a:uFillTx/>
                <a:latin typeface="Times New Roman" pitchFamily="18"/>
              </a:rPr>
              <a:t>	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400" b="0" i="0" u="none" strike="noStrike" kern="1200" cap="none" spc="0" baseline="0">
                <a:solidFill>
                  <a:srgbClr val="000000"/>
                </a:solidFill>
                <a:uFillTx/>
                <a:latin typeface="Times New Roman" pitchFamily="18"/>
              </a:rPr>
              <a:t>	d. </a:t>
            </a:r>
            <a:endParaRPr lang="en-US" sz="2400" b="0" i="0" u="none" strike="noStrike" kern="1200" cap="none" spc="0" baseline="30000">
              <a:solidFill>
                <a:srgbClr val="000000"/>
              </a:solidFill>
              <a:uFillTx/>
              <a:latin typeface="Times New Roman" pitchFamily="18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240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</a:endParaRPr>
          </a:p>
        </p:txBody>
      </p:sp>
      <p:graphicFrame>
        <p:nvGraphicFramePr>
          <p:cNvPr id="5" name="Object 7">
            <a:extLst>
              <a:ext uri="{FF2B5EF4-FFF2-40B4-BE49-F238E27FC236}">
                <a16:creationId xmlns:a16="http://schemas.microsoft.com/office/drawing/2014/main" id="{9C1ED8B3-B390-4F21-C791-19DB3936A699}"/>
              </a:ext>
            </a:extLst>
          </p:cNvPr>
          <p:cNvGraphicFramePr/>
          <p:nvPr/>
        </p:nvGraphicFramePr>
        <p:xfrm>
          <a:off x="2286000" y="2428874"/>
          <a:ext cx="761996" cy="69532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10363200" imgH="9448800" progId="">
                  <p:embed/>
                </p:oleObj>
              </mc:Choice>
              <mc:Fallback>
                <p:oleObj r:id="rId2" imgW="10363200" imgH="9448800" progId="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286000" y="2428874"/>
                        <a:ext cx="761996" cy="695328"/>
                      </a:xfrm>
                      <a:prstGeom prst="rect">
                        <a:avLst/>
                      </a:prstGeom>
                      <a:noFill/>
                      <a:ln cap="flat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8">
            <a:extLst>
              <a:ext uri="{FF2B5EF4-FFF2-40B4-BE49-F238E27FC236}">
                <a16:creationId xmlns:a16="http://schemas.microsoft.com/office/drawing/2014/main" id="{51BA993A-CA2A-F37A-2F9A-3B637955FE0D}"/>
              </a:ext>
            </a:extLst>
          </p:cNvPr>
          <p:cNvGraphicFramePr/>
          <p:nvPr/>
        </p:nvGraphicFramePr>
        <p:xfrm>
          <a:off x="2251079" y="3276596"/>
          <a:ext cx="796927" cy="6873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10972800" imgH="9448800" progId="">
                  <p:embed/>
                </p:oleObj>
              </mc:Choice>
              <mc:Fallback>
                <p:oleObj r:id="rId4" imgW="10972800" imgH="9448800" progId="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251079" y="3276596"/>
                        <a:ext cx="796927" cy="687391"/>
                      </a:xfrm>
                      <a:prstGeom prst="rect">
                        <a:avLst/>
                      </a:prstGeom>
                      <a:noFill/>
                      <a:ln cap="flat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9">
            <a:extLst>
              <a:ext uri="{FF2B5EF4-FFF2-40B4-BE49-F238E27FC236}">
                <a16:creationId xmlns:a16="http://schemas.microsoft.com/office/drawing/2014/main" id="{42D82B42-9C9E-AAF1-7231-9928F1A563C4}"/>
              </a:ext>
            </a:extLst>
          </p:cNvPr>
          <p:cNvGraphicFramePr/>
          <p:nvPr/>
        </p:nvGraphicFramePr>
        <p:xfrm>
          <a:off x="2268534" y="4114800"/>
          <a:ext cx="855658" cy="78422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10972800" imgH="10058400" progId="">
                  <p:embed/>
                </p:oleObj>
              </mc:Choice>
              <mc:Fallback>
                <p:oleObj r:id="rId6" imgW="10972800" imgH="10058400" progId="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2268534" y="4114800"/>
                        <a:ext cx="855658" cy="784226"/>
                      </a:xfrm>
                      <a:prstGeom prst="rect">
                        <a:avLst/>
                      </a:prstGeom>
                      <a:noFill/>
                      <a:ln cap="flat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10">
            <a:extLst>
              <a:ext uri="{FF2B5EF4-FFF2-40B4-BE49-F238E27FC236}">
                <a16:creationId xmlns:a16="http://schemas.microsoft.com/office/drawing/2014/main" id="{D01E81B5-971A-6D95-FB79-6C712AC9267A}"/>
              </a:ext>
            </a:extLst>
          </p:cNvPr>
          <p:cNvGraphicFramePr/>
          <p:nvPr/>
        </p:nvGraphicFramePr>
        <p:xfrm>
          <a:off x="2286000" y="5119689"/>
          <a:ext cx="838203" cy="3667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8" imgW="9753600" imgH="4267200" progId="">
                  <p:embed/>
                </p:oleObj>
              </mc:Choice>
              <mc:Fallback>
                <p:oleObj r:id="rId8" imgW="9753600" imgH="4267200" progId="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2286000" y="5119689"/>
                        <a:ext cx="838203" cy="366710"/>
                      </a:xfrm>
                      <a:prstGeom prst="rect">
                        <a:avLst/>
                      </a:prstGeom>
                      <a:noFill/>
                      <a:ln cap="flat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E5146C6D-A73D-2859-2775-D42A7FA3382A}"/>
              </a:ext>
            </a:extLst>
          </p:cNvPr>
          <p:cNvSpPr/>
          <p:nvPr/>
        </p:nvSpPr>
        <p:spPr>
          <a:xfrm>
            <a:off x="609603" y="990596"/>
            <a:ext cx="8153403" cy="5257800"/>
          </a:xfrm>
          <a:prstGeom prst="rect">
            <a:avLst/>
          </a:prstGeom>
          <a:solidFill>
            <a:srgbClr val="FFCC66"/>
          </a:solidFill>
          <a:ln w="9528" cap="flat">
            <a:solidFill>
              <a:srgbClr val="000000"/>
            </a:solidFill>
            <a:prstDash val="solid"/>
            <a:miter/>
          </a:ln>
        </p:spPr>
        <p:txBody>
          <a:bodyPr vert="horz" wrap="none" lIns="91440" tIns="45720" rIns="91440" bIns="4572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240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</a:endParaRP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6F3EA16C-975C-22C7-F789-310BBEC52671}"/>
              </a:ext>
            </a:extLst>
          </p:cNvPr>
          <p:cNvSpPr/>
          <p:nvPr/>
        </p:nvSpPr>
        <p:spPr>
          <a:xfrm>
            <a:off x="3886200" y="457200"/>
            <a:ext cx="1447796" cy="685800"/>
          </a:xfrm>
          <a:prstGeom prst="rect">
            <a:avLst/>
          </a:prstGeom>
          <a:solidFill>
            <a:srgbClr val="969696"/>
          </a:solidFill>
          <a:ln w="9528" cap="flat">
            <a:solidFill>
              <a:srgbClr val="000000"/>
            </a:solidFill>
            <a:prstDash val="solid"/>
            <a:miter/>
          </a:ln>
        </p:spPr>
        <p:txBody>
          <a:bodyPr vert="horz" wrap="non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3600" b="0" i="0" u="none" strike="noStrike" kern="1200" cap="none" spc="0" baseline="0">
                <a:solidFill>
                  <a:srgbClr val="0000FF"/>
                </a:solidFill>
                <a:uFillTx/>
                <a:latin typeface="Times New Roman" pitchFamily="18"/>
              </a:rPr>
              <a:t>Quiz</a:t>
            </a:r>
          </a:p>
        </p:txBody>
      </p:sp>
      <p:sp>
        <p:nvSpPr>
          <p:cNvPr id="4" name="Text Box 4">
            <a:extLst>
              <a:ext uri="{FF2B5EF4-FFF2-40B4-BE49-F238E27FC236}">
                <a16:creationId xmlns:a16="http://schemas.microsoft.com/office/drawing/2014/main" id="{9653E0FA-D248-590E-DA6A-DCF80DA6D62B}"/>
              </a:ext>
            </a:extLst>
          </p:cNvPr>
          <p:cNvSpPr txBox="1"/>
          <p:nvPr/>
        </p:nvSpPr>
        <p:spPr>
          <a:xfrm>
            <a:off x="1447796" y="1828800"/>
            <a:ext cx="6553203" cy="519114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17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800" b="0" i="0" u="none" strike="noStrike" kern="1200" cap="none" spc="0" baseline="0">
                <a:solidFill>
                  <a:srgbClr val="000000"/>
                </a:solidFill>
                <a:uFillTx/>
                <a:latin typeface="Times" pitchFamily="18"/>
                <a:cs typeface="Times New Roman" pitchFamily="18"/>
              </a:rPr>
              <a:t> </a:t>
            </a:r>
          </a:p>
        </p:txBody>
      </p:sp>
      <p:sp>
        <p:nvSpPr>
          <p:cNvPr id="5" name="Text Box 7">
            <a:extLst>
              <a:ext uri="{FF2B5EF4-FFF2-40B4-BE49-F238E27FC236}">
                <a16:creationId xmlns:a16="http://schemas.microsoft.com/office/drawing/2014/main" id="{CDD50383-7268-51C8-747B-EDA199AD4BE5}"/>
              </a:ext>
            </a:extLst>
          </p:cNvPr>
          <p:cNvSpPr txBox="1"/>
          <p:nvPr/>
        </p:nvSpPr>
        <p:spPr>
          <a:xfrm>
            <a:off x="914400" y="2057400"/>
            <a:ext cx="5943600" cy="3195635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400" b="0" i="0" u="none" strike="noStrike" kern="1200" cap="none" spc="0" baseline="0">
                <a:solidFill>
                  <a:srgbClr val="000000"/>
                </a:solidFill>
                <a:uFillTx/>
                <a:latin typeface="Times New Roman" pitchFamily="18"/>
              </a:rPr>
              <a:t>6. A battery stores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400" b="0" i="0" u="none" strike="noStrike" kern="1200" cap="none" spc="0" baseline="0">
                <a:solidFill>
                  <a:srgbClr val="000000"/>
                </a:solidFill>
                <a:uFillTx/>
                <a:latin typeface="Times New Roman" pitchFamily="18"/>
              </a:rPr>
              <a:t>	a. electrons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400" b="0" i="0" u="none" strike="noStrike" kern="1200" cap="none" spc="0" baseline="0">
                <a:solidFill>
                  <a:srgbClr val="000000"/>
                </a:solidFill>
                <a:uFillTx/>
                <a:latin typeface="Times New Roman" pitchFamily="18"/>
              </a:rPr>
              <a:t>	b. protons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400" b="0" i="0" u="none" strike="noStrike" kern="1200" cap="none" spc="0" baseline="0">
                <a:solidFill>
                  <a:srgbClr val="000000"/>
                </a:solidFill>
                <a:uFillTx/>
                <a:latin typeface="Times New Roman" pitchFamily="18"/>
              </a:rPr>
              <a:t>	c. ions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400" b="0" i="0" u="none" strike="noStrike" kern="1200" cap="none" spc="0" baseline="0">
                <a:solidFill>
                  <a:srgbClr val="000000"/>
                </a:solidFill>
                <a:uFillTx/>
                <a:latin typeface="Times New Roman" pitchFamily="18"/>
              </a:rPr>
              <a:t>	d. chemical energy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240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89B6E5C2-4459-0917-AC3F-85130692A3B8}"/>
              </a:ext>
            </a:extLst>
          </p:cNvPr>
          <p:cNvSpPr/>
          <p:nvPr/>
        </p:nvSpPr>
        <p:spPr>
          <a:xfrm>
            <a:off x="609603" y="990596"/>
            <a:ext cx="8153403" cy="5257800"/>
          </a:xfrm>
          <a:prstGeom prst="rect">
            <a:avLst/>
          </a:prstGeom>
          <a:solidFill>
            <a:srgbClr val="FFCC66"/>
          </a:solidFill>
          <a:ln w="9528" cap="flat">
            <a:solidFill>
              <a:srgbClr val="000000"/>
            </a:solidFill>
            <a:prstDash val="solid"/>
            <a:miter/>
          </a:ln>
        </p:spPr>
        <p:txBody>
          <a:bodyPr vert="horz" wrap="none" lIns="91440" tIns="45720" rIns="91440" bIns="4572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240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</a:endParaRP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4F50E04B-5E38-1948-9193-8DA14B2F8B4B}"/>
              </a:ext>
            </a:extLst>
          </p:cNvPr>
          <p:cNvSpPr/>
          <p:nvPr/>
        </p:nvSpPr>
        <p:spPr>
          <a:xfrm>
            <a:off x="3886200" y="457200"/>
            <a:ext cx="1447796" cy="685800"/>
          </a:xfrm>
          <a:prstGeom prst="rect">
            <a:avLst/>
          </a:prstGeom>
          <a:solidFill>
            <a:srgbClr val="969696"/>
          </a:solidFill>
          <a:ln w="9528" cap="flat">
            <a:solidFill>
              <a:srgbClr val="000000"/>
            </a:solidFill>
            <a:prstDash val="solid"/>
            <a:miter/>
          </a:ln>
        </p:spPr>
        <p:txBody>
          <a:bodyPr vert="horz" wrap="non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3600" b="0" i="0" u="none" strike="noStrike" kern="1200" cap="none" spc="0" baseline="0">
                <a:solidFill>
                  <a:srgbClr val="0000FF"/>
                </a:solidFill>
                <a:uFillTx/>
                <a:latin typeface="Times New Roman" pitchFamily="18"/>
              </a:rPr>
              <a:t>Quiz</a:t>
            </a:r>
          </a:p>
        </p:txBody>
      </p:sp>
      <p:sp>
        <p:nvSpPr>
          <p:cNvPr id="4" name="Text Box 7">
            <a:extLst>
              <a:ext uri="{FF2B5EF4-FFF2-40B4-BE49-F238E27FC236}">
                <a16:creationId xmlns:a16="http://schemas.microsoft.com/office/drawing/2014/main" id="{FAC182A6-9C42-4192-B2BB-06F0C605DFA9}"/>
              </a:ext>
            </a:extLst>
          </p:cNvPr>
          <p:cNvSpPr txBox="1"/>
          <p:nvPr/>
        </p:nvSpPr>
        <p:spPr>
          <a:xfrm>
            <a:off x="914400" y="2057400"/>
            <a:ext cx="7315200" cy="2647946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400" b="0" i="0" u="none" strike="noStrike" kern="1200" cap="none" spc="0" baseline="0">
                <a:solidFill>
                  <a:srgbClr val="000000"/>
                </a:solidFill>
                <a:uFillTx/>
                <a:latin typeface="Times New Roman" pitchFamily="18"/>
              </a:rPr>
              <a:t>7. The unit of conductance is the 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400" b="0" i="0" u="none" strike="noStrike" kern="1200" cap="none" spc="0" baseline="0">
                <a:solidFill>
                  <a:srgbClr val="000000"/>
                </a:solidFill>
                <a:uFillTx/>
                <a:latin typeface="Times New Roman" pitchFamily="18"/>
              </a:rPr>
              <a:t>	a. ohm 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400" b="0" i="0" u="none" strike="noStrike" kern="1200" cap="none" spc="0" baseline="0">
                <a:solidFill>
                  <a:srgbClr val="000000"/>
                </a:solidFill>
                <a:uFillTx/>
                <a:latin typeface="Times New Roman" pitchFamily="18"/>
              </a:rPr>
              <a:t>	b. coulomb 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400" b="0" i="0" u="none" strike="noStrike" kern="1200" cap="none" spc="0" baseline="0">
                <a:solidFill>
                  <a:srgbClr val="000000"/>
                </a:solidFill>
                <a:uFillTx/>
                <a:latin typeface="Times New Roman" pitchFamily="18"/>
              </a:rPr>
              <a:t>	c. siemen</a:t>
            </a:r>
            <a:endParaRPr lang="en-US" sz="2400" b="0" i="0" u="none" strike="noStrike" kern="1200" cap="none" spc="0" baseline="0">
              <a:solidFill>
                <a:srgbClr val="000000"/>
              </a:solidFill>
              <a:uFillTx/>
              <a:latin typeface="Symbol" pitchFamily="18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400" b="0" i="0" u="none" strike="noStrike" kern="1200" cap="none" spc="0" baseline="0">
                <a:solidFill>
                  <a:srgbClr val="000000"/>
                </a:solidFill>
                <a:uFillTx/>
                <a:latin typeface="Times New Roman" pitchFamily="18"/>
              </a:rPr>
              <a:t>	d. ampere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5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B71BCCDD-D61F-25AE-2E4A-256AD4BF8256}"/>
              </a:ext>
            </a:extLst>
          </p:cNvPr>
          <p:cNvSpPr/>
          <p:nvPr/>
        </p:nvSpPr>
        <p:spPr>
          <a:xfrm>
            <a:off x="609603" y="990596"/>
            <a:ext cx="8153403" cy="5257800"/>
          </a:xfrm>
          <a:prstGeom prst="rect">
            <a:avLst/>
          </a:prstGeom>
          <a:solidFill>
            <a:srgbClr val="FFCC66"/>
          </a:solidFill>
          <a:ln w="9528" cap="flat">
            <a:solidFill>
              <a:srgbClr val="000000"/>
            </a:solidFill>
            <a:prstDash val="solid"/>
            <a:miter/>
          </a:ln>
        </p:spPr>
        <p:txBody>
          <a:bodyPr vert="horz" wrap="none" lIns="91440" tIns="45720" rIns="91440" bIns="4572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240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</a:endParaRP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A111D917-F43B-0782-2769-1CA715B40196}"/>
              </a:ext>
            </a:extLst>
          </p:cNvPr>
          <p:cNvSpPr/>
          <p:nvPr/>
        </p:nvSpPr>
        <p:spPr>
          <a:xfrm>
            <a:off x="3886200" y="457200"/>
            <a:ext cx="1447796" cy="685800"/>
          </a:xfrm>
          <a:prstGeom prst="rect">
            <a:avLst/>
          </a:prstGeom>
          <a:solidFill>
            <a:srgbClr val="969696"/>
          </a:solidFill>
          <a:ln w="9528" cap="flat">
            <a:solidFill>
              <a:srgbClr val="000000"/>
            </a:solidFill>
            <a:prstDash val="solid"/>
            <a:miter/>
          </a:ln>
        </p:spPr>
        <p:txBody>
          <a:bodyPr vert="horz" wrap="non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3600" b="0" i="0" u="none" strike="noStrike" kern="1200" cap="none" spc="0" baseline="0">
                <a:solidFill>
                  <a:srgbClr val="0000FF"/>
                </a:solidFill>
                <a:uFillTx/>
                <a:latin typeface="Times New Roman" pitchFamily="18"/>
              </a:rPr>
              <a:t>Quiz</a:t>
            </a:r>
          </a:p>
        </p:txBody>
      </p:sp>
      <p:sp>
        <p:nvSpPr>
          <p:cNvPr id="4" name="Text Box 5">
            <a:extLst>
              <a:ext uri="{FF2B5EF4-FFF2-40B4-BE49-F238E27FC236}">
                <a16:creationId xmlns:a16="http://schemas.microsoft.com/office/drawing/2014/main" id="{2ECC9F6C-7E24-E324-6F43-488724988C40}"/>
              </a:ext>
            </a:extLst>
          </p:cNvPr>
          <p:cNvSpPr txBox="1"/>
          <p:nvPr/>
        </p:nvSpPr>
        <p:spPr>
          <a:xfrm>
            <a:off x="914400" y="2057400"/>
            <a:ext cx="7315200" cy="3560765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400" b="0" i="0" u="none" strike="noStrike" kern="1200" cap="none" spc="0" baseline="0">
                <a:solidFill>
                  <a:srgbClr val="000000"/>
                </a:solidFill>
                <a:uFillTx/>
                <a:latin typeface="Times New Roman" pitchFamily="18"/>
              </a:rPr>
              <a:t>8. A four-color resistor with the color bands gray-red-black-gold is 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400" b="0" i="0" u="none" strike="noStrike" kern="1200" cap="none" spc="0" baseline="0">
                <a:solidFill>
                  <a:srgbClr val="000000"/>
                </a:solidFill>
                <a:uFillTx/>
                <a:latin typeface="Times New Roman" pitchFamily="18"/>
              </a:rPr>
              <a:t>	a. 73 </a:t>
            </a:r>
            <a:r>
              <a:rPr lang="en-US" sz="2400" b="0" i="0" u="none" strike="noStrike" kern="1200" cap="none" spc="0" baseline="0">
                <a:solidFill>
                  <a:srgbClr val="000000"/>
                </a:solidFill>
                <a:uFillTx/>
                <a:latin typeface="Symbol" pitchFamily="18"/>
              </a:rPr>
              <a:t>W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400" b="0" i="0" u="none" strike="noStrike" kern="1200" cap="none" spc="0" baseline="0">
                <a:solidFill>
                  <a:srgbClr val="000000"/>
                </a:solidFill>
                <a:uFillTx/>
                <a:latin typeface="Times New Roman" pitchFamily="18"/>
              </a:rPr>
              <a:t>	b. 82 </a:t>
            </a:r>
            <a:r>
              <a:rPr lang="en-US" sz="2400" b="0" i="0" u="none" strike="noStrike" kern="1200" cap="none" spc="0" baseline="0">
                <a:solidFill>
                  <a:srgbClr val="000000"/>
                </a:solidFill>
                <a:uFillTx/>
                <a:latin typeface="Symbol" pitchFamily="18"/>
              </a:rPr>
              <a:t>W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400" b="0" i="0" u="none" strike="noStrike" kern="1200" cap="none" spc="0" baseline="0">
                <a:solidFill>
                  <a:srgbClr val="000000"/>
                </a:solidFill>
                <a:uFillTx/>
                <a:latin typeface="Times New Roman" pitchFamily="18"/>
              </a:rPr>
              <a:t>	c. 680 </a:t>
            </a:r>
            <a:r>
              <a:rPr lang="en-US" sz="2400" b="0" i="0" u="none" strike="noStrike" kern="1200" cap="none" spc="0" baseline="0">
                <a:solidFill>
                  <a:srgbClr val="000000"/>
                </a:solidFill>
                <a:uFillTx/>
                <a:latin typeface="Symbol" pitchFamily="18"/>
              </a:rPr>
              <a:t>W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400" b="0" i="0" u="none" strike="noStrike" kern="1200" cap="none" spc="0" baseline="0">
                <a:solidFill>
                  <a:srgbClr val="000000"/>
                </a:solidFill>
                <a:uFillTx/>
                <a:latin typeface="Times New Roman" pitchFamily="18"/>
              </a:rPr>
              <a:t>	d. 820 </a:t>
            </a:r>
            <a:r>
              <a:rPr lang="en-US" sz="2400" b="0" i="0" u="none" strike="noStrike" kern="1200" cap="none" spc="0" baseline="0">
                <a:solidFill>
                  <a:srgbClr val="000000"/>
                </a:solidFill>
                <a:uFillTx/>
                <a:latin typeface="Symbol" pitchFamily="18"/>
              </a:rPr>
              <a:t>W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240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5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261093CF-24CB-5B25-B9AD-CCDC962DFECD}"/>
              </a:ext>
            </a:extLst>
          </p:cNvPr>
          <p:cNvSpPr/>
          <p:nvPr/>
        </p:nvSpPr>
        <p:spPr>
          <a:xfrm>
            <a:off x="609603" y="990596"/>
            <a:ext cx="8153403" cy="5257800"/>
          </a:xfrm>
          <a:prstGeom prst="rect">
            <a:avLst/>
          </a:prstGeom>
          <a:solidFill>
            <a:srgbClr val="FFCC66"/>
          </a:solidFill>
          <a:ln w="9528" cap="flat">
            <a:solidFill>
              <a:srgbClr val="000000"/>
            </a:solidFill>
            <a:prstDash val="solid"/>
            <a:miter/>
          </a:ln>
        </p:spPr>
        <p:txBody>
          <a:bodyPr vert="horz" wrap="none" lIns="91440" tIns="45720" rIns="91440" bIns="4572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240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</a:endParaRP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2ACA5A71-1D84-0920-0455-FDB150E89927}"/>
              </a:ext>
            </a:extLst>
          </p:cNvPr>
          <p:cNvSpPr/>
          <p:nvPr/>
        </p:nvSpPr>
        <p:spPr>
          <a:xfrm>
            <a:off x="3886200" y="457200"/>
            <a:ext cx="1447796" cy="685800"/>
          </a:xfrm>
          <a:prstGeom prst="rect">
            <a:avLst/>
          </a:prstGeom>
          <a:solidFill>
            <a:srgbClr val="969696"/>
          </a:solidFill>
          <a:ln w="9528" cap="flat">
            <a:solidFill>
              <a:srgbClr val="000000"/>
            </a:solidFill>
            <a:prstDash val="solid"/>
            <a:miter/>
          </a:ln>
        </p:spPr>
        <p:txBody>
          <a:bodyPr vert="horz" wrap="non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3600" b="0" i="0" u="none" strike="noStrike" kern="1200" cap="none" spc="0" baseline="0">
                <a:solidFill>
                  <a:srgbClr val="0000FF"/>
                </a:solidFill>
                <a:uFillTx/>
                <a:latin typeface="Times New Roman" pitchFamily="18"/>
              </a:rPr>
              <a:t>Quiz</a:t>
            </a:r>
          </a:p>
        </p:txBody>
      </p:sp>
      <p:sp>
        <p:nvSpPr>
          <p:cNvPr id="4" name="Text Box 5">
            <a:extLst>
              <a:ext uri="{FF2B5EF4-FFF2-40B4-BE49-F238E27FC236}">
                <a16:creationId xmlns:a16="http://schemas.microsoft.com/office/drawing/2014/main" id="{875BDEC4-9C0B-1B83-C9B7-658F4918674E}"/>
              </a:ext>
            </a:extLst>
          </p:cNvPr>
          <p:cNvSpPr txBox="1"/>
          <p:nvPr/>
        </p:nvSpPr>
        <p:spPr>
          <a:xfrm>
            <a:off x="914400" y="2057400"/>
            <a:ext cx="7315200" cy="3195635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400" b="0" i="0" u="none" strike="noStrike" kern="1200" cap="none" spc="0" baseline="0">
                <a:solidFill>
                  <a:srgbClr val="000000"/>
                </a:solidFill>
                <a:uFillTx/>
                <a:latin typeface="Times New Roman" pitchFamily="18"/>
              </a:rPr>
              <a:t>9. A 330 k</a:t>
            </a:r>
            <a:r>
              <a:rPr lang="en-US" sz="2400" b="0" i="0" u="none" strike="noStrike" kern="1200" cap="none" spc="0" baseline="0">
                <a:solidFill>
                  <a:srgbClr val="000000"/>
                </a:solidFill>
                <a:uFillTx/>
                <a:latin typeface="Symbol" pitchFamily="18"/>
              </a:rPr>
              <a:t>W</a:t>
            </a:r>
            <a:r>
              <a:rPr lang="en-US" sz="2400" b="0" i="0" u="none" strike="noStrike" kern="1200" cap="none" spc="0" baseline="0">
                <a:solidFill>
                  <a:srgbClr val="000000"/>
                </a:solidFill>
                <a:uFillTx/>
                <a:latin typeface="Times New Roman" pitchFamily="18"/>
              </a:rPr>
              <a:t> </a:t>
            </a:r>
            <a:r>
              <a:rPr lang="en-US" sz="2400" b="0" i="0" u="none" strike="noStrike" kern="1200" cap="none" spc="0" baseline="0">
                <a:solidFill>
                  <a:srgbClr val="000000"/>
                </a:solidFill>
                <a:uFillTx/>
                <a:latin typeface="Times New Roman" pitchFamily="18"/>
                <a:cs typeface="Times New Roman" pitchFamily="18"/>
              </a:rPr>
              <a:t>± 5% resistor has the color bands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400" b="0" i="0" u="none" strike="noStrike" kern="1200" cap="none" spc="0" baseline="0">
                <a:solidFill>
                  <a:srgbClr val="000000"/>
                </a:solidFill>
                <a:uFillTx/>
                <a:latin typeface="Times New Roman" pitchFamily="18"/>
              </a:rPr>
              <a:t>	a. red-red-brown-gold</a:t>
            </a:r>
            <a:endParaRPr lang="en-US" sz="2400" b="0" i="0" u="none" strike="noStrike" kern="1200" cap="none" spc="0" baseline="0">
              <a:solidFill>
                <a:srgbClr val="000000"/>
              </a:solidFill>
              <a:uFillTx/>
              <a:latin typeface="Symbol" pitchFamily="18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400" b="0" i="0" u="none" strike="noStrike" kern="1200" cap="none" spc="0" baseline="0">
                <a:solidFill>
                  <a:srgbClr val="000000"/>
                </a:solidFill>
                <a:uFillTx/>
                <a:latin typeface="Times New Roman" pitchFamily="18"/>
              </a:rPr>
              <a:t>	b. orange-orange-yellow-gold</a:t>
            </a:r>
            <a:endParaRPr lang="en-US" sz="2400" b="0" i="0" u="none" strike="noStrike" kern="1200" cap="none" spc="0" baseline="0">
              <a:solidFill>
                <a:srgbClr val="000000"/>
              </a:solidFill>
              <a:uFillTx/>
              <a:latin typeface="Symbol" pitchFamily="18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400" b="0" i="0" u="none" strike="noStrike" kern="1200" cap="none" spc="0" baseline="0">
                <a:solidFill>
                  <a:srgbClr val="000000"/>
                </a:solidFill>
                <a:uFillTx/>
                <a:latin typeface="Times New Roman" pitchFamily="18"/>
              </a:rPr>
              <a:t>	c. yellow-yellow-red-gold</a:t>
            </a:r>
            <a:endParaRPr lang="en-US" sz="2400" b="0" i="0" u="none" strike="noStrike" kern="1200" cap="none" spc="0" baseline="0">
              <a:solidFill>
                <a:srgbClr val="000000"/>
              </a:solidFill>
              <a:uFillTx/>
              <a:latin typeface="Symbol" pitchFamily="18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400" b="0" i="0" u="none" strike="noStrike" kern="1200" cap="none" spc="0" baseline="0">
                <a:solidFill>
                  <a:srgbClr val="000000"/>
                </a:solidFill>
                <a:uFillTx/>
                <a:latin typeface="Times New Roman" pitchFamily="18"/>
              </a:rPr>
              <a:t>	d. yellow-yellow-green-gold</a:t>
            </a:r>
            <a:endParaRPr lang="en-US" sz="2400" b="0" i="0" u="none" strike="noStrike" kern="1200" cap="none" spc="0" baseline="0">
              <a:solidFill>
                <a:srgbClr val="000000"/>
              </a:solidFill>
              <a:uFillTx/>
              <a:latin typeface="Symbol" pitchFamily="18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240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5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F2D28AE5-92EC-C916-D078-AA19AFC05F6F}"/>
              </a:ext>
            </a:extLst>
          </p:cNvPr>
          <p:cNvSpPr/>
          <p:nvPr/>
        </p:nvSpPr>
        <p:spPr>
          <a:xfrm>
            <a:off x="609603" y="990596"/>
            <a:ext cx="8153403" cy="5257800"/>
          </a:xfrm>
          <a:prstGeom prst="rect">
            <a:avLst/>
          </a:prstGeom>
          <a:solidFill>
            <a:srgbClr val="FFCC66"/>
          </a:solidFill>
          <a:ln w="9528" cap="flat">
            <a:solidFill>
              <a:srgbClr val="000000"/>
            </a:solidFill>
            <a:prstDash val="solid"/>
            <a:miter/>
          </a:ln>
        </p:spPr>
        <p:txBody>
          <a:bodyPr vert="horz" wrap="none" lIns="91440" tIns="45720" rIns="91440" bIns="4572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240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</a:endParaRP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B28D81C3-DFFC-6867-C568-8A628C2595CD}"/>
              </a:ext>
            </a:extLst>
          </p:cNvPr>
          <p:cNvSpPr/>
          <p:nvPr/>
        </p:nvSpPr>
        <p:spPr>
          <a:xfrm>
            <a:off x="3886200" y="457200"/>
            <a:ext cx="1447796" cy="685800"/>
          </a:xfrm>
          <a:prstGeom prst="rect">
            <a:avLst/>
          </a:prstGeom>
          <a:solidFill>
            <a:srgbClr val="969696"/>
          </a:solidFill>
          <a:ln w="9528" cap="flat">
            <a:solidFill>
              <a:srgbClr val="000000"/>
            </a:solidFill>
            <a:prstDash val="solid"/>
            <a:miter/>
          </a:ln>
        </p:spPr>
        <p:txBody>
          <a:bodyPr vert="horz" wrap="non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3600" b="0" i="0" u="none" strike="noStrike" kern="1200" cap="none" spc="0" baseline="0">
                <a:solidFill>
                  <a:srgbClr val="0000FF"/>
                </a:solidFill>
                <a:uFillTx/>
                <a:latin typeface="Times New Roman" pitchFamily="18"/>
              </a:rPr>
              <a:t>Quiz</a:t>
            </a:r>
          </a:p>
        </p:txBody>
      </p:sp>
      <p:sp>
        <p:nvSpPr>
          <p:cNvPr id="4" name="Text Box 5">
            <a:extLst>
              <a:ext uri="{FF2B5EF4-FFF2-40B4-BE49-F238E27FC236}">
                <a16:creationId xmlns:a16="http://schemas.microsoft.com/office/drawing/2014/main" id="{559EE8AB-A92E-AF84-2D6F-B5A19A85BA12}"/>
              </a:ext>
            </a:extLst>
          </p:cNvPr>
          <p:cNvSpPr txBox="1"/>
          <p:nvPr/>
        </p:nvSpPr>
        <p:spPr>
          <a:xfrm>
            <a:off x="914400" y="2057400"/>
            <a:ext cx="7315200" cy="3195635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400" b="0" i="0" u="none" strike="noStrike" kern="1200" cap="none" spc="0" baseline="0">
                <a:solidFill>
                  <a:srgbClr val="000000"/>
                </a:solidFill>
                <a:uFillTx/>
                <a:latin typeface="Times New Roman" pitchFamily="18"/>
              </a:rPr>
              <a:t>10. The circular mil is a unit of 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400" b="0" i="0" u="none" strike="noStrike" kern="1200" cap="none" spc="0" baseline="0">
                <a:solidFill>
                  <a:srgbClr val="000000"/>
                </a:solidFill>
                <a:uFillTx/>
                <a:latin typeface="Times New Roman" pitchFamily="18"/>
              </a:rPr>
              <a:t>	a. length</a:t>
            </a:r>
            <a:endParaRPr lang="en-US" sz="2400" b="0" i="0" u="none" strike="noStrike" kern="1200" cap="none" spc="0" baseline="30000">
              <a:solidFill>
                <a:srgbClr val="000000"/>
              </a:solidFill>
              <a:uFillTx/>
              <a:latin typeface="Times New Roman" pitchFamily="18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400" b="0" i="0" u="none" strike="noStrike" kern="1200" cap="none" spc="0" baseline="0">
                <a:solidFill>
                  <a:srgbClr val="000000"/>
                </a:solidFill>
                <a:uFillTx/>
                <a:latin typeface="Times New Roman" pitchFamily="18"/>
              </a:rPr>
              <a:t>	b. area</a:t>
            </a:r>
            <a:endParaRPr lang="en-US" sz="2400" b="0" i="0" u="none" strike="noStrike" kern="1200" cap="none" spc="0" baseline="30000">
              <a:solidFill>
                <a:srgbClr val="000000"/>
              </a:solidFill>
              <a:uFillTx/>
              <a:latin typeface="Times New Roman" pitchFamily="18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400" b="0" i="0" u="none" strike="noStrike" kern="1200" cap="none" spc="0" baseline="0">
                <a:solidFill>
                  <a:srgbClr val="000000"/>
                </a:solidFill>
                <a:uFillTx/>
                <a:latin typeface="Times New Roman" pitchFamily="18"/>
              </a:rPr>
              <a:t>	c. volume</a:t>
            </a:r>
            <a:endParaRPr lang="en-US" sz="2400" b="0" i="0" u="none" strike="noStrike" kern="1200" cap="none" spc="0" baseline="30000">
              <a:solidFill>
                <a:srgbClr val="000000"/>
              </a:solidFill>
              <a:uFillTx/>
              <a:latin typeface="Times New Roman" pitchFamily="18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400" b="0" i="0" u="none" strike="noStrike" kern="1200" cap="none" spc="0" baseline="0">
                <a:solidFill>
                  <a:srgbClr val="000000"/>
                </a:solidFill>
                <a:uFillTx/>
                <a:latin typeface="Times New Roman" pitchFamily="18"/>
              </a:rPr>
              <a:t>	d. resistance</a:t>
            </a:r>
            <a:endParaRPr lang="en-US" sz="2400" b="0" i="0" u="none" strike="noStrike" kern="1200" cap="none" spc="0" baseline="30000">
              <a:solidFill>
                <a:srgbClr val="000000"/>
              </a:solidFill>
              <a:uFillTx/>
              <a:latin typeface="Times New Roman" pitchFamily="18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240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6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186B8EC2-4EE2-5D5B-259D-D9B62AE761E7}"/>
              </a:ext>
            </a:extLst>
          </p:cNvPr>
          <p:cNvSpPr/>
          <p:nvPr/>
        </p:nvSpPr>
        <p:spPr>
          <a:xfrm>
            <a:off x="609603" y="990596"/>
            <a:ext cx="8153403" cy="5257800"/>
          </a:xfrm>
          <a:prstGeom prst="rect">
            <a:avLst/>
          </a:prstGeom>
          <a:solidFill>
            <a:srgbClr val="FFCC66"/>
          </a:solidFill>
          <a:ln w="9528" cap="flat">
            <a:solidFill>
              <a:srgbClr val="000000"/>
            </a:solidFill>
            <a:prstDash val="solid"/>
            <a:miter/>
          </a:ln>
        </p:spPr>
        <p:txBody>
          <a:bodyPr vert="horz" wrap="none" lIns="91440" tIns="45720" rIns="91440" bIns="4572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240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</a:endParaRP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8492D832-4A2F-192F-BC8F-249A88CEA5BD}"/>
              </a:ext>
            </a:extLst>
          </p:cNvPr>
          <p:cNvSpPr/>
          <p:nvPr/>
        </p:nvSpPr>
        <p:spPr>
          <a:xfrm>
            <a:off x="3886200" y="457200"/>
            <a:ext cx="1447796" cy="685800"/>
          </a:xfrm>
          <a:prstGeom prst="rect">
            <a:avLst/>
          </a:prstGeom>
          <a:solidFill>
            <a:srgbClr val="969696"/>
          </a:solidFill>
          <a:ln w="9528" cap="flat">
            <a:solidFill>
              <a:srgbClr val="000000"/>
            </a:solidFill>
            <a:prstDash val="solid"/>
            <a:miter/>
          </a:ln>
        </p:spPr>
        <p:txBody>
          <a:bodyPr vert="horz" wrap="non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3600" b="0" i="0" u="none" strike="noStrike" kern="1200" cap="none" spc="0" baseline="0">
                <a:solidFill>
                  <a:srgbClr val="0000FF"/>
                </a:solidFill>
                <a:uFillTx/>
                <a:latin typeface="Times New Roman" pitchFamily="18"/>
              </a:rPr>
              <a:t>Quiz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2E71ADE9-D3F4-1FAC-3FFA-B4A8C490FD77}"/>
              </a:ext>
            </a:extLst>
          </p:cNvPr>
          <p:cNvSpPr/>
          <p:nvPr/>
        </p:nvSpPr>
        <p:spPr>
          <a:xfrm>
            <a:off x="3200400" y="1981203"/>
            <a:ext cx="2819396" cy="3429000"/>
          </a:xfrm>
          <a:prstGeom prst="rect">
            <a:avLst/>
          </a:prstGeom>
          <a:solidFill>
            <a:srgbClr val="FFFF66"/>
          </a:solidFill>
          <a:ln w="9528" cap="flat">
            <a:solidFill>
              <a:srgbClr val="000000"/>
            </a:solidFill>
            <a:prstDash val="solid"/>
            <a:miter/>
          </a:ln>
        </p:spPr>
        <p:txBody>
          <a:bodyPr vert="horz" wrap="none" lIns="91440" tIns="45720" rIns="91440" bIns="4572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240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</a:endParaRPr>
          </a:p>
        </p:txBody>
      </p:sp>
      <p:sp>
        <p:nvSpPr>
          <p:cNvPr id="5" name="Text Box 7">
            <a:extLst>
              <a:ext uri="{FF2B5EF4-FFF2-40B4-BE49-F238E27FC236}">
                <a16:creationId xmlns:a16="http://schemas.microsoft.com/office/drawing/2014/main" id="{2B919902-A6BB-347C-2A34-17119C537635}"/>
              </a:ext>
            </a:extLst>
          </p:cNvPr>
          <p:cNvSpPr txBox="1"/>
          <p:nvPr/>
        </p:nvSpPr>
        <p:spPr>
          <a:xfrm>
            <a:off x="3657600" y="2057400"/>
            <a:ext cx="1828800" cy="3195635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400" b="0" i="0" u="none" strike="noStrike" kern="1200" cap="none" spc="0" baseline="0">
                <a:solidFill>
                  <a:srgbClr val="000000"/>
                </a:solidFill>
                <a:uFillTx/>
                <a:latin typeface="Times New Roman" pitchFamily="18"/>
              </a:rPr>
              <a:t>Answers: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400" b="0" i="0" u="none" strike="noStrike" kern="1200" cap="none" spc="0" baseline="0">
                <a:solidFill>
                  <a:srgbClr val="000000"/>
                </a:solidFill>
                <a:uFillTx/>
                <a:latin typeface="Times New Roman" pitchFamily="18"/>
              </a:rPr>
              <a:t>1.  a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400" b="0" i="0" u="none" strike="noStrike" kern="1200" cap="none" spc="0" baseline="0">
                <a:solidFill>
                  <a:srgbClr val="000000"/>
                </a:solidFill>
                <a:uFillTx/>
                <a:latin typeface="Times New Roman" pitchFamily="18"/>
              </a:rPr>
              <a:t>2.  d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400" b="0" i="0" u="none" strike="noStrike" kern="1200" cap="none" spc="0" baseline="0">
                <a:solidFill>
                  <a:srgbClr val="000000"/>
                </a:solidFill>
                <a:uFillTx/>
                <a:latin typeface="Times New Roman" pitchFamily="18"/>
              </a:rPr>
              <a:t>3.  b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400" b="0" i="0" u="none" strike="noStrike" kern="1200" cap="none" spc="0" baseline="0">
                <a:solidFill>
                  <a:srgbClr val="000000"/>
                </a:solidFill>
                <a:uFillTx/>
                <a:latin typeface="Times New Roman" pitchFamily="18"/>
              </a:rPr>
              <a:t>4.  c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400" b="0" i="0" u="none" strike="noStrike" kern="1200" cap="none" spc="0" baseline="0">
                <a:solidFill>
                  <a:srgbClr val="000000"/>
                </a:solidFill>
                <a:uFillTx/>
                <a:latin typeface="Times New Roman" pitchFamily="18"/>
              </a:rPr>
              <a:t>5.  c</a:t>
            </a:r>
          </a:p>
        </p:txBody>
      </p:sp>
      <p:sp>
        <p:nvSpPr>
          <p:cNvPr id="6" name="Text Box 8">
            <a:extLst>
              <a:ext uri="{FF2B5EF4-FFF2-40B4-BE49-F238E27FC236}">
                <a16:creationId xmlns:a16="http://schemas.microsoft.com/office/drawing/2014/main" id="{9FEB8DC7-21B3-42DA-E592-79BD1E08D71E}"/>
              </a:ext>
            </a:extLst>
          </p:cNvPr>
          <p:cNvSpPr txBox="1"/>
          <p:nvPr/>
        </p:nvSpPr>
        <p:spPr>
          <a:xfrm>
            <a:off x="4800600" y="2590796"/>
            <a:ext cx="1752603" cy="3195635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400" b="0" i="0" u="none" strike="noStrike" kern="1200" cap="none" spc="0" baseline="0">
                <a:solidFill>
                  <a:srgbClr val="000000"/>
                </a:solidFill>
                <a:uFillTx/>
                <a:latin typeface="Times New Roman" pitchFamily="18"/>
              </a:rPr>
              <a:t>6.  d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400" b="0" i="0" u="none" strike="noStrike" kern="1200" cap="none" spc="0" baseline="0">
                <a:solidFill>
                  <a:srgbClr val="000000"/>
                </a:solidFill>
                <a:uFillTx/>
                <a:latin typeface="Times New Roman" pitchFamily="18"/>
              </a:rPr>
              <a:t>7.  c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400" b="0" i="0" u="none" strike="noStrike" kern="1200" cap="none" spc="0" baseline="0">
                <a:solidFill>
                  <a:srgbClr val="000000"/>
                </a:solidFill>
                <a:uFillTx/>
                <a:latin typeface="Times New Roman" pitchFamily="18"/>
              </a:rPr>
              <a:t>8.  b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400" b="0" i="0" u="none" strike="noStrike" kern="1200" cap="none" spc="0" baseline="0">
                <a:solidFill>
                  <a:srgbClr val="000000"/>
                </a:solidFill>
                <a:uFillTx/>
                <a:latin typeface="Times New Roman" pitchFamily="18"/>
              </a:rPr>
              <a:t>9.  b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400" b="0" i="0" u="none" strike="noStrike" kern="1200" cap="none" spc="0" baseline="0">
                <a:solidFill>
                  <a:srgbClr val="000000"/>
                </a:solidFill>
                <a:uFillTx/>
                <a:latin typeface="Times New Roman" pitchFamily="18"/>
              </a:rPr>
              <a:t>10. b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240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</a:endParaRPr>
          </a:p>
        </p:txBody>
      </p:sp>
    </p:spTree>
  </p:cSld>
  <p:clrMapOvr>
    <a:masterClrMapping/>
  </p:clrMapOvr>
  <p:transition>
    <p:wheel spokes="2"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B9BC45D-B990-3B52-9845-4A20CD5A661B}"/>
              </a:ext>
            </a:extLst>
          </p:cNvPr>
          <p:cNvSpPr txBox="1"/>
          <p:nvPr/>
        </p:nvSpPr>
        <p:spPr>
          <a:xfrm>
            <a:off x="504967" y="491319"/>
            <a:ext cx="3565720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b="1" dirty="0"/>
              <a:t>HOME WORK</a:t>
            </a:r>
            <a:endParaRPr lang="en-GB" sz="44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E202E15-AEBA-2D5F-B4AE-B6A54E9B7E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749" y="1467347"/>
            <a:ext cx="7604191" cy="29729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470805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3F528B6-F0B2-7CE9-907F-168DFD4DA4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143" y="278003"/>
            <a:ext cx="8029575" cy="31509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5384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9638</TotalTime>
  <Words>1278</Words>
  <Application>Microsoft Office PowerPoint</Application>
  <PresentationFormat>Widescreen</PresentationFormat>
  <Paragraphs>199</Paragraphs>
  <Slides>36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0</vt:i4>
      </vt:variant>
      <vt:variant>
        <vt:lpstr>Slide Titles</vt:lpstr>
      </vt:variant>
      <vt:variant>
        <vt:i4>36</vt:i4>
      </vt:variant>
    </vt:vector>
  </HeadingPairs>
  <TitlesOfParts>
    <vt:vector size="45" baseType="lpstr">
      <vt:lpstr>Aptos</vt:lpstr>
      <vt:lpstr>Aptos Display</vt:lpstr>
      <vt:lpstr>Arial</vt:lpstr>
      <vt:lpstr>Impact</vt:lpstr>
      <vt:lpstr>Symbol</vt:lpstr>
      <vt:lpstr>Times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David  Buchla</dc:creator>
  <cp:lastModifiedBy>Shahid Mehmood</cp:lastModifiedBy>
  <cp:revision>64</cp:revision>
  <dcterms:created xsi:type="dcterms:W3CDTF">2002-10-13T15:29:44Z</dcterms:created>
  <dcterms:modified xsi:type="dcterms:W3CDTF">2026-10-06T11:22:00Z</dcterms:modified>
</cp:coreProperties>
</file>