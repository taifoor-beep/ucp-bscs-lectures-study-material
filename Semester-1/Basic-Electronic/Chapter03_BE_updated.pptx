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sldIdLst>
    <p:sldId id="283" r:id="rId2"/>
    <p:sldId id="333" r:id="rId3"/>
    <p:sldId id="285" r:id="rId4"/>
    <p:sldId id="331" r:id="rId5"/>
    <p:sldId id="332" r:id="rId6"/>
    <p:sldId id="340" r:id="rId7"/>
    <p:sldId id="334" r:id="rId8"/>
    <p:sldId id="335" r:id="rId9"/>
    <p:sldId id="342" r:id="rId10"/>
    <p:sldId id="256" r:id="rId11"/>
    <p:sldId id="336" r:id="rId12"/>
    <p:sldId id="337" r:id="rId13"/>
    <p:sldId id="338" r:id="rId14"/>
    <p:sldId id="297" r:id="rId15"/>
    <p:sldId id="305" r:id="rId16"/>
    <p:sldId id="298" r:id="rId17"/>
    <p:sldId id="306" r:id="rId18"/>
    <p:sldId id="312" r:id="rId19"/>
    <p:sldId id="314" r:id="rId20"/>
    <p:sldId id="299" r:id="rId21"/>
    <p:sldId id="300" r:id="rId22"/>
    <p:sldId id="339" r:id="rId23"/>
    <p:sldId id="308" r:id="rId24"/>
    <p:sldId id="309" r:id="rId25"/>
    <p:sldId id="315" r:id="rId26"/>
    <p:sldId id="341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4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FF0000"/>
    <a:srgbClr val="C0C0C0"/>
    <a:srgbClr val="0066FF"/>
    <a:srgbClr val="777777"/>
    <a:srgbClr val="FFFFCC"/>
    <a:srgbClr val="66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35" autoAdjust="0"/>
    <p:restoredTop sz="94660"/>
  </p:normalViewPr>
  <p:slideViewPr>
    <p:cSldViewPr>
      <p:cViewPr varScale="1">
        <p:scale>
          <a:sx n="65" d="100"/>
          <a:sy n="65" d="100"/>
        </p:scale>
        <p:origin x="1566" y="60"/>
      </p:cViewPr>
      <p:guideLst>
        <p:guide orient="horz" pos="2160"/>
        <p:guide pos="1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2A38AAD4-AF7C-46F8-3F6A-837ACA1CAD0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286000"/>
            <a:ext cx="77724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05F54AD0-2326-3632-2A97-F26957D9D7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 sz="36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55652" name="Rectangle 4">
            <a:extLst>
              <a:ext uri="{FF2B5EF4-FFF2-40B4-BE49-F238E27FC236}">
                <a16:creationId xmlns:a16="http://schemas.microsoft.com/office/drawing/2014/main" id="{E6366B40-78F0-CFDA-E86A-EECA48F0238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55653" name="Rectangle 5">
            <a:extLst>
              <a:ext uri="{FF2B5EF4-FFF2-40B4-BE49-F238E27FC236}">
                <a16:creationId xmlns:a16="http://schemas.microsoft.com/office/drawing/2014/main" id="{2BB16B77-B89F-10B2-1512-F67E031151E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F2034E21-E0D9-35AB-CC1E-4DA9778B8C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529DD02B-A187-49FB-AD90-B3B35738791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5655" name="Rectangle 7">
            <a:extLst>
              <a:ext uri="{FF2B5EF4-FFF2-40B4-BE49-F238E27FC236}">
                <a16:creationId xmlns:a16="http://schemas.microsoft.com/office/drawing/2014/main" id="{89A20DF2-B6F8-E6BD-74B4-C4F8A18B5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2400" y="6477000"/>
            <a:ext cx="342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400" b="1" i="1">
                <a:solidFill>
                  <a:srgbClr val="0066FF"/>
                </a:solidFill>
                <a:latin typeface="Arial" panose="020B0604020202020204" pitchFamily="34" charset="0"/>
              </a:rPr>
              <a:t>Principles of Electric Circuits - Floyd</a:t>
            </a:r>
          </a:p>
        </p:txBody>
      </p:sp>
      <p:sp>
        <p:nvSpPr>
          <p:cNvPr id="155656" name="Rectangle 8">
            <a:extLst>
              <a:ext uri="{FF2B5EF4-FFF2-40B4-BE49-F238E27FC236}">
                <a16:creationId xmlns:a16="http://schemas.microsoft.com/office/drawing/2014/main" id="{05942C53-909C-A69D-8103-BC0B469A2C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48400" y="64770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400" b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altLang="en-US" sz="1400" b="1">
                <a:solidFill>
                  <a:srgbClr val="0066FF"/>
                </a:solidFill>
                <a:latin typeface="Times" panose="02020603050405020304" pitchFamily="18" charset="0"/>
              </a:rPr>
              <a:t> </a:t>
            </a:r>
            <a:r>
              <a:rPr lang="en-US" altLang="en-US" sz="1400" b="1">
                <a:solidFill>
                  <a:srgbClr val="0066FF"/>
                </a:solidFill>
                <a:latin typeface="Arial" panose="020B0604020202020204" pitchFamily="34" charset="0"/>
              </a:rPr>
              <a:t>Copyright 2006 Prentice-Hall</a:t>
            </a:r>
          </a:p>
        </p:txBody>
      </p:sp>
      <p:sp>
        <p:nvSpPr>
          <p:cNvPr id="155657" name="Rectangle 9">
            <a:extLst>
              <a:ext uri="{FF2B5EF4-FFF2-40B4-BE49-F238E27FC236}">
                <a16:creationId xmlns:a16="http://schemas.microsoft.com/office/drawing/2014/main" id="{E1248A9F-9FF3-4031-FD05-C9C271F8C5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00" y="914400"/>
            <a:ext cx="8153400" cy="5486400"/>
          </a:xfrm>
          <a:prstGeom prst="rect">
            <a:avLst/>
          </a:prstGeom>
          <a:gradFill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path path="shape">
              <a:fillToRect l="50000" t="50000" r="50000" b="50000"/>
            </a:path>
          </a:gradFill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5658" name="Rectangle 10">
            <a:extLst>
              <a:ext uri="{FF2B5EF4-FFF2-40B4-BE49-F238E27FC236}">
                <a16:creationId xmlns:a16="http://schemas.microsoft.com/office/drawing/2014/main" id="{22F5000E-6635-C821-BB86-50BE8F852B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" y="146050"/>
            <a:ext cx="2209800" cy="685800"/>
          </a:xfrm>
          <a:prstGeom prst="rect">
            <a:avLst/>
          </a:prstGeom>
          <a:gradFill rotWithShape="0">
            <a:gsLst>
              <a:gs pos="0">
                <a:srgbClr val="996633"/>
              </a:gs>
              <a:gs pos="50000">
                <a:srgbClr val="FFB727"/>
              </a:gs>
              <a:gs pos="100000">
                <a:srgbClr val="996633"/>
              </a:gs>
            </a:gsLst>
            <a:lin ang="27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5659" name="Text Box 11">
            <a:extLst>
              <a:ext uri="{FF2B5EF4-FFF2-40B4-BE49-F238E27FC236}">
                <a16:creationId xmlns:a16="http://schemas.microsoft.com/office/drawing/2014/main" id="{980AE0FC-44BE-21B0-C549-B203D49044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4800" y="152400"/>
            <a:ext cx="2209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Chapter 3</a:t>
            </a:r>
          </a:p>
        </p:txBody>
      </p:sp>
      <p:sp>
        <p:nvSpPr>
          <p:cNvPr id="155660" name="Rectangle 12">
            <a:extLst>
              <a:ext uri="{FF2B5EF4-FFF2-40B4-BE49-F238E27FC236}">
                <a16:creationId xmlns:a16="http://schemas.microsoft.com/office/drawing/2014/main" id="{98389453-C38D-A80B-8407-89805974028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BC6E5-4FE8-4B12-4B12-C9B32EA9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A49C1-CFCD-CB1F-B969-D64D697F2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988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083EA-A671-645D-C56A-088496010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7F4E1-41F6-E5F8-2D56-51E441DDB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6492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46C4F-937F-D8B5-D2A2-0D428226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FD070-A5C8-B640-B448-121EE9D6B2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C8DC5-02FF-E2FE-2AB9-8C1754713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980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5067E-5FD6-6B98-41BE-3CAD38310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BBB34-FEE3-33B1-8030-65CC02DE7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5B7E3-DEC4-15D4-A4A6-ACAB9C3F2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EA670-1D0A-D668-60EF-98C8115934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75C89-D033-7EEF-510B-E534FF663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510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37E88-A6EC-C0C1-D88A-AB67C1B20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484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82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01B8B-D273-7CDE-4AD9-675218702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4E516-E77B-42E9-4A9E-9FCE983BE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C36C1-50F2-6768-92F4-A5E132016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3613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31A1E-B777-8928-F962-F828FEB08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F57646-8619-2439-9EC3-A61086787D2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46AA1-E448-EAE3-BFDF-8B8A55A55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715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E33D6-19D0-382F-E9D3-30D894C0C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2BF4D-B8D0-99E4-76A5-8AC056DB2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514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607A2F-4012-1642-E946-05B6ADEAAE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D6ABB-C0AF-63E2-973A-5052670E9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43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1" name="Rectangle 7">
            <a:extLst>
              <a:ext uri="{FF2B5EF4-FFF2-40B4-BE49-F238E27FC236}">
                <a16:creationId xmlns:a16="http://schemas.microsoft.com/office/drawing/2014/main" id="{E9965C01-2820-F6BC-EB83-738C1E3544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" y="6400800"/>
            <a:ext cx="342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400" b="1" i="1">
                <a:solidFill>
                  <a:srgbClr val="0066FF"/>
                </a:solidFill>
                <a:latin typeface="Arial" panose="020B0604020202020204" pitchFamily="34" charset="0"/>
              </a:rPr>
              <a:t>Principles of Electric Circuits - Floyd</a:t>
            </a:r>
          </a:p>
        </p:txBody>
      </p:sp>
      <p:sp>
        <p:nvSpPr>
          <p:cNvPr id="154632" name="Rectangle 8">
            <a:extLst>
              <a:ext uri="{FF2B5EF4-FFF2-40B4-BE49-F238E27FC236}">
                <a16:creationId xmlns:a16="http://schemas.microsoft.com/office/drawing/2014/main" id="{E40C54AA-1A47-4BA0-1509-88F6975D3E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96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400" b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altLang="en-US" sz="1400" b="1">
                <a:solidFill>
                  <a:srgbClr val="0066FF"/>
                </a:solidFill>
                <a:latin typeface="Times" panose="02020603050405020304" pitchFamily="18" charset="0"/>
              </a:rPr>
              <a:t> </a:t>
            </a:r>
            <a:r>
              <a:rPr lang="en-US" altLang="en-US" sz="1400" b="1">
                <a:solidFill>
                  <a:srgbClr val="0066FF"/>
                </a:solidFill>
                <a:latin typeface="Arial" panose="020B0604020202020204" pitchFamily="34" charset="0"/>
              </a:rPr>
              <a:t>Copyright 2006 Prentice-Hall</a:t>
            </a:r>
          </a:p>
        </p:txBody>
      </p:sp>
      <p:sp>
        <p:nvSpPr>
          <p:cNvPr id="154633" name="Rectangle 9">
            <a:extLst>
              <a:ext uri="{FF2B5EF4-FFF2-40B4-BE49-F238E27FC236}">
                <a16:creationId xmlns:a16="http://schemas.microsoft.com/office/drawing/2014/main" id="{D4DAA70D-3D38-C57A-EB56-BE07D4DAF9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9600" y="990600"/>
            <a:ext cx="8153400" cy="5257800"/>
          </a:xfrm>
          <a:prstGeom prst="rect">
            <a:avLst/>
          </a:prstGeom>
          <a:gradFill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path path="shape">
              <a:fillToRect l="50000" t="50000" r="50000" b="50000"/>
            </a:path>
          </a:gradFill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4634" name="Rectangle 10">
            <a:extLst>
              <a:ext uri="{FF2B5EF4-FFF2-40B4-BE49-F238E27FC236}">
                <a16:creationId xmlns:a16="http://schemas.microsoft.com/office/drawing/2014/main" id="{4E77199F-F9C5-60F3-A849-08C73F6280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" y="146050"/>
            <a:ext cx="2209800" cy="685800"/>
          </a:xfrm>
          <a:prstGeom prst="rect">
            <a:avLst/>
          </a:prstGeom>
          <a:gradFill rotWithShape="0">
            <a:gsLst>
              <a:gs pos="0">
                <a:srgbClr val="996633"/>
              </a:gs>
              <a:gs pos="50000">
                <a:srgbClr val="FFB727"/>
              </a:gs>
              <a:gs pos="100000">
                <a:srgbClr val="996633"/>
              </a:gs>
            </a:gsLst>
            <a:lin ang="27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4635" name="Text Box 11">
            <a:extLst>
              <a:ext uri="{FF2B5EF4-FFF2-40B4-BE49-F238E27FC236}">
                <a16:creationId xmlns:a16="http://schemas.microsoft.com/office/drawing/2014/main" id="{951E63F9-292B-EB19-9651-19B6EB2236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4800" y="152400"/>
            <a:ext cx="2209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Chapter 3</a:t>
            </a:r>
          </a:p>
        </p:txBody>
      </p:sp>
      <p:sp>
        <p:nvSpPr>
          <p:cNvPr id="154636" name="Rectangle 12">
            <a:extLst>
              <a:ext uri="{FF2B5EF4-FFF2-40B4-BE49-F238E27FC236}">
                <a16:creationId xmlns:a16="http://schemas.microsoft.com/office/drawing/2014/main" id="{F3225467-C02B-45C3-E640-BDFAE215C50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8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1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6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4" Type="http://schemas.openxmlformats.org/officeDocument/2006/relationships/image" Target="../media/image18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Relationship Id="rId4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41" name="Picture 5">
            <a:extLst>
              <a:ext uri="{FF2B5EF4-FFF2-40B4-BE49-F238E27FC236}">
                <a16:creationId xmlns:a16="http://schemas.microsoft.com/office/drawing/2014/main" id="{9EDA7E76-9686-BDDC-1DB0-FD77944C7853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942" name="Text Box 6">
            <a:extLst>
              <a:ext uri="{FF2B5EF4-FFF2-40B4-BE49-F238E27FC236}">
                <a16:creationId xmlns:a16="http://schemas.microsoft.com/office/drawing/2014/main" id="{7255AB79-6CC0-70DF-371F-C8DE6D055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435475"/>
            <a:ext cx="2209800" cy="669925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33CC33"/>
              </a:gs>
            </a:gsLst>
            <a:lin ang="2700000" scaled="1"/>
          </a:gra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600" b="1">
                <a:solidFill>
                  <a:srgbClr val="FFFFFF"/>
                </a:solidFill>
              </a:rPr>
              <a:t>Chapter 3</a:t>
            </a:r>
          </a:p>
        </p:txBody>
      </p:sp>
    </p:spTree>
    <p:custDataLst>
      <p:tags r:id="rId1"/>
    </p:custDataLst>
  </p:cSld>
  <p:clrMapOvr>
    <a:masterClrMapping/>
  </p:clrMapOvr>
  <p:transition>
    <p:diamond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F40D0167-D589-18B2-3E81-2ACD1878D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57200"/>
            <a:ext cx="19812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220172" name="Text Box 12">
            <a:extLst>
              <a:ext uri="{FF2B5EF4-FFF2-40B4-BE49-F238E27FC236}">
                <a16:creationId xmlns:a16="http://schemas.microsoft.com/office/drawing/2014/main" id="{9172C3C8-BA55-003A-8D96-649C44D04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4384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i="1">
                <a:latin typeface="Times" panose="02020603050405020304" pitchFamily="18" charset="0"/>
                <a:cs typeface="Times New Roman" panose="02020603050405020304" pitchFamily="18" charset="0"/>
              </a:rPr>
              <a:t>Voltage </a:t>
            </a:r>
            <a:r>
              <a:rPr lang="en-US" altLang="en-US">
                <a:latin typeface="Times" panose="02020603050405020304" pitchFamily="18" charset="0"/>
                <a:cs typeface="Times New Roman" panose="02020603050405020304" pitchFamily="18" charset="0"/>
              </a:rPr>
              <a:t>is </a:t>
            </a:r>
            <a:endParaRPr lang="en-US" altLang="en-US"/>
          </a:p>
        </p:txBody>
      </p:sp>
      <p:sp>
        <p:nvSpPr>
          <p:cNvPr id="220173" name="Rectangle 13">
            <a:extLst>
              <a:ext uri="{FF2B5EF4-FFF2-40B4-BE49-F238E27FC236}">
                <a16:creationId xmlns:a16="http://schemas.microsoft.com/office/drawing/2014/main" id="{5989C26A-4FC6-F858-1931-0DD02E789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600200"/>
            <a:ext cx="35814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0174" name="Text Box 14">
            <a:extLst>
              <a:ext uri="{FF2B5EF4-FFF2-40B4-BE49-F238E27FC236}">
                <a16:creationId xmlns:a16="http://schemas.microsoft.com/office/drawing/2014/main" id="{0874A8A5-FA57-20C2-B459-CD941403F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676400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/>
              <a:t>Review of </a:t>
            </a:r>
            <a:r>
              <a:rPr lang="en-US" altLang="en-US" sz="2800" i="1"/>
              <a:t>V, I</a:t>
            </a:r>
            <a:r>
              <a:rPr lang="en-US" altLang="en-US" sz="2800"/>
              <a:t>, and </a:t>
            </a:r>
            <a:r>
              <a:rPr lang="en-US" altLang="en-US" sz="2800" i="1"/>
              <a:t>R</a:t>
            </a:r>
          </a:p>
        </p:txBody>
      </p:sp>
      <p:grpSp>
        <p:nvGrpSpPr>
          <p:cNvPr id="220175" name="Group 15">
            <a:extLst>
              <a:ext uri="{FF2B5EF4-FFF2-40B4-BE49-F238E27FC236}">
                <a16:creationId xmlns:a16="http://schemas.microsoft.com/office/drawing/2014/main" id="{A505C8D6-36DA-5A45-64C6-59692B98754D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438400"/>
            <a:ext cx="7086600" cy="838200"/>
            <a:chOff x="768" y="1536"/>
            <a:chExt cx="4464" cy="528"/>
          </a:xfrm>
        </p:grpSpPr>
        <p:sp>
          <p:nvSpPr>
            <p:cNvPr id="220176" name="Text Box 16">
              <a:extLst>
                <a:ext uri="{FF2B5EF4-FFF2-40B4-BE49-F238E27FC236}">
                  <a16:creationId xmlns:a16="http://schemas.microsoft.com/office/drawing/2014/main" id="{E3508A1B-73D6-40A8-6CDE-3F0C2826C3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2" y="1536"/>
              <a:ext cx="36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imes" panose="02020603050405020304" pitchFamily="18" charset="0"/>
                  <a:cs typeface="Times New Roman" panose="02020603050405020304" pitchFamily="18" charset="0"/>
                </a:rPr>
                <a:t>the amount of energy per charge available to</a:t>
              </a:r>
              <a:endParaRPr lang="en-US" altLang="en-US"/>
            </a:p>
          </p:txBody>
        </p:sp>
        <p:sp>
          <p:nvSpPr>
            <p:cNvPr id="220177" name="Text Box 17">
              <a:extLst>
                <a:ext uri="{FF2B5EF4-FFF2-40B4-BE49-F238E27FC236}">
                  <a16:creationId xmlns:a16="http://schemas.microsoft.com/office/drawing/2014/main" id="{6C8D4B55-72A2-4047-E528-6C83AC9EF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776"/>
              <a:ext cx="44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move electrons from one point to another in a circuit.</a:t>
              </a:r>
              <a:endParaRPr lang="en-US" altLang="en-US">
                <a:latin typeface="Times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0180" name="Text Box 20">
            <a:extLst>
              <a:ext uri="{FF2B5EF4-FFF2-40B4-BE49-F238E27FC236}">
                <a16:creationId xmlns:a16="http://schemas.microsoft.com/office/drawing/2014/main" id="{F19E0F71-5FE0-373B-41E5-563BDB8FC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900" y="33528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i="1">
                <a:latin typeface="Times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altLang="en-US">
                <a:latin typeface="Times" panose="02020603050405020304" pitchFamily="18" charset="0"/>
                <a:cs typeface="Times New Roman" panose="02020603050405020304" pitchFamily="18" charset="0"/>
              </a:rPr>
              <a:t>is </a:t>
            </a:r>
          </a:p>
        </p:txBody>
      </p:sp>
      <p:grpSp>
        <p:nvGrpSpPr>
          <p:cNvPr id="220181" name="Group 21">
            <a:extLst>
              <a:ext uri="{FF2B5EF4-FFF2-40B4-BE49-F238E27FC236}">
                <a16:creationId xmlns:a16="http://schemas.microsoft.com/office/drawing/2014/main" id="{CD8A2822-9230-0D76-FEA7-9A31047EC2C0}"/>
              </a:ext>
            </a:extLst>
          </p:cNvPr>
          <p:cNvGrpSpPr>
            <a:grpSpLocks/>
          </p:cNvGrpSpPr>
          <p:nvPr/>
        </p:nvGrpSpPr>
        <p:grpSpPr bwMode="auto">
          <a:xfrm>
            <a:off x="1195388" y="3365500"/>
            <a:ext cx="8477250" cy="823913"/>
            <a:chOff x="768" y="2409"/>
            <a:chExt cx="5340" cy="519"/>
          </a:xfrm>
        </p:grpSpPr>
        <p:sp>
          <p:nvSpPr>
            <p:cNvPr id="220182" name="Text Box 22">
              <a:extLst>
                <a:ext uri="{FF2B5EF4-FFF2-40B4-BE49-F238E27FC236}">
                  <a16:creationId xmlns:a16="http://schemas.microsoft.com/office/drawing/2014/main" id="{C2566D9E-A7EE-E0EC-E4EC-17183D8E1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4" y="2409"/>
              <a:ext cx="44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imes" panose="02020603050405020304" pitchFamily="18" charset="0"/>
                  <a:cs typeface="Times New Roman" panose="02020603050405020304" pitchFamily="18" charset="0"/>
                </a:rPr>
                <a:t>the rate of charge flow and is measured in </a:t>
              </a:r>
            </a:p>
          </p:txBody>
        </p:sp>
        <p:sp>
          <p:nvSpPr>
            <p:cNvPr id="220183" name="Text Box 23">
              <a:extLst>
                <a:ext uri="{FF2B5EF4-FFF2-40B4-BE49-F238E27FC236}">
                  <a16:creationId xmlns:a16="http://schemas.microsoft.com/office/drawing/2014/main" id="{2E063815-8E63-6DFC-8B62-574F01B06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640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imes" panose="02020603050405020304" pitchFamily="18" charset="0"/>
                  <a:cs typeface="Times New Roman" panose="02020603050405020304" pitchFamily="18" charset="0"/>
                </a:rPr>
                <a:t>amperes.  </a:t>
              </a:r>
            </a:p>
          </p:txBody>
        </p:sp>
      </p:grpSp>
      <p:sp>
        <p:nvSpPr>
          <p:cNvPr id="220184" name="Text Box 24">
            <a:extLst>
              <a:ext uri="{FF2B5EF4-FFF2-40B4-BE49-F238E27FC236}">
                <a16:creationId xmlns:a16="http://schemas.microsoft.com/office/drawing/2014/main" id="{A8B3737A-225C-3249-E98D-71520E45F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3434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i="1">
                <a:latin typeface="Times" panose="02020603050405020304" pitchFamily="18" charset="0"/>
                <a:cs typeface="Times New Roman" panose="02020603050405020304" pitchFamily="18" charset="0"/>
              </a:rPr>
              <a:t>Resistance</a:t>
            </a:r>
            <a:r>
              <a:rPr lang="en-US" altLang="en-US" b="1">
                <a:latin typeface="Time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Times" panose="02020603050405020304" pitchFamily="18" charset="0"/>
                <a:cs typeface="Times New Roman" panose="02020603050405020304" pitchFamily="18" charset="0"/>
              </a:rPr>
              <a:t>is </a:t>
            </a:r>
          </a:p>
        </p:txBody>
      </p:sp>
      <p:grpSp>
        <p:nvGrpSpPr>
          <p:cNvPr id="220185" name="Group 25">
            <a:extLst>
              <a:ext uri="{FF2B5EF4-FFF2-40B4-BE49-F238E27FC236}">
                <a16:creationId xmlns:a16="http://schemas.microsoft.com/office/drawing/2014/main" id="{666F285B-231C-E06E-113A-9BC5EE4930D9}"/>
              </a:ext>
            </a:extLst>
          </p:cNvPr>
          <p:cNvGrpSpPr>
            <a:grpSpLocks/>
          </p:cNvGrpSpPr>
          <p:nvPr/>
        </p:nvGrpSpPr>
        <p:grpSpPr bwMode="auto">
          <a:xfrm>
            <a:off x="1179513" y="4356100"/>
            <a:ext cx="8810625" cy="838200"/>
            <a:chOff x="768" y="3024"/>
            <a:chExt cx="5550" cy="528"/>
          </a:xfrm>
        </p:grpSpPr>
        <p:sp>
          <p:nvSpPr>
            <p:cNvPr id="220186" name="Text Box 26">
              <a:extLst>
                <a:ext uri="{FF2B5EF4-FFF2-40B4-BE49-F238E27FC236}">
                  <a16:creationId xmlns:a16="http://schemas.microsoft.com/office/drawing/2014/main" id="{CAA08C05-7DC0-31E9-DED4-BE2883650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4" y="3024"/>
              <a:ext cx="44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imes" panose="02020603050405020304" pitchFamily="18" charset="0"/>
                  <a:cs typeface="Times New Roman" panose="02020603050405020304" pitchFamily="18" charset="0"/>
                </a:rPr>
                <a:t>the opposition to current and is measured </a:t>
              </a:r>
            </a:p>
          </p:txBody>
        </p:sp>
        <p:sp>
          <p:nvSpPr>
            <p:cNvPr id="220187" name="Text Box 27">
              <a:extLst>
                <a:ext uri="{FF2B5EF4-FFF2-40B4-BE49-F238E27FC236}">
                  <a16:creationId xmlns:a16="http://schemas.microsoft.com/office/drawing/2014/main" id="{791D28DB-F290-0DB0-2497-40D586983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264"/>
              <a:ext cx="14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imes" panose="02020603050405020304" pitchFamily="18" charset="0"/>
                  <a:cs typeface="Times New Roman" panose="02020603050405020304" pitchFamily="18" charset="0"/>
                </a:rPr>
                <a:t>in ohms. </a:t>
              </a: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0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0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0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0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7" name="Rectangle 9">
            <a:extLst>
              <a:ext uri="{FF2B5EF4-FFF2-40B4-BE49-F238E27FC236}">
                <a16:creationId xmlns:a16="http://schemas.microsoft.com/office/drawing/2014/main" id="{8885D875-5B16-EBB4-F947-303D0A7D9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57200"/>
            <a:ext cx="19812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43022" name="Rectangle 14">
            <a:extLst>
              <a:ext uri="{FF2B5EF4-FFF2-40B4-BE49-F238E27FC236}">
                <a16:creationId xmlns:a16="http://schemas.microsoft.com/office/drawing/2014/main" id="{7F22A8EE-CA46-9578-FEF8-EFACACF86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7391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3023" name="Text Box 15">
            <a:extLst>
              <a:ext uri="{FF2B5EF4-FFF2-40B4-BE49-F238E27FC236}">
                <a16:creationId xmlns:a16="http://schemas.microsoft.com/office/drawing/2014/main" id="{5607227C-5055-BE04-D68E-0CC6C22B0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371600"/>
            <a:ext cx="7315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The most important fundamental law in electronics is Ohm’s law</a:t>
            </a:r>
            <a:r>
              <a:rPr lang="en-US" altLang="en-US">
                <a:latin typeface="Times" panose="02020603050405020304" pitchFamily="18" charset="0"/>
                <a:cs typeface="Times New Roman" panose="02020603050405020304" pitchFamily="18" charset="0"/>
              </a:rPr>
              <a:t>, which relates voltage, current, and resistance. </a:t>
            </a:r>
          </a:p>
        </p:txBody>
      </p:sp>
      <p:sp>
        <p:nvSpPr>
          <p:cNvPr id="43034" name="Text Box 26">
            <a:extLst>
              <a:ext uri="{FF2B5EF4-FFF2-40B4-BE49-F238E27FC236}">
                <a16:creationId xmlns:a16="http://schemas.microsoft.com/office/drawing/2014/main" id="{4EBC774F-D50E-76B2-4B9B-DA261FE69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438400"/>
            <a:ext cx="7239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Georg Simon Ohm (1787-1854) studied the relationship between voltage, current, and resistance and formulated the equation that bears his name. </a:t>
            </a:r>
          </a:p>
        </p:txBody>
      </p:sp>
      <p:grpSp>
        <p:nvGrpSpPr>
          <p:cNvPr id="43037" name="Group 29">
            <a:extLst>
              <a:ext uri="{FF2B5EF4-FFF2-40B4-BE49-F238E27FC236}">
                <a16:creationId xmlns:a16="http://schemas.microsoft.com/office/drawing/2014/main" id="{B3C543A5-C8D8-A569-6B65-413D0B671311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3886200"/>
            <a:ext cx="1219200" cy="914400"/>
            <a:chOff x="2400" y="2496"/>
            <a:chExt cx="768" cy="576"/>
          </a:xfrm>
        </p:grpSpPr>
        <p:sp>
          <p:nvSpPr>
            <p:cNvPr id="43036" name="Rectangle 28">
              <a:extLst>
                <a:ext uri="{FF2B5EF4-FFF2-40B4-BE49-F238E27FC236}">
                  <a16:creationId xmlns:a16="http://schemas.microsoft.com/office/drawing/2014/main" id="{24A3E008-C411-E964-FBA3-F6894422B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496"/>
              <a:ext cx="768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3035" name="Object 27">
              <a:extLst>
                <a:ext uri="{FF2B5EF4-FFF2-40B4-BE49-F238E27FC236}">
                  <a16:creationId xmlns:a16="http://schemas.microsoft.com/office/drawing/2014/main" id="{4BAE67E6-0FB4-61B8-CC0D-DEE5B971DA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6" y="2496"/>
            <a:ext cx="528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93480" imgH="393480" progId="Equation.DSMT4">
                    <p:embed/>
                  </p:oleObj>
                </mc:Choice>
                <mc:Fallback>
                  <p:oleObj name="Equation" r:id="rId3" imgW="393480" imgH="39348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2496"/>
                          <a:ext cx="528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38" name="Text Box 30">
            <a:extLst>
              <a:ext uri="{FF2B5EF4-FFF2-40B4-BE49-F238E27FC236}">
                <a16:creationId xmlns:a16="http://schemas.microsoft.com/office/drawing/2014/main" id="{9520F502-6097-EB09-8DAF-E848B5F16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029200"/>
            <a:ext cx="6781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What is the current in from a 12 V source if the resistance is 10 </a:t>
            </a:r>
            <a:r>
              <a:rPr lang="en-US" altLang="en-US">
                <a:latin typeface="Symbol" panose="05050102010706020507" pitchFamily="18" charset="2"/>
              </a:rPr>
              <a:t>W</a:t>
            </a:r>
            <a:r>
              <a:rPr lang="en-US" altLang="en-US"/>
              <a:t>? </a:t>
            </a:r>
          </a:p>
        </p:txBody>
      </p:sp>
      <p:sp>
        <p:nvSpPr>
          <p:cNvPr id="43039" name="WordArt 31">
            <a:extLst>
              <a:ext uri="{FF2B5EF4-FFF2-40B4-BE49-F238E27FC236}">
                <a16:creationId xmlns:a16="http://schemas.microsoft.com/office/drawing/2014/main" id="{F26581C2-38E2-C28D-3301-9C3EED21339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4495800"/>
            <a:ext cx="1343025" cy="630238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GB" sz="28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Question:</a:t>
            </a:r>
          </a:p>
        </p:txBody>
      </p:sp>
      <p:sp>
        <p:nvSpPr>
          <p:cNvPr id="43040" name="Text Box 32">
            <a:extLst>
              <a:ext uri="{FF2B5EF4-FFF2-40B4-BE49-F238E27FC236}">
                <a16:creationId xmlns:a16="http://schemas.microsoft.com/office/drawing/2014/main" id="{047ADD06-EA1C-0E3D-69E4-F8C21A987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4102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1.2 A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3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38" grpId="0"/>
      <p:bldP spid="430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28C992CE-84EB-D6E1-C70B-5EBBEA1CA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57200"/>
            <a:ext cx="19812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E2B50B03-1B78-FFA9-57C0-79A8F81E7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16764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8116" name="Text Box 4">
            <a:extLst>
              <a:ext uri="{FF2B5EF4-FFF2-40B4-BE49-F238E27FC236}">
                <a16:creationId xmlns:a16="http://schemas.microsoft.com/office/drawing/2014/main" id="{2551D238-2117-7599-A841-828E81FD3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3716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Ohm’s law</a:t>
            </a:r>
            <a:r>
              <a:rPr lang="en-US" altLang="en-US">
                <a:latin typeface="Times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C8DDF536-75DC-FC28-C768-A87211266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981200"/>
            <a:ext cx="708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If you need to solve for voltage, Ohm’s law is:</a:t>
            </a:r>
          </a:p>
        </p:txBody>
      </p:sp>
      <p:sp>
        <p:nvSpPr>
          <p:cNvPr id="218121" name="Text Box 9">
            <a:extLst>
              <a:ext uri="{FF2B5EF4-FFF2-40B4-BE49-F238E27FC236}">
                <a16:creationId xmlns:a16="http://schemas.microsoft.com/office/drawing/2014/main" id="{CB32C8B0-8D2B-DA10-BC29-506D7B950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733800"/>
            <a:ext cx="6781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What is the voltage across a 680 </a:t>
            </a:r>
            <a:r>
              <a:rPr lang="en-US" altLang="en-US">
                <a:latin typeface="Symbol" panose="05050102010706020507" pitchFamily="18" charset="2"/>
              </a:rPr>
              <a:t>W</a:t>
            </a:r>
            <a:r>
              <a:rPr lang="en-US" altLang="en-US"/>
              <a:t> resistor if the current is 26.5 mA? </a:t>
            </a:r>
          </a:p>
        </p:txBody>
      </p:sp>
      <p:sp>
        <p:nvSpPr>
          <p:cNvPr id="218122" name="WordArt 10">
            <a:extLst>
              <a:ext uri="{FF2B5EF4-FFF2-40B4-BE49-F238E27FC236}">
                <a16:creationId xmlns:a16="http://schemas.microsoft.com/office/drawing/2014/main" id="{B4B74B47-DA1F-B4A6-2A93-EFB406517E0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3200400"/>
            <a:ext cx="1343025" cy="630238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GB" sz="28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Question:</a:t>
            </a:r>
          </a:p>
        </p:txBody>
      </p:sp>
      <p:sp>
        <p:nvSpPr>
          <p:cNvPr id="218123" name="Text Box 11">
            <a:extLst>
              <a:ext uri="{FF2B5EF4-FFF2-40B4-BE49-F238E27FC236}">
                <a16:creationId xmlns:a16="http://schemas.microsoft.com/office/drawing/2014/main" id="{A90A81B7-F7C2-2D88-8F14-D469E9A37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1148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18 V</a:t>
            </a:r>
          </a:p>
        </p:txBody>
      </p:sp>
      <p:graphicFrame>
        <p:nvGraphicFramePr>
          <p:cNvPr id="218124" name="Object 12">
            <a:extLst>
              <a:ext uri="{FF2B5EF4-FFF2-40B4-BE49-F238E27FC236}">
                <a16:creationId xmlns:a16="http://schemas.microsoft.com/office/drawing/2014/main" id="{C4D5FA7D-8756-DAC7-C167-7E8F6FD9CF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2514600"/>
          <a:ext cx="1143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" imgH="177480" progId="Equation.DSMT4">
                  <p:embed/>
                </p:oleObj>
              </mc:Choice>
              <mc:Fallback>
                <p:oleObj name="Equation" r:id="rId3" imgW="457200" imgH="1774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514600"/>
                        <a:ext cx="1143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21" grpId="0"/>
      <p:bldP spid="2181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>
            <a:extLst>
              <a:ext uri="{FF2B5EF4-FFF2-40B4-BE49-F238E27FC236}">
                <a16:creationId xmlns:a16="http://schemas.microsoft.com/office/drawing/2014/main" id="{2AF6DE5E-ADB0-6F61-834B-8921519B9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57200"/>
            <a:ext cx="19812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219139" name="Rectangle 3">
            <a:extLst>
              <a:ext uri="{FF2B5EF4-FFF2-40B4-BE49-F238E27FC236}">
                <a16:creationId xmlns:a16="http://schemas.microsoft.com/office/drawing/2014/main" id="{F6E133D7-9DBE-1778-150C-B540D7D77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95400"/>
            <a:ext cx="16764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9140" name="Text Box 4">
            <a:extLst>
              <a:ext uri="{FF2B5EF4-FFF2-40B4-BE49-F238E27FC236}">
                <a16:creationId xmlns:a16="http://schemas.microsoft.com/office/drawing/2014/main" id="{70AC50E6-69C5-81BD-EFB3-15E3374D8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3716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Ohm’s law</a:t>
            </a:r>
            <a:r>
              <a:rPr lang="en-US" altLang="en-US">
                <a:latin typeface="Times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19141" name="Text Box 5">
            <a:extLst>
              <a:ext uri="{FF2B5EF4-FFF2-40B4-BE49-F238E27FC236}">
                <a16:creationId xmlns:a16="http://schemas.microsoft.com/office/drawing/2014/main" id="{BBA4F16B-6EC7-B7E2-E5BE-287CCEB7D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981200"/>
            <a:ext cx="708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If you need to solve for resistance, Ohm’s law is:</a:t>
            </a:r>
          </a:p>
        </p:txBody>
      </p:sp>
      <p:graphicFrame>
        <p:nvGraphicFramePr>
          <p:cNvPr id="219146" name="Object 10">
            <a:extLst>
              <a:ext uri="{FF2B5EF4-FFF2-40B4-BE49-F238E27FC236}">
                <a16:creationId xmlns:a16="http://schemas.microsoft.com/office/drawing/2014/main" id="{31B652CE-800A-8106-BE08-A41D923B53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0" y="1763713"/>
          <a:ext cx="990600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1640" imgH="393480" progId="Equation.DSMT4">
                  <p:embed/>
                </p:oleObj>
              </mc:Choice>
              <mc:Fallback>
                <p:oleObj name="Equation" r:id="rId3" imgW="431640" imgH="393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1763713"/>
                        <a:ext cx="990600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9156" name="Group 20">
            <a:extLst>
              <a:ext uri="{FF2B5EF4-FFF2-40B4-BE49-F238E27FC236}">
                <a16:creationId xmlns:a16="http://schemas.microsoft.com/office/drawing/2014/main" id="{369DC5A3-1660-AF96-3E04-42FE2CFCC648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3048000"/>
            <a:ext cx="6324600" cy="3306763"/>
            <a:chOff x="1632" y="1920"/>
            <a:chExt cx="3984" cy="2083"/>
          </a:xfrm>
        </p:grpSpPr>
        <p:sp>
          <p:nvSpPr>
            <p:cNvPr id="219147" name="Text Box 11">
              <a:extLst>
                <a:ext uri="{FF2B5EF4-FFF2-40B4-BE49-F238E27FC236}">
                  <a16:creationId xmlns:a16="http://schemas.microsoft.com/office/drawing/2014/main" id="{26EAE7FC-1890-EAC9-DEE3-C01C48883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448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115 V</a:t>
              </a:r>
            </a:p>
          </p:txBody>
        </p:sp>
        <p:graphicFrame>
          <p:nvGraphicFramePr>
            <p:cNvPr id="219148" name="Object 12">
              <a:extLst>
                <a:ext uri="{FF2B5EF4-FFF2-40B4-BE49-F238E27FC236}">
                  <a16:creationId xmlns:a16="http://schemas.microsoft.com/office/drawing/2014/main" id="{9A9EB7F6-8A63-6292-93DB-6E6CB14E27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1920"/>
            <a:ext cx="3312" cy="20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5" imgW="6435720" imgH="4048560" progId="CorelDRAW.Graphic.9">
                    <p:embed/>
                  </p:oleObj>
                </mc:Choice>
                <mc:Fallback>
                  <p:oleObj name="CorelDRAW" r:id="rId5" imgW="6435720" imgH="4048560" progId="CorelDRAW.Graphic.9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920"/>
                          <a:ext cx="3312" cy="20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9150" name="Text Box 14">
            <a:extLst>
              <a:ext uri="{FF2B5EF4-FFF2-40B4-BE49-F238E27FC236}">
                <a16:creationId xmlns:a16="http://schemas.microsoft.com/office/drawing/2014/main" id="{C03DA69A-999C-C079-67D8-EBE600391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33178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pSp>
        <p:nvGrpSpPr>
          <p:cNvPr id="219157" name="Group 21">
            <a:extLst>
              <a:ext uri="{FF2B5EF4-FFF2-40B4-BE49-F238E27FC236}">
                <a16:creationId xmlns:a16="http://schemas.microsoft.com/office/drawing/2014/main" id="{B9216928-D094-B8A9-C5ED-AF18CC23B96A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438400"/>
            <a:ext cx="3505200" cy="1355725"/>
            <a:chOff x="624" y="1536"/>
            <a:chExt cx="2208" cy="854"/>
          </a:xfrm>
        </p:grpSpPr>
        <p:sp>
          <p:nvSpPr>
            <p:cNvPr id="219149" name="Text Box 13">
              <a:extLst>
                <a:ext uri="{FF2B5EF4-FFF2-40B4-BE49-F238E27FC236}">
                  <a16:creationId xmlns:a16="http://schemas.microsoft.com/office/drawing/2014/main" id="{36B6BF10-A4FE-F320-5FD9-261BA6D195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872"/>
              <a:ext cx="2064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What is the (hot) resistance of the bulb?</a:t>
              </a:r>
            </a:p>
          </p:txBody>
        </p:sp>
        <p:sp>
          <p:nvSpPr>
            <p:cNvPr id="219154" name="WordArt 18">
              <a:extLst>
                <a:ext uri="{FF2B5EF4-FFF2-40B4-BE49-F238E27FC236}">
                  <a16:creationId xmlns:a16="http://schemas.microsoft.com/office/drawing/2014/main" id="{1D064B5E-98B1-9790-420A-4C601FDDCA4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624" y="1536"/>
              <a:ext cx="846" cy="397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32056"/>
                </a:avLst>
              </a:prstTxWarp>
            </a:bodyPr>
            <a:lstStyle/>
            <a:p>
              <a:pPr algn="ctr"/>
              <a:r>
                <a:rPr lang="en-GB" sz="2800" kern="10">
                  <a:ln w="9525">
                    <a:solidFill>
                      <a:srgbClr val="CC99FF"/>
                    </a:solidFill>
                    <a:round/>
                    <a:headEnd/>
                    <a:tailEnd/>
                  </a:ln>
                  <a:gradFill rotWithShape="0">
                    <a:gsLst>
                      <a:gs pos="0">
                        <a:srgbClr val="6600CC"/>
                      </a:gs>
                      <a:gs pos="100000">
                        <a:srgbClr val="CC00CC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9999FF">
                        <a:alpha val="80000"/>
                      </a:srgbClr>
                    </a:outerShdw>
                  </a:effectLst>
                  <a:latin typeface="Impact" panose="020B0806030902050204" pitchFamily="34" charset="0"/>
                </a:rPr>
                <a:t>Question:</a:t>
              </a:r>
            </a:p>
          </p:txBody>
        </p:sp>
      </p:grpSp>
      <p:sp>
        <p:nvSpPr>
          <p:cNvPr id="219155" name="Text Box 19">
            <a:extLst>
              <a:ext uri="{FF2B5EF4-FFF2-40B4-BE49-F238E27FC236}">
                <a16:creationId xmlns:a16="http://schemas.microsoft.com/office/drawing/2014/main" id="{76277806-EF14-51FE-216C-0328D1738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1300" y="33274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132 </a:t>
            </a:r>
            <a:r>
              <a:rPr lang="en-US" altLang="en-US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9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9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1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46" name="Rectangle 18">
            <a:extLst>
              <a:ext uri="{FF2B5EF4-FFF2-40B4-BE49-F238E27FC236}">
                <a16:creationId xmlns:a16="http://schemas.microsoft.com/office/drawing/2014/main" id="{3AC1C926-D528-9EE9-3D77-A188719F5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438400"/>
            <a:ext cx="3886200" cy="373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7330" name="Rectangle 2">
            <a:extLst>
              <a:ext uri="{FF2B5EF4-FFF2-40B4-BE49-F238E27FC236}">
                <a16:creationId xmlns:a16="http://schemas.microsoft.com/office/drawing/2014/main" id="{E268D86E-0C46-4B21-926D-EF7831BEB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57200"/>
            <a:ext cx="19812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7F88261A-5609-5AA7-B4E7-A5E77CFFB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371600"/>
            <a:ext cx="50292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7332" name="Text Box 4">
            <a:extLst>
              <a:ext uri="{FF2B5EF4-FFF2-40B4-BE49-F238E27FC236}">
                <a16:creationId xmlns:a16="http://schemas.microsoft.com/office/drawing/2014/main" id="{B5EA1CE9-BD45-49B9-56DA-88423BF1F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447800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" panose="02020603050405020304" pitchFamily="18" charset="0"/>
                <a:cs typeface="Times New Roman" panose="02020603050405020304" pitchFamily="18" charset="0"/>
              </a:rPr>
              <a:t>Graph of Current versus Voltage</a:t>
            </a:r>
            <a:r>
              <a:rPr lang="en-US" altLang="en-US" sz="2800"/>
              <a:t> </a:t>
            </a:r>
          </a:p>
        </p:txBody>
      </p:sp>
      <p:graphicFrame>
        <p:nvGraphicFramePr>
          <p:cNvPr id="227343" name="Object 15">
            <a:extLst>
              <a:ext uri="{FF2B5EF4-FFF2-40B4-BE49-F238E27FC236}">
                <a16:creationId xmlns:a16="http://schemas.microsoft.com/office/drawing/2014/main" id="{BAF44D32-1A62-D812-B508-0C941260F7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2514600"/>
          <a:ext cx="3487738" cy="342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249280" imgH="2208600" progId="CorelDRAW.Graphic.9">
                  <p:embed/>
                </p:oleObj>
              </mc:Choice>
              <mc:Fallback>
                <p:oleObj name="CorelDRAW" r:id="rId3" imgW="2249280" imgH="2208600" progId="CorelDRAW.Graphic.9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514600"/>
                        <a:ext cx="3487738" cy="342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44" name="Rectangle 16">
            <a:extLst>
              <a:ext uri="{FF2B5EF4-FFF2-40B4-BE49-F238E27FC236}">
                <a16:creationId xmlns:a16="http://schemas.microsoft.com/office/drawing/2014/main" id="{FB19CF23-607E-F953-05AE-2ABACB1C7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143000"/>
            <a:ext cx="69342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7345" name="Text Box 17">
            <a:extLst>
              <a:ext uri="{FF2B5EF4-FFF2-40B4-BE49-F238E27FC236}">
                <a16:creationId xmlns:a16="http://schemas.microsoft.com/office/drawing/2014/main" id="{3B594360-DB97-736C-78A7-68F5CA830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158875"/>
            <a:ext cx="69342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A student takes data for a resistor and fits the straight line shown to the data. What is the resistance and the conductance of the resistor?</a:t>
            </a:r>
          </a:p>
        </p:txBody>
      </p:sp>
      <p:sp>
        <p:nvSpPr>
          <p:cNvPr id="227347" name="Rectangle 19">
            <a:extLst>
              <a:ext uri="{FF2B5EF4-FFF2-40B4-BE49-F238E27FC236}">
                <a16:creationId xmlns:a16="http://schemas.microsoft.com/office/drawing/2014/main" id="{501F2E97-D4CF-5603-A77D-7AEFE918D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2743200"/>
            <a:ext cx="3048000" cy="304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7348" name="Text Box 20">
            <a:extLst>
              <a:ext uri="{FF2B5EF4-FFF2-40B4-BE49-F238E27FC236}">
                <a16:creationId xmlns:a16="http://schemas.microsoft.com/office/drawing/2014/main" id="{DE8EC33F-9500-66FE-7E32-5845FABD7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819400"/>
            <a:ext cx="2819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FF0000"/>
                </a:solidFill>
              </a:rPr>
              <a:t>The slope represents the conductance.</a:t>
            </a:r>
          </a:p>
        </p:txBody>
      </p:sp>
      <p:graphicFrame>
        <p:nvGraphicFramePr>
          <p:cNvPr id="227349" name="Object 21">
            <a:extLst>
              <a:ext uri="{FF2B5EF4-FFF2-40B4-BE49-F238E27FC236}">
                <a16:creationId xmlns:a16="http://schemas.microsoft.com/office/drawing/2014/main" id="{E71B4E70-7C7C-BB6B-1035-954626A753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4900" y="3505200"/>
          <a:ext cx="28194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55520" imgH="393480" progId="Equation.DSMT4">
                  <p:embed/>
                </p:oleObj>
              </mc:Choice>
              <mc:Fallback>
                <p:oleObj name="Equation" r:id="rId5" imgW="1955520" imgH="39348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3505200"/>
                        <a:ext cx="28194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50" name="Text Box 22">
            <a:extLst>
              <a:ext uri="{FF2B5EF4-FFF2-40B4-BE49-F238E27FC236}">
                <a16:creationId xmlns:a16="http://schemas.microsoft.com/office/drawing/2014/main" id="{575FD660-B3C4-33A6-3371-AB9DCB9D0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114800"/>
            <a:ext cx="2819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FF0000"/>
                </a:solidFill>
              </a:rPr>
              <a:t>The reciprocal of the conductance is the resistance:</a:t>
            </a:r>
          </a:p>
        </p:txBody>
      </p:sp>
      <p:graphicFrame>
        <p:nvGraphicFramePr>
          <p:cNvPr id="227351" name="Object 23">
            <a:extLst>
              <a:ext uri="{FF2B5EF4-FFF2-40B4-BE49-F238E27FC236}">
                <a16:creationId xmlns:a16="http://schemas.microsoft.com/office/drawing/2014/main" id="{1863E328-CB14-DF7A-6137-E510C5FB91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5130800"/>
          <a:ext cx="25527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52480" imgH="393480" progId="Equation.DSMT4">
                  <p:embed/>
                </p:oleObj>
              </mc:Choice>
              <mc:Fallback>
                <p:oleObj name="Equation" r:id="rId7" imgW="1752480" imgH="3934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30800"/>
                        <a:ext cx="25527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2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48" grpId="0"/>
      <p:bldP spid="2273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92F64BA8-EA84-49E6-894D-668262156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57200"/>
            <a:ext cx="19812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221199" name="Rectangle 15">
            <a:extLst>
              <a:ext uri="{FF2B5EF4-FFF2-40B4-BE49-F238E27FC236}">
                <a16:creationId xmlns:a16="http://schemas.microsoft.com/office/drawing/2014/main" id="{BC57D20B-796B-974E-BD38-B191E4DC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371600"/>
            <a:ext cx="50292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1200" name="Text Box 16">
            <a:extLst>
              <a:ext uri="{FF2B5EF4-FFF2-40B4-BE49-F238E27FC236}">
                <a16:creationId xmlns:a16="http://schemas.microsoft.com/office/drawing/2014/main" id="{37D42DAC-7BDA-0B5A-04DC-BBE7AC800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447800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" panose="02020603050405020304" pitchFamily="18" charset="0"/>
                <a:cs typeface="Times New Roman" panose="02020603050405020304" pitchFamily="18" charset="0"/>
              </a:rPr>
              <a:t>Graph of Current versus Voltage</a:t>
            </a:r>
            <a:r>
              <a:rPr lang="en-US" altLang="en-US" sz="2800"/>
              <a:t> </a:t>
            </a:r>
          </a:p>
        </p:txBody>
      </p:sp>
      <p:graphicFrame>
        <p:nvGraphicFramePr>
          <p:cNvPr id="221201" name="Object 17">
            <a:extLst>
              <a:ext uri="{FF2B5EF4-FFF2-40B4-BE49-F238E27FC236}">
                <a16:creationId xmlns:a16="http://schemas.microsoft.com/office/drawing/2014/main" id="{163DEDF9-0569-E8C0-2FB2-F3C39531AD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2286000"/>
          <a:ext cx="4191000" cy="357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3279960" imgH="2793600" progId="CorelDRAW.Graphic.9">
                  <p:embed/>
                </p:oleObj>
              </mc:Choice>
              <mc:Fallback>
                <p:oleObj name="CorelDRAW" r:id="rId3" imgW="3279960" imgH="2793600" progId="CorelDRAW.Graphic.9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286000"/>
                        <a:ext cx="4191000" cy="357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202" name="Text Box 18">
            <a:extLst>
              <a:ext uri="{FF2B5EF4-FFF2-40B4-BE49-F238E27FC236}">
                <a16:creationId xmlns:a16="http://schemas.microsoft.com/office/drawing/2014/main" id="{DF15080B-7A11-EE7F-EAAD-679F5B61D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133600"/>
            <a:ext cx="35814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Notice that the plot of current versus voltage for a fixed resistor is a line with a positive slope. What is the resistance indicated by the graph?</a:t>
            </a:r>
          </a:p>
        </p:txBody>
      </p:sp>
      <p:grpSp>
        <p:nvGrpSpPr>
          <p:cNvPr id="221203" name="Group 19">
            <a:extLst>
              <a:ext uri="{FF2B5EF4-FFF2-40B4-BE49-F238E27FC236}">
                <a16:creationId xmlns:a16="http://schemas.microsoft.com/office/drawing/2014/main" id="{6C96550A-6E3A-33F3-0F8D-71EFB498999B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3962400"/>
            <a:ext cx="1143000" cy="457200"/>
            <a:chOff x="816" y="2640"/>
            <a:chExt cx="720" cy="288"/>
          </a:xfrm>
        </p:grpSpPr>
        <p:sp>
          <p:nvSpPr>
            <p:cNvPr id="221204" name="Rectangle 20">
              <a:extLst>
                <a:ext uri="{FF2B5EF4-FFF2-40B4-BE49-F238E27FC236}">
                  <a16:creationId xmlns:a16="http://schemas.microsoft.com/office/drawing/2014/main" id="{D2C19D64-C176-2F17-AC01-2062D4D50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663"/>
              <a:ext cx="720" cy="265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1205" name="Text Box 21">
              <a:extLst>
                <a:ext uri="{FF2B5EF4-FFF2-40B4-BE49-F238E27FC236}">
                  <a16:creationId xmlns:a16="http://schemas.microsoft.com/office/drawing/2014/main" id="{17BB7A2D-0B1E-6333-BE4E-88CA62CF5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640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2.7 k</a:t>
              </a:r>
              <a:r>
                <a:rPr lang="en-US" altLang="en-US">
                  <a:latin typeface="Symbol" panose="05050102010706020507" pitchFamily="18" charset="2"/>
                </a:rPr>
                <a:t>W</a:t>
              </a:r>
            </a:p>
          </p:txBody>
        </p:sp>
      </p:grpSp>
      <p:sp>
        <p:nvSpPr>
          <p:cNvPr id="221206" name="Text Box 22">
            <a:extLst>
              <a:ext uri="{FF2B5EF4-FFF2-40B4-BE49-F238E27FC236}">
                <a16:creationId xmlns:a16="http://schemas.microsoft.com/office/drawing/2014/main" id="{1A6D0E14-2254-16D5-1714-4FEAF12DD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953000"/>
            <a:ext cx="1905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What is its conductance?</a:t>
            </a:r>
          </a:p>
        </p:txBody>
      </p:sp>
      <p:grpSp>
        <p:nvGrpSpPr>
          <p:cNvPr id="221207" name="Group 23">
            <a:extLst>
              <a:ext uri="{FF2B5EF4-FFF2-40B4-BE49-F238E27FC236}">
                <a16:creationId xmlns:a16="http://schemas.microsoft.com/office/drawing/2014/main" id="{AC302E5F-2B1B-1434-AA5B-8B5CC0D3E543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257800"/>
            <a:ext cx="1447800" cy="457200"/>
            <a:chOff x="864" y="3552"/>
            <a:chExt cx="912" cy="288"/>
          </a:xfrm>
        </p:grpSpPr>
        <p:sp>
          <p:nvSpPr>
            <p:cNvPr id="221208" name="Rectangle 24">
              <a:extLst>
                <a:ext uri="{FF2B5EF4-FFF2-40B4-BE49-F238E27FC236}">
                  <a16:creationId xmlns:a16="http://schemas.microsoft.com/office/drawing/2014/main" id="{2CFF14D1-2655-24BF-0EFF-E01CD58B0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575"/>
              <a:ext cx="768" cy="265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1209" name="Text Box 25">
              <a:extLst>
                <a:ext uri="{FF2B5EF4-FFF2-40B4-BE49-F238E27FC236}">
                  <a16:creationId xmlns:a16="http://schemas.microsoft.com/office/drawing/2014/main" id="{F8F4ABB6-42FC-BBDD-83AB-FAC695B63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552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0.37 mS</a:t>
              </a:r>
              <a:endParaRPr lang="en-US" altLang="en-US">
                <a:latin typeface="Symbol" panose="05050102010706020507" pitchFamily="18" charset="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1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1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0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>
            <a:extLst>
              <a:ext uri="{FF2B5EF4-FFF2-40B4-BE49-F238E27FC236}">
                <a16:creationId xmlns:a16="http://schemas.microsoft.com/office/drawing/2014/main" id="{4CCDDE18-5D67-1332-A1FD-B8B3DF91D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57200"/>
            <a:ext cx="19812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92E96211-BBC8-FEB1-B2F1-4E5FA057E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371600"/>
            <a:ext cx="54102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2212" name="Text Box 4">
            <a:extLst>
              <a:ext uri="{FF2B5EF4-FFF2-40B4-BE49-F238E27FC236}">
                <a16:creationId xmlns:a16="http://schemas.microsoft.com/office/drawing/2014/main" id="{0020689A-4C5E-E578-B34F-A911E539B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447800"/>
            <a:ext cx="571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" panose="02020603050405020304" pitchFamily="18" charset="0"/>
                <a:cs typeface="Times New Roman" panose="02020603050405020304" pitchFamily="18" charset="0"/>
              </a:rPr>
              <a:t>Graph of Current versus Resistance</a:t>
            </a:r>
            <a:r>
              <a:rPr lang="en-US" altLang="en-US" sz="280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99136D-DE06-B2E2-EA1B-3489CA15D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57400"/>
            <a:ext cx="8429625" cy="4038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B2EC04-C0E9-59B6-53A8-F314CFDA7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64521"/>
            <a:ext cx="8229600" cy="482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22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Rectangle 20">
            <a:extLst>
              <a:ext uri="{FF2B5EF4-FFF2-40B4-BE49-F238E27FC236}">
                <a16:creationId xmlns:a16="http://schemas.microsoft.com/office/drawing/2014/main" id="{05D8586B-C75C-53AA-FCCD-F357A1084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57200"/>
            <a:ext cx="19812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2083" name="Rectangle 35">
            <a:extLst>
              <a:ext uri="{FF2B5EF4-FFF2-40B4-BE49-F238E27FC236}">
                <a16:creationId xmlns:a16="http://schemas.microsoft.com/office/drawing/2014/main" id="{604EC73B-3D41-D449-645E-AC0A5B34E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447800"/>
            <a:ext cx="4038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84" name="Text Box 36">
            <a:extLst>
              <a:ext uri="{FF2B5EF4-FFF2-40B4-BE49-F238E27FC236}">
                <a16:creationId xmlns:a16="http://schemas.microsoft.com/office/drawing/2014/main" id="{C4665354-D860-22CF-77F4-052E211FB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24000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/>
              <a:t>Application of Ohm’s law</a:t>
            </a:r>
          </a:p>
        </p:txBody>
      </p:sp>
      <p:sp>
        <p:nvSpPr>
          <p:cNvPr id="2085" name="Text Box 37">
            <a:extLst>
              <a:ext uri="{FF2B5EF4-FFF2-40B4-BE49-F238E27FC236}">
                <a16:creationId xmlns:a16="http://schemas.microsoft.com/office/drawing/2014/main" id="{698B1CC2-D8DF-4F40-DCFA-1B818F1D3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286000"/>
            <a:ext cx="3810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The resistor is green-blue brown-gold. What should the ammeter read?</a:t>
            </a:r>
          </a:p>
        </p:txBody>
      </p:sp>
      <p:grpSp>
        <p:nvGrpSpPr>
          <p:cNvPr id="2086" name="Group 38">
            <a:extLst>
              <a:ext uri="{FF2B5EF4-FFF2-40B4-BE49-F238E27FC236}">
                <a16:creationId xmlns:a16="http://schemas.microsoft.com/office/drawing/2014/main" id="{9524D9AD-2D87-D91D-DD86-15EE4A23B970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600200"/>
            <a:ext cx="1447800" cy="533400"/>
            <a:chOff x="3600" y="1056"/>
            <a:chExt cx="912" cy="336"/>
          </a:xfrm>
        </p:grpSpPr>
        <p:sp>
          <p:nvSpPr>
            <p:cNvPr id="2087" name="Rectangle 39">
              <a:extLst>
                <a:ext uri="{FF2B5EF4-FFF2-40B4-BE49-F238E27FC236}">
                  <a16:creationId xmlns:a16="http://schemas.microsoft.com/office/drawing/2014/main" id="{8F16FBE0-F276-16E0-CEF6-334D84A45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056"/>
              <a:ext cx="864" cy="336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88" name="Text Box 40">
              <a:extLst>
                <a:ext uri="{FF2B5EF4-FFF2-40B4-BE49-F238E27FC236}">
                  <a16:creationId xmlns:a16="http://schemas.microsoft.com/office/drawing/2014/main" id="{F9568EB3-9FD5-17DA-8B01-669F9B187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056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26.8 mA</a:t>
              </a:r>
            </a:p>
          </p:txBody>
        </p:sp>
      </p:grpSp>
      <p:graphicFrame>
        <p:nvGraphicFramePr>
          <p:cNvPr id="2089" name="Object 41">
            <a:extLst>
              <a:ext uri="{FF2B5EF4-FFF2-40B4-BE49-F238E27FC236}">
                <a16:creationId xmlns:a16="http://schemas.microsoft.com/office/drawing/2014/main" id="{A21EA485-9E96-B739-42CD-679C05BBF1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1325" y="2286000"/>
          <a:ext cx="5400675" cy="377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5400000" imgH="3773160" progId="CorelDRAW.Graphic.9">
                  <p:embed/>
                </p:oleObj>
              </mc:Choice>
              <mc:Fallback>
                <p:oleObj name="CorelDRAW" r:id="rId3" imgW="5400000" imgH="3773160" progId="CorelDRAW.Graphic.9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325" y="2286000"/>
                        <a:ext cx="5400675" cy="377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>
            <a:extLst>
              <a:ext uri="{FF2B5EF4-FFF2-40B4-BE49-F238E27FC236}">
                <a16:creationId xmlns:a16="http://schemas.microsoft.com/office/drawing/2014/main" id="{43904004-D2C4-B190-A9DB-C4A90B965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57200"/>
            <a:ext cx="19812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E9C3C6A3-22DC-836C-ECB5-AC183DEEB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447800"/>
            <a:ext cx="26670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3236" name="Text Box 4">
            <a:extLst>
              <a:ext uri="{FF2B5EF4-FFF2-40B4-BE49-F238E27FC236}">
                <a16:creationId xmlns:a16="http://schemas.microsoft.com/office/drawing/2014/main" id="{52358EBC-B73E-39C5-083B-25B19330E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24000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/>
              <a:t>Troubleshooting</a:t>
            </a:r>
          </a:p>
        </p:txBody>
      </p:sp>
      <p:sp>
        <p:nvSpPr>
          <p:cNvPr id="223237" name="Text Box 5">
            <a:extLst>
              <a:ext uri="{FF2B5EF4-FFF2-40B4-BE49-F238E27FC236}">
                <a16:creationId xmlns:a16="http://schemas.microsoft.com/office/drawing/2014/main" id="{B557D015-7DB8-371D-B628-314D068C1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286000"/>
            <a:ext cx="5486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Some questions to ask before starting any troubleshooting are:</a:t>
            </a:r>
          </a:p>
        </p:txBody>
      </p:sp>
      <p:graphicFrame>
        <p:nvGraphicFramePr>
          <p:cNvPr id="223242" name="Object 10">
            <a:extLst>
              <a:ext uri="{FF2B5EF4-FFF2-40B4-BE49-F238E27FC236}">
                <a16:creationId xmlns:a16="http://schemas.microsoft.com/office/drawing/2014/main" id="{70D9F344-07A4-62D9-1C7C-60C52FA468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1066800"/>
          <a:ext cx="1931988" cy="243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3018240" imgH="3804840" progId="CorelDRAW.Graphic.9">
                  <p:embed/>
                </p:oleObj>
              </mc:Choice>
              <mc:Fallback>
                <p:oleObj name="CorelDRAW" r:id="rId3" imgW="3018240" imgH="3804840" progId="CorelDRAW.Graphic.9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066800"/>
                        <a:ext cx="1931988" cy="243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3" name="Text Box 11">
            <a:extLst>
              <a:ext uri="{FF2B5EF4-FFF2-40B4-BE49-F238E27FC236}">
                <a16:creationId xmlns:a16="http://schemas.microsoft.com/office/drawing/2014/main" id="{4E26178E-348E-CFE6-BCE6-9FC49B629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200400"/>
            <a:ext cx="6477000" cy="246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Has the circuit ever worked?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If the circuit once worked, under what conditions did it fail?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What are the symptoms of the failure? 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What are the possible causes of the failure?</a:t>
            </a:r>
          </a:p>
        </p:txBody>
      </p:sp>
      <p:sp>
        <p:nvSpPr>
          <p:cNvPr id="223244" name="Text Box 12">
            <a:extLst>
              <a:ext uri="{FF2B5EF4-FFF2-40B4-BE49-F238E27FC236}">
                <a16:creationId xmlns:a16="http://schemas.microsoft.com/office/drawing/2014/main" id="{7E624433-24E8-418B-193A-DB9BBDF23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20675" y="56800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3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3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3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3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4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D1FCEA7B-AD5D-BDAE-18DA-833ED74FE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57200"/>
            <a:ext cx="19812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BAE06B31-CDE7-F01F-31CD-8B35FEE20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447800"/>
            <a:ext cx="26670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4260" name="Text Box 4">
            <a:extLst>
              <a:ext uri="{FF2B5EF4-FFF2-40B4-BE49-F238E27FC236}">
                <a16:creationId xmlns:a16="http://schemas.microsoft.com/office/drawing/2014/main" id="{282BBDB7-2884-42E4-C08F-1AC10E373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24000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/>
              <a:t>Troubleshooting</a:t>
            </a:r>
          </a:p>
        </p:txBody>
      </p:sp>
      <p:sp>
        <p:nvSpPr>
          <p:cNvPr id="224261" name="Text Box 5">
            <a:extLst>
              <a:ext uri="{FF2B5EF4-FFF2-40B4-BE49-F238E27FC236}">
                <a16:creationId xmlns:a16="http://schemas.microsoft.com/office/drawing/2014/main" id="{A041DB37-E588-31BC-0813-BED8CC19B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286000"/>
            <a:ext cx="5486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Plan the troubleshooting by reviewing pertinent information:</a:t>
            </a:r>
          </a:p>
        </p:txBody>
      </p:sp>
      <p:graphicFrame>
        <p:nvGraphicFramePr>
          <p:cNvPr id="224262" name="Object 6">
            <a:extLst>
              <a:ext uri="{FF2B5EF4-FFF2-40B4-BE49-F238E27FC236}">
                <a16:creationId xmlns:a16="http://schemas.microsoft.com/office/drawing/2014/main" id="{2EE857B0-D6A6-1664-E729-178FB5C9BB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1066800"/>
          <a:ext cx="1931988" cy="243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3018240" imgH="3804840" progId="CorelDRAW.Graphic.9">
                  <p:embed/>
                </p:oleObj>
              </mc:Choice>
              <mc:Fallback>
                <p:oleObj name="CorelDRAW" r:id="rId3" imgW="3018240" imgH="3804840" progId="CorelDRAW.Graphic.9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066800"/>
                        <a:ext cx="1931988" cy="243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63" name="Text Box 7">
            <a:extLst>
              <a:ext uri="{FF2B5EF4-FFF2-40B4-BE49-F238E27FC236}">
                <a16:creationId xmlns:a16="http://schemas.microsoft.com/office/drawing/2014/main" id="{6028B617-93F4-717A-3D5B-04AD79B44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200400"/>
            <a:ext cx="64008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Schematics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Instruction manuals</a:t>
            </a:r>
          </a:p>
        </p:txBody>
      </p:sp>
      <p:sp>
        <p:nvSpPr>
          <p:cNvPr id="224264" name="Text Box 8">
            <a:extLst>
              <a:ext uri="{FF2B5EF4-FFF2-40B4-BE49-F238E27FC236}">
                <a16:creationId xmlns:a16="http://schemas.microsoft.com/office/drawing/2014/main" id="{C092087F-766C-601E-EB4A-9216077B1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20675" y="56800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224265" name="Object 9">
            <a:extLst>
              <a:ext uri="{FF2B5EF4-FFF2-40B4-BE49-F238E27FC236}">
                <a16:creationId xmlns:a16="http://schemas.microsoft.com/office/drawing/2014/main" id="{895E2568-40D9-2551-0004-EA8F73D27A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124200"/>
          <a:ext cx="1905000" cy="126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5" imgW="1706270" imgH="1135990" progId="CorelDRAW.Graphic.12">
                  <p:embed/>
                </p:oleObj>
              </mc:Choice>
              <mc:Fallback>
                <p:oleObj name="CorelDRAW" r:id="rId5" imgW="1706270" imgH="1135990" progId="CorelDRAW.Graphic.12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124200"/>
                        <a:ext cx="1905000" cy="1268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66" name="Text Box 10">
            <a:extLst>
              <a:ext uri="{FF2B5EF4-FFF2-40B4-BE49-F238E27FC236}">
                <a16:creationId xmlns:a16="http://schemas.microsoft.com/office/drawing/2014/main" id="{FA2DA6F2-D9C3-63FA-7AD3-06F9983A4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2672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 startAt="3"/>
            </a:pPr>
            <a:r>
              <a:rPr lang="en-US" altLang="en-US"/>
              <a:t>Review when and how the failure occurred.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4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4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24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3" grpId="0" build="p"/>
      <p:bldP spid="22426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289" name="Object 9">
            <a:extLst>
              <a:ext uri="{FF2B5EF4-FFF2-40B4-BE49-F238E27FC236}">
                <a16:creationId xmlns:a16="http://schemas.microsoft.com/office/drawing/2014/main" id="{A50F0462-CBDC-99D6-4B8A-B52A8CB30B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0" y="1905000"/>
          <a:ext cx="1922463" cy="203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3018240" imgH="3202560" progId="CorelDRAW.Graphic.9">
                  <p:embed/>
                </p:oleObj>
              </mc:Choice>
              <mc:Fallback>
                <p:oleObj name="CorelDRAW" r:id="rId3" imgW="3018240" imgH="3202560" progId="CorelDRAW.Graphic.9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905000"/>
                        <a:ext cx="1922463" cy="203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2" name="Rectangle 2">
            <a:extLst>
              <a:ext uri="{FF2B5EF4-FFF2-40B4-BE49-F238E27FC236}">
                <a16:creationId xmlns:a16="http://schemas.microsoft.com/office/drawing/2014/main" id="{8B5AD1EA-0974-A2A7-E7D8-A127D11BF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57200"/>
            <a:ext cx="19812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9BDDAD86-5469-0B5D-10E9-72F3AF154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447800"/>
            <a:ext cx="26670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284" name="Text Box 4">
            <a:extLst>
              <a:ext uri="{FF2B5EF4-FFF2-40B4-BE49-F238E27FC236}">
                <a16:creationId xmlns:a16="http://schemas.microsoft.com/office/drawing/2014/main" id="{497786E7-76AE-5B65-D1B6-8D7553032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24000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/>
              <a:t>Troubleshooting</a:t>
            </a:r>
          </a:p>
        </p:txBody>
      </p:sp>
      <p:sp>
        <p:nvSpPr>
          <p:cNvPr id="225285" name="Text Box 5">
            <a:extLst>
              <a:ext uri="{FF2B5EF4-FFF2-40B4-BE49-F238E27FC236}">
                <a16:creationId xmlns:a16="http://schemas.microsoft.com/office/drawing/2014/main" id="{FB6FC64F-84B7-790E-E13B-E31DCB11B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038600"/>
            <a:ext cx="70866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Based on the plan of attack, look over the circuit carefully and make measurements as needed to localize the problem. Modify the plan if necessary as you proceed.</a:t>
            </a:r>
          </a:p>
        </p:txBody>
      </p:sp>
      <p:graphicFrame>
        <p:nvGraphicFramePr>
          <p:cNvPr id="225286" name="Object 6">
            <a:extLst>
              <a:ext uri="{FF2B5EF4-FFF2-40B4-BE49-F238E27FC236}">
                <a16:creationId xmlns:a16="http://schemas.microsoft.com/office/drawing/2014/main" id="{3CF81981-CEC6-63B7-E06B-17C2F30E98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0" y="1524000"/>
          <a:ext cx="1931988" cy="243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5" imgW="3018240" imgH="3804840" progId="CorelDRAW.Graphic.9">
                  <p:embed/>
                </p:oleObj>
              </mc:Choice>
              <mc:Fallback>
                <p:oleObj name="CorelDRAW" r:id="rId5" imgW="3018240" imgH="3804840" progId="CorelDRAW.Graphic.9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524000"/>
                        <a:ext cx="1931988" cy="243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8" name="Text Box 8">
            <a:extLst>
              <a:ext uri="{FF2B5EF4-FFF2-40B4-BE49-F238E27FC236}">
                <a16:creationId xmlns:a16="http://schemas.microsoft.com/office/drawing/2014/main" id="{243A6975-7D52-A9A4-0FB6-33017E69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20675" y="56800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225292" name="Text Box 12">
            <a:extLst>
              <a:ext uri="{FF2B5EF4-FFF2-40B4-BE49-F238E27FC236}">
                <a16:creationId xmlns:a16="http://schemas.microsoft.com/office/drawing/2014/main" id="{97A057C2-98CE-0357-F2E3-821660E57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209800"/>
            <a:ext cx="4724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You may decide to start at the middle of a circuit and work in toward the failure. This approach is called half-splitting.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25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291" name="Object 19">
            <a:extLst>
              <a:ext uri="{FF2B5EF4-FFF2-40B4-BE49-F238E27FC236}">
                <a16:creationId xmlns:a16="http://schemas.microsoft.com/office/drawing/2014/main" id="{69D106A2-B2CA-C4DF-AD4F-4E3301D65E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990600"/>
          <a:ext cx="8172450" cy="527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0895238" imgH="7034921" progId="Photoshop.Image.6">
                  <p:embed/>
                </p:oleObj>
              </mc:Choice>
              <mc:Fallback>
                <p:oleObj name="Image" r:id="rId3" imgW="10895238" imgH="7034921" progId="Photoshop.Image.6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990600"/>
                        <a:ext cx="8172450" cy="527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4" name="Text Box 12">
            <a:extLst>
              <a:ext uri="{FF2B5EF4-FFF2-40B4-BE49-F238E27FC236}">
                <a16:creationId xmlns:a16="http://schemas.microsoft.com/office/drawing/2014/main" id="{CE0F258F-9D69-4533-3E21-CF825B944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584325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2285" name="Text Box 13">
            <a:extLst>
              <a:ext uri="{FF2B5EF4-FFF2-40B4-BE49-F238E27FC236}">
                <a16:creationId xmlns:a16="http://schemas.microsoft.com/office/drawing/2014/main" id="{833AB396-9A3E-E647-F20C-DB80139AF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08125"/>
            <a:ext cx="23622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en-US" b="1" i="1">
                <a:solidFill>
                  <a:srgbClr val="CC33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Linear</a:t>
            </a:r>
          </a:p>
          <a:p>
            <a:pPr algn="r"/>
            <a:endParaRPr lang="en-US" altLang="en-US" b="1" i="1">
              <a:solidFill>
                <a:srgbClr val="CC3300"/>
              </a:solidFill>
              <a:latin typeface="Times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en-US" b="1" i="1">
                <a:solidFill>
                  <a:srgbClr val="CC33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Ohm’s law</a:t>
            </a:r>
          </a:p>
          <a:p>
            <a:pPr algn="r"/>
            <a:endParaRPr lang="en-US" altLang="en-US" b="1" i="1">
              <a:solidFill>
                <a:srgbClr val="CC3300"/>
              </a:solidFill>
              <a:latin typeface="Times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altLang="en-US" b="1" i="1">
              <a:solidFill>
                <a:srgbClr val="CC3300"/>
              </a:solidFill>
              <a:latin typeface="Times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altLang="en-US" b="1" i="1">
              <a:solidFill>
                <a:srgbClr val="CC3300"/>
              </a:solidFill>
              <a:latin typeface="Times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en-US" b="1" i="1">
                <a:solidFill>
                  <a:srgbClr val="CC33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Troubleshooting</a:t>
            </a:r>
          </a:p>
        </p:txBody>
      </p:sp>
      <p:sp>
        <p:nvSpPr>
          <p:cNvPr id="182286" name="Text Box 14">
            <a:extLst>
              <a:ext uri="{FF2B5EF4-FFF2-40B4-BE49-F238E27FC236}">
                <a16:creationId xmlns:a16="http://schemas.microsoft.com/office/drawing/2014/main" id="{949A3A9F-7885-C3C4-D254-D606BD5D0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508125"/>
            <a:ext cx="586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chemeClr val="bg2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Characterized by a straight-line relationship.</a:t>
            </a:r>
          </a:p>
        </p:txBody>
      </p:sp>
      <p:sp>
        <p:nvSpPr>
          <p:cNvPr id="182287" name="Text Box 15">
            <a:extLst>
              <a:ext uri="{FF2B5EF4-FFF2-40B4-BE49-F238E27FC236}">
                <a16:creationId xmlns:a16="http://schemas.microsoft.com/office/drawing/2014/main" id="{0C3AF532-5671-57C7-BB15-FB88B8444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209800"/>
            <a:ext cx="59388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A law stating that current is directly proportional to voltage and inversely proportional to current.</a:t>
            </a:r>
          </a:p>
        </p:txBody>
      </p:sp>
      <p:sp>
        <p:nvSpPr>
          <p:cNvPr id="182288" name="Text Box 16">
            <a:extLst>
              <a:ext uri="{FF2B5EF4-FFF2-40B4-BE49-F238E27FC236}">
                <a16:creationId xmlns:a16="http://schemas.microsoft.com/office/drawing/2014/main" id="{542263D5-8BFC-F786-A76D-5C13C95A4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673475"/>
            <a:ext cx="5867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A systematic process of isolating, identifying, and correcting a fault in a circuit or system.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82274" name="Rectangle 2">
            <a:extLst>
              <a:ext uri="{FF2B5EF4-FFF2-40B4-BE49-F238E27FC236}">
                <a16:creationId xmlns:a16="http://schemas.microsoft.com/office/drawing/2014/main" id="{09AB1FF1-2899-4142-B26F-5403CC86E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57200"/>
            <a:ext cx="44196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Selected Key Terms</a:t>
            </a:r>
          </a:p>
        </p:txBody>
      </p:sp>
    </p:spTree>
    <p:custDataLst>
      <p:tags r:id="rId1"/>
    </p:custDataLst>
  </p:cSld>
  <p:clrMapOvr>
    <a:masterClrMapping/>
  </p:clrMapOvr>
  <p:transition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2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2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2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2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6" grpId="0" autoUpdateAnimBg="0"/>
      <p:bldP spid="182287" grpId="0" autoUpdateAnimBg="0"/>
      <p:bldP spid="18228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6D17BE24-56ED-C4ED-834C-E8F7DF59A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0600"/>
            <a:ext cx="8153400" cy="525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ABDC7C33-E0B0-C39B-DAE3-67A13C6EA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7200"/>
            <a:ext cx="14478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191493" name="Text Box 5">
            <a:extLst>
              <a:ext uri="{FF2B5EF4-FFF2-40B4-BE49-F238E27FC236}">
                <a16:creationId xmlns:a16="http://schemas.microsoft.com/office/drawing/2014/main" id="{BEA67995-BD64-2B4E-2E63-42E1BA71E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057400"/>
            <a:ext cx="7467600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1. Holding the voltage constant, and plotting the current against the resistance as resistance is varied will form a 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a. straight line with a positive slope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b. straight line with a negative slope 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c. parabola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d. hyperbola</a:t>
            </a:r>
          </a:p>
        </p:txBody>
      </p:sp>
    </p:spTree>
    <p:custDataLst>
      <p:tags r:id="rId1"/>
    </p:custDataLst>
  </p:cSld>
  <p:clrMapOvr>
    <a:masterClrMapping/>
  </p:clrMapOvr>
  <p:transition>
    <p:blinds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06" name="Rectangle 10">
            <a:extLst>
              <a:ext uri="{FF2B5EF4-FFF2-40B4-BE49-F238E27FC236}">
                <a16:creationId xmlns:a16="http://schemas.microsoft.com/office/drawing/2014/main" id="{03A6D3C7-CC81-54B0-7517-DF9DEE5B0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0600"/>
            <a:ext cx="8153400" cy="525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3305" name="Rectangle 9">
            <a:extLst>
              <a:ext uri="{FF2B5EF4-FFF2-40B4-BE49-F238E27FC236}">
                <a16:creationId xmlns:a16="http://schemas.microsoft.com/office/drawing/2014/main" id="{EA86FD6E-1118-8C42-3297-D3AE20C3B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7200"/>
            <a:ext cx="14478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183308" name="Text Box 12">
            <a:extLst>
              <a:ext uri="{FF2B5EF4-FFF2-40B4-BE49-F238E27FC236}">
                <a16:creationId xmlns:a16="http://schemas.microsoft.com/office/drawing/2014/main" id="{CD5DEC59-2123-87D3-5AED-623D9A4A7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057400"/>
            <a:ext cx="7467600" cy="337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2. When the current is plotted against the voltage for a fixed resistor, the plot is a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a. straight line with a positive slope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b. straight line with a negative slope 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c. parabola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d. hyperbola</a:t>
            </a:r>
          </a:p>
          <a:p>
            <a:pPr>
              <a:spcBef>
                <a:spcPct val="50000"/>
              </a:spcBef>
            </a:pPr>
            <a:endParaRPr lang="en-US" altLang="en-US" baseline="30000"/>
          </a:p>
        </p:txBody>
      </p:sp>
    </p:spTree>
    <p:custDataLst>
      <p:tags r:id="rId1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67092F8E-D41A-9EB4-4279-D6467B6C9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0600"/>
            <a:ext cx="8153400" cy="525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E9C43B5B-61B4-C38B-BB07-DA144508D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7200"/>
            <a:ext cx="14478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192517" name="Text Box 5">
            <a:extLst>
              <a:ext uri="{FF2B5EF4-FFF2-40B4-BE49-F238E27FC236}">
                <a16:creationId xmlns:a16="http://schemas.microsoft.com/office/drawing/2014/main" id="{1EE6DD32-B964-FAB6-5301-52615AE90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057400"/>
            <a:ext cx="7315200" cy="356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3. For constant voltage in a circuit, doubling the resistance means 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a. doubling the current </a:t>
            </a:r>
            <a:endParaRPr lang="en-US" altLang="en-US" baseline="30000"/>
          </a:p>
          <a:p>
            <a:pPr>
              <a:spcBef>
                <a:spcPct val="50000"/>
              </a:spcBef>
            </a:pPr>
            <a:r>
              <a:rPr lang="en-US" altLang="en-US"/>
              <a:t>	b. halving the current</a:t>
            </a:r>
            <a:endParaRPr lang="en-US" altLang="en-US" baseline="30000"/>
          </a:p>
          <a:p>
            <a:pPr>
              <a:spcBef>
                <a:spcPct val="50000"/>
              </a:spcBef>
            </a:pPr>
            <a:r>
              <a:rPr lang="en-US" altLang="en-US"/>
              <a:t>	c. there is no change in the current</a:t>
            </a:r>
            <a:endParaRPr lang="en-US" altLang="en-US" baseline="30000"/>
          </a:p>
          <a:p>
            <a:pPr>
              <a:spcBef>
                <a:spcPct val="50000"/>
              </a:spcBef>
            </a:pPr>
            <a:r>
              <a:rPr lang="en-US" altLang="en-US"/>
              <a:t>	d. depends on the amount of voltage</a:t>
            </a:r>
            <a:endParaRPr lang="en-US" altLang="en-US" baseline="30000"/>
          </a:p>
          <a:p>
            <a:pPr>
              <a:spcBef>
                <a:spcPct val="50000"/>
              </a:spcBef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100D351F-EBF3-B2FE-E275-B5B918A79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0600"/>
            <a:ext cx="8153400" cy="525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EDFB13B0-0A5E-A3C9-BF3B-F293E36F8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7200"/>
            <a:ext cx="14478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198661" name="Text Box 5">
            <a:extLst>
              <a:ext uri="{FF2B5EF4-FFF2-40B4-BE49-F238E27FC236}">
                <a16:creationId xmlns:a16="http://schemas.microsoft.com/office/drawing/2014/main" id="{EDA0A1E1-857C-8821-2C1A-A4B2718B5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057400"/>
            <a:ext cx="7315200" cy="392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4. A four-color resistor has the color-code red-violet-orange-gold. If it is placed across a 12 V source, the expected current is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a. 0.12 mA</a:t>
            </a:r>
            <a:endParaRPr lang="en-US" altLang="en-US" baseline="30000"/>
          </a:p>
          <a:p>
            <a:pPr>
              <a:spcBef>
                <a:spcPct val="50000"/>
              </a:spcBef>
            </a:pPr>
            <a:r>
              <a:rPr lang="en-US" altLang="en-US"/>
              <a:t>	b. 0.44 mA</a:t>
            </a:r>
            <a:endParaRPr lang="en-US" altLang="en-US" baseline="30000"/>
          </a:p>
          <a:p>
            <a:pPr>
              <a:spcBef>
                <a:spcPct val="50000"/>
              </a:spcBef>
            </a:pPr>
            <a:r>
              <a:rPr lang="en-US" altLang="en-US"/>
              <a:t>	c. 1.25 mA</a:t>
            </a:r>
            <a:endParaRPr lang="en-US" altLang="en-US" baseline="30000"/>
          </a:p>
          <a:p>
            <a:pPr>
              <a:spcBef>
                <a:spcPct val="50000"/>
              </a:spcBef>
            </a:pPr>
            <a:r>
              <a:rPr lang="en-US" altLang="en-US"/>
              <a:t>	d. 4.44 mA</a:t>
            </a:r>
            <a:endParaRPr lang="en-US" altLang="en-US" baseline="30000"/>
          </a:p>
          <a:p>
            <a:pPr>
              <a:spcBef>
                <a:spcPct val="50000"/>
              </a:spcBef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02DA77F4-6A30-8A06-5992-FCB1F8B36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0600"/>
            <a:ext cx="8153400" cy="525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3C32C989-AD38-0A93-E680-8FB475EA3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7200"/>
            <a:ext cx="14478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200709" name="Text Box 5">
            <a:extLst>
              <a:ext uri="{FF2B5EF4-FFF2-40B4-BE49-F238E27FC236}">
                <a16:creationId xmlns:a16="http://schemas.microsoft.com/office/drawing/2014/main" id="{A0475C98-5D9D-1D2B-2629-45C33F5DE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828800"/>
            <a:ext cx="7315200" cy="356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5. If the current in a 330 </a:t>
            </a:r>
            <a:r>
              <a:rPr lang="en-US" altLang="en-US">
                <a:latin typeface="Symbol" panose="05050102010706020507" pitchFamily="18" charset="2"/>
              </a:rPr>
              <a:t>W</a:t>
            </a:r>
            <a:r>
              <a:rPr lang="en-US" altLang="en-US"/>
              <a:t> resistor is 15 mA, the applied voltage is approximately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a. 5.0 V</a:t>
            </a:r>
            <a:endParaRPr lang="en-US" altLang="en-US" baseline="30000"/>
          </a:p>
          <a:p>
            <a:pPr>
              <a:spcBef>
                <a:spcPct val="50000"/>
              </a:spcBef>
            </a:pPr>
            <a:r>
              <a:rPr lang="en-US" altLang="en-US"/>
              <a:t>	b. 22 V	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c. 46 V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d. 60 V</a:t>
            </a:r>
            <a:endParaRPr lang="en-US" altLang="en-US" baseline="30000"/>
          </a:p>
          <a:p>
            <a:pPr>
              <a:spcBef>
                <a:spcPct val="50000"/>
              </a:spcBef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9FDB142A-77D2-FBF2-4196-250570AD5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0600"/>
            <a:ext cx="8153400" cy="525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D175928C-7498-F1CB-05AC-B3F8E0F10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7200"/>
            <a:ext cx="14478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185351" name="Text Box 7">
            <a:extLst>
              <a:ext uri="{FF2B5EF4-FFF2-40B4-BE49-F238E27FC236}">
                <a16:creationId xmlns:a16="http://schemas.microsoft.com/office/drawing/2014/main" id="{89B15240-C9CD-30BF-1CAE-A0F26A004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057400"/>
            <a:ext cx="7391400" cy="356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6. The current in a certain 4-band resistor is 22 mA when the voltage is 18 V. The color bands on the resistor are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a. blue-gray-red-gold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b. red-red-brown gold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c. gray-red-brown-gold 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d. white-brown-red-gold</a:t>
            </a:r>
          </a:p>
          <a:p>
            <a:pPr>
              <a:spcBef>
                <a:spcPct val="50000"/>
              </a:spcBef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7B81D38F-020A-0C2B-5216-168F12F97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0600"/>
            <a:ext cx="8153400" cy="525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4ABBF563-490B-51E9-6A6E-285393579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7200"/>
            <a:ext cx="14478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186375" name="Text Box 7">
            <a:extLst>
              <a:ext uri="{FF2B5EF4-FFF2-40B4-BE49-F238E27FC236}">
                <a16:creationId xmlns:a16="http://schemas.microsoft.com/office/drawing/2014/main" id="{604A74D0-D1EB-167B-4BB5-5362B3D1D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676400"/>
            <a:ext cx="73152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7. The circuit with the largest current is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a. (a) 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b. (b) 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c. (c)</a:t>
            </a:r>
            <a:endParaRPr lang="en-US" altLang="en-US">
              <a:latin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en-US"/>
              <a:t>	d. (d)</a:t>
            </a:r>
          </a:p>
        </p:txBody>
      </p:sp>
      <p:graphicFrame>
        <p:nvGraphicFramePr>
          <p:cNvPr id="186377" name="Object 9">
            <a:extLst>
              <a:ext uri="{FF2B5EF4-FFF2-40B4-BE49-F238E27FC236}">
                <a16:creationId xmlns:a16="http://schemas.microsoft.com/office/drawing/2014/main" id="{F8E2B90B-4428-6CE2-14C2-FEF238326A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4495800"/>
          <a:ext cx="777240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38370" imgH="924763" progId="CorelDRAW.Graphic.12">
                  <p:embed/>
                </p:oleObj>
              </mc:Choice>
              <mc:Fallback>
                <p:oleObj name="CorelDRAW" r:id="rId3" imgW="4938370" imgH="924763" progId="CorelDRAW.Graphic.12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495800"/>
                        <a:ext cx="7772400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3F3275E2-72AF-91D2-44CC-788C5CD22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0600"/>
            <a:ext cx="8153400" cy="525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6D7A01BC-7BE6-D2CE-6E2B-E6AADABD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7200"/>
            <a:ext cx="14478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226308" name="Text Box 4">
            <a:extLst>
              <a:ext uri="{FF2B5EF4-FFF2-40B4-BE49-F238E27FC236}">
                <a16:creationId xmlns:a16="http://schemas.microsoft.com/office/drawing/2014/main" id="{7D8432A0-BE8A-0B68-D098-D5B12EC26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676400"/>
            <a:ext cx="73152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8. The circuit with the smallest current is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a. (a) 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b. (b) 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c. (c)</a:t>
            </a:r>
            <a:endParaRPr lang="en-US" altLang="en-US">
              <a:latin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en-US"/>
              <a:t>	d. (d)</a:t>
            </a:r>
          </a:p>
        </p:txBody>
      </p:sp>
      <p:graphicFrame>
        <p:nvGraphicFramePr>
          <p:cNvPr id="226309" name="Object 5">
            <a:extLst>
              <a:ext uri="{FF2B5EF4-FFF2-40B4-BE49-F238E27FC236}">
                <a16:creationId xmlns:a16="http://schemas.microsoft.com/office/drawing/2014/main" id="{9895AFAF-B8F9-3CD2-68DA-682C018B8F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4495800"/>
          <a:ext cx="777240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38370" imgH="924763" progId="CorelDRAW.Graphic.12">
                  <p:embed/>
                </p:oleObj>
              </mc:Choice>
              <mc:Fallback>
                <p:oleObj name="CorelDRAW" r:id="rId3" imgW="4938370" imgH="924763" progId="CorelDRAW.Graphic.1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495800"/>
                        <a:ext cx="7772400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>
            <a:extLst>
              <a:ext uri="{FF2B5EF4-FFF2-40B4-BE49-F238E27FC236}">
                <a16:creationId xmlns:a16="http://schemas.microsoft.com/office/drawing/2014/main" id="{F91E4A8B-8F5D-057E-4FFE-026934254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0600"/>
            <a:ext cx="8153400" cy="525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5444E225-138C-673A-4900-1E0DA61C4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7200"/>
            <a:ext cx="14478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194565" name="Text Box 5">
            <a:extLst>
              <a:ext uri="{FF2B5EF4-FFF2-40B4-BE49-F238E27FC236}">
                <a16:creationId xmlns:a16="http://schemas.microsoft.com/office/drawing/2014/main" id="{83A4609E-1596-6413-845D-EF278FC20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057400"/>
            <a:ext cx="7315200" cy="137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9. Before</a:t>
            </a:r>
            <a:r>
              <a:rPr lang="en-US" altLang="en-US">
                <a:cs typeface="Times New Roman" panose="02020603050405020304" pitchFamily="18" charset="0"/>
              </a:rPr>
              <a:t> troubleshooting a faulty circuit you should find out</a:t>
            </a:r>
            <a:endParaRPr lang="en-US" altLang="en-US">
              <a:latin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194566" name="Text Box 6">
            <a:extLst>
              <a:ext uri="{FF2B5EF4-FFF2-40B4-BE49-F238E27FC236}">
                <a16:creationId xmlns:a16="http://schemas.microsoft.com/office/drawing/2014/main" id="{AC2FB8A2-0B8A-AA67-9A34-5D6065A35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819400"/>
            <a:ext cx="64770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a.  If the circuit ever worked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b. The conditions that existed when it failed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c. The symptoms of the failure 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d. All of the above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53B09A88-14CD-B9A6-11D8-7592A31FF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0600"/>
            <a:ext cx="8153400" cy="525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2BEC5CE4-47CC-7B4E-4763-DEB150069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7200"/>
            <a:ext cx="14478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195589" name="Text Box 5">
            <a:extLst>
              <a:ext uri="{FF2B5EF4-FFF2-40B4-BE49-F238E27FC236}">
                <a16:creationId xmlns:a16="http://schemas.microsoft.com/office/drawing/2014/main" id="{05CE8A7F-54F2-D7CA-92D6-229623056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057400"/>
            <a:ext cx="7315200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10. A troubleshooting method that starts in the middle and works toward a fault is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a. short-circuit testing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b. comparison testing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	c. half-splitting</a:t>
            </a:r>
            <a:endParaRPr lang="en-US" altLang="en-US" baseline="30000"/>
          </a:p>
          <a:p>
            <a:pPr>
              <a:spcBef>
                <a:spcPct val="50000"/>
              </a:spcBef>
            </a:pPr>
            <a:r>
              <a:rPr lang="en-US" altLang="en-US"/>
              <a:t>	d. resistance testing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>
            <a:extLst>
              <a:ext uri="{FF2B5EF4-FFF2-40B4-BE49-F238E27FC236}">
                <a16:creationId xmlns:a16="http://schemas.microsoft.com/office/drawing/2014/main" id="{B82E22D2-87C5-A4B5-D9C6-927C8190A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0600"/>
            <a:ext cx="8153400" cy="525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86296959-5E8C-67F7-44E3-C43454BF0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7200"/>
            <a:ext cx="14478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201734" name="Rectangle 6">
            <a:extLst>
              <a:ext uri="{FF2B5EF4-FFF2-40B4-BE49-F238E27FC236}">
                <a16:creationId xmlns:a16="http://schemas.microsoft.com/office/drawing/2014/main" id="{D6A990BA-BDD2-2B76-4ECD-9A550CAED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981200"/>
            <a:ext cx="2819400" cy="34290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1735" name="Text Box 7">
            <a:extLst>
              <a:ext uri="{FF2B5EF4-FFF2-40B4-BE49-F238E27FC236}">
                <a16:creationId xmlns:a16="http://schemas.microsoft.com/office/drawing/2014/main" id="{9873A478-8FC9-7596-3452-C65D4E3A2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057400"/>
            <a:ext cx="1828800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Answers: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1.  d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2.  a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3.  b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4.  b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5.  a</a:t>
            </a:r>
          </a:p>
        </p:txBody>
      </p:sp>
      <p:sp>
        <p:nvSpPr>
          <p:cNvPr id="201736" name="Text Box 8">
            <a:extLst>
              <a:ext uri="{FF2B5EF4-FFF2-40B4-BE49-F238E27FC236}">
                <a16:creationId xmlns:a16="http://schemas.microsoft.com/office/drawing/2014/main" id="{F44C2D32-0DCE-6F1C-AF06-8EF459DE0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590800"/>
            <a:ext cx="1752600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6.  c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7.  a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8.  c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9.  d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10. c</a:t>
            </a:r>
          </a:p>
          <a:p>
            <a:pPr>
              <a:spcBef>
                <a:spcPct val="50000"/>
              </a:spcBef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  <p:transition>
    <p:wheel spokes="2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24DD35-2F50-C3C3-FBEC-058CB6928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28800"/>
            <a:ext cx="8001000" cy="21652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8F492D-7AA7-E6E5-84B2-AB5E3B63EF7D}"/>
              </a:ext>
            </a:extLst>
          </p:cNvPr>
          <p:cNvSpPr txBox="1"/>
          <p:nvPr/>
        </p:nvSpPr>
        <p:spPr>
          <a:xfrm>
            <a:off x="762000" y="990600"/>
            <a:ext cx="5919826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 err="1"/>
              <a:t>HomeWork</a:t>
            </a:r>
            <a:endParaRPr lang="en-US" sz="2800" b="1" dirty="0"/>
          </a:p>
          <a:p>
            <a:r>
              <a:rPr lang="en-US" sz="2800" b="1" dirty="0"/>
              <a:t>Upload on portal as per given deadline</a:t>
            </a:r>
            <a:endParaRPr lang="en-GB" sz="2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6967D0-6A7C-5540-791B-01AA9E346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94046"/>
            <a:ext cx="8001000" cy="438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F2611C-71C6-74F0-34F8-D6CFBA0CB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90" y="4446944"/>
            <a:ext cx="7988710" cy="6762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6809AC3-6C2B-7431-6BD7-BD85D26A2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290" y="5137967"/>
            <a:ext cx="798871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086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TEXT1" val="Chapter 1"/>
  <p:tag name="POWER3D FONT1" val="Arial"/>
  <p:tag name="POWER3D TITLE OPTIONS1" val="1 1 0 100"/>
  <p:tag name="POWER3D IMAGE00" val="C:\Documents and Settings\default\My Documents\My Pictures\Crystal Graphics\David's Lightning-2.jpg"/>
  <p:tag name="POWER3D TITLE" val="C:\Program Files\PowerPlugs\3D Titles\Volume I\\wheel.p3d"/>
  <p:tag name="POWER3D TITLE SOUND" val="Overture"/>
  <p:tag name="POWER3D TITLE OPTIONS" val="0 -1 263027 Reverse"/>
  <p:tag name="POWER3D TEXT0" val="Principles of Electric Circuits"/>
  <p:tag name="POWER3D FONT0" val="Arial"/>
  <p:tag name="POWER3D TITLE OPTIONS0" val="1 1 0 1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IMAGE" val="Yo!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OPTIONS" val="Medium "/>
</p:tagLst>
</file>

<file path=ppt/theme/theme1.xml><?xml version="1.0" encoding="utf-8"?>
<a:theme xmlns:a="http://schemas.openxmlformats.org/drawingml/2006/main" name="Red013A PowerPlugs Favorites 1">
  <a:themeElements>
    <a:clrScheme name="Red013A PowerPlugs Favorites 1 11">
      <a:dk1>
        <a:srgbClr val="000000"/>
      </a:dk1>
      <a:lt1>
        <a:srgbClr val="0000FF"/>
      </a:lt1>
      <a:dk2>
        <a:srgbClr val="FFFF00"/>
      </a:dk2>
      <a:lt2>
        <a:srgbClr val="000000"/>
      </a:lt2>
      <a:accent1>
        <a:srgbClr val="FFCC66"/>
      </a:accent1>
      <a:accent2>
        <a:srgbClr val="00FFFF"/>
      </a:accent2>
      <a:accent3>
        <a:srgbClr val="AAAAFF"/>
      </a:accent3>
      <a:accent4>
        <a:srgbClr val="000000"/>
      </a:accent4>
      <a:accent5>
        <a:srgbClr val="FFE2B8"/>
      </a:accent5>
      <a:accent6>
        <a:srgbClr val="00E7E7"/>
      </a:accent6>
      <a:hlink>
        <a:srgbClr val="FFFF00"/>
      </a:hlink>
      <a:folHlink>
        <a:srgbClr val="969696"/>
      </a:folHlink>
    </a:clrScheme>
    <a:fontScheme name="Red013A PowerPlugs Favorites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ed013A PowerPlugs Favorites 1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013A PowerPlugs Favorites 1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013A PowerPlugs Favorites 1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013A PowerPlugs Favorites 1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013A PowerPlugs Favorites 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013A PowerPlugs Favorites 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013A PowerPlugs Favorites 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013A PowerPlugs Favorites 1 8">
        <a:dk1>
          <a:srgbClr val="000000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000000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013A PowerPlugs Favorites 1 9">
        <a:dk1>
          <a:srgbClr val="000000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000000"/>
        </a:accent4>
        <a:accent5>
          <a:srgbClr val="FFCAAA"/>
        </a:accent5>
        <a:accent6>
          <a:srgbClr val="00E7E7"/>
        </a:accent6>
        <a:hlink>
          <a:srgbClr val="FFFF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013A PowerPlugs Favorites 1 10">
        <a:dk1>
          <a:srgbClr val="000000"/>
        </a:dk1>
        <a:lt1>
          <a:srgbClr val="0000FF"/>
        </a:lt1>
        <a:dk2>
          <a:srgbClr val="FFFF00"/>
        </a:dk2>
        <a:lt2>
          <a:srgbClr val="000000"/>
        </a:lt2>
        <a:accent1>
          <a:srgbClr val="FFCC00"/>
        </a:accent1>
        <a:accent2>
          <a:srgbClr val="00FFFF"/>
        </a:accent2>
        <a:accent3>
          <a:srgbClr val="AAAAFF"/>
        </a:accent3>
        <a:accent4>
          <a:srgbClr val="000000"/>
        </a:accent4>
        <a:accent5>
          <a:srgbClr val="FFE2AA"/>
        </a:accent5>
        <a:accent6>
          <a:srgbClr val="00E7E7"/>
        </a:accent6>
        <a:hlink>
          <a:srgbClr val="FFFF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013A PowerPlugs Favorites 1 11">
        <a:dk1>
          <a:srgbClr val="000000"/>
        </a:dk1>
        <a:lt1>
          <a:srgbClr val="0000FF"/>
        </a:lt1>
        <a:dk2>
          <a:srgbClr val="FFFF00"/>
        </a:dk2>
        <a:lt2>
          <a:srgbClr val="000000"/>
        </a:lt2>
        <a:accent1>
          <a:srgbClr val="FFCC66"/>
        </a:accent1>
        <a:accent2>
          <a:srgbClr val="00FFFF"/>
        </a:accent2>
        <a:accent3>
          <a:srgbClr val="AAAAFF"/>
        </a:accent3>
        <a:accent4>
          <a:srgbClr val="000000"/>
        </a:accent4>
        <a:accent5>
          <a:srgbClr val="FFE2B8"/>
        </a:accent5>
        <a:accent6>
          <a:srgbClr val="00E7E7"/>
        </a:accent6>
        <a:hlink>
          <a:srgbClr val="FFFF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Red013A PowerPlugs Favorites 1</Template>
  <TotalTime>10963</TotalTime>
  <Words>938</Words>
  <Application>Microsoft Office PowerPoint</Application>
  <PresentationFormat>On-screen Show (4:3)</PresentationFormat>
  <Paragraphs>151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Times New Roman</vt:lpstr>
      <vt:lpstr>Arial</vt:lpstr>
      <vt:lpstr>Times</vt:lpstr>
      <vt:lpstr>Symbol</vt:lpstr>
      <vt:lpstr>Red013A PowerPlugs Favorites 1</vt:lpstr>
      <vt:lpstr>MathType 5.0 Equation</vt:lpstr>
      <vt:lpstr>CorelDRAW 9.0 Graphic</vt:lpstr>
      <vt:lpstr>CorelDRAW 12.0 Graphic</vt:lpstr>
      <vt:lpstr>Adobe Photoshop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 Buchla</dc:creator>
  <cp:lastModifiedBy>Shahid Mehmood</cp:lastModifiedBy>
  <cp:revision>65</cp:revision>
  <dcterms:created xsi:type="dcterms:W3CDTF">2002-10-13T15:29:44Z</dcterms:created>
  <dcterms:modified xsi:type="dcterms:W3CDTF">2026-10-13T14:52:01Z</dcterms:modified>
</cp:coreProperties>
</file>